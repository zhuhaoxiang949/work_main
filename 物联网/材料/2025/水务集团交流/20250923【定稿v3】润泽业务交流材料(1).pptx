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3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ags/tag67.xml" ContentType="application/vnd.openxmlformats-officedocument.presentationml.tags+xml"/>
  <Override PartName="/ppt/notesSlides/notesSlide5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6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7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8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9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0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1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2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495" r:id="rId3"/>
    <p:sldId id="577" r:id="rId4"/>
    <p:sldId id="583" r:id="rId5"/>
    <p:sldId id="578" r:id="rId6"/>
    <p:sldId id="579" r:id="rId7"/>
    <p:sldId id="508" r:id="rId8"/>
    <p:sldId id="603" r:id="rId9"/>
    <p:sldId id="584" r:id="rId10"/>
    <p:sldId id="572" r:id="rId11"/>
    <p:sldId id="566" r:id="rId12"/>
    <p:sldId id="611" r:id="rId13"/>
    <p:sldId id="570" r:id="rId14"/>
    <p:sldId id="576" r:id="rId15"/>
    <p:sldId id="575" r:id="rId16"/>
    <p:sldId id="532" r:id="rId17"/>
  </p:sldIdLst>
  <p:sldSz cx="9144000" cy="5143500" type="screen16x9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0" userDrawn="1">
          <p15:clr>
            <a:srgbClr val="A4A3A4"/>
          </p15:clr>
        </p15:guide>
        <p15:guide id="2" pos="30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757" name="未知用户381" initials="未" lastIdx="1" clrIdx="0"/>
  <p:cmAuthor id="1" name="刘川江" initials="刘川江" lastIdx="1" clrIdx="0"/>
  <p:cmAuthor id="758" name="未知用户382" initials="未" lastIdx="1" clrIdx="0"/>
  <p:cmAuthor id="2" name="王顶" initials="WD" lastIdx="1" clrIdx="1"/>
  <p:cmAuthor id="759" name="未知用户383" initials="未" lastIdx="1" clrIdx="0"/>
  <p:cmAuthor id="3" name="作者" initials="A" lastIdx="0" clrIdx="2"/>
  <p:cmAuthor id="760" name="未知用户384" initials="未" lastIdx="1" clrIdx="0"/>
  <p:cmAuthor id="4" name="shenxiaowei1@zj.cmcc" initials="s" lastIdx="1" clrIdx="3"/>
  <p:cmAuthor id="761" name="未知用户294" initials="未" lastIdx="8" clrIdx="0"/>
  <p:cmAuthor id="5" name="fanshaowen" initials="f" lastIdx="1" clrIdx="4"/>
  <p:cmAuthor id="762" name="未知用户385" initials="未" lastIdx="2" clrIdx="0"/>
  <p:cmAuthor id="6" name="陈培|chenpei1" initials="陈培" lastIdx="1" clrIdx="5"/>
  <p:cmAuthor id="763" name="未知用户386" initials="未" lastIdx="1" clrIdx="1"/>
  <p:cmAuthor id="7" name="林莺巧|linyingqiao" initials="林莺巧" lastIdx="1" clrIdx="6"/>
  <p:cmAuthor id="764" name="未知用户429" initials="未" lastIdx="1" clrIdx="0"/>
  <p:cmAuthor id="8" name="方小伟|lqfxw" initials="方小伟" lastIdx="2" clrIdx="7"/>
  <p:cmAuthor id="9" name="金骏|jinjun4" initials="金骏" lastIdx="1" clrIdx="8"/>
  <p:cmAuthor id="766" name="未知用户430" initials="未" lastIdx="2" clrIdx="0"/>
  <p:cmAuthor id="10" name="zhengqianqian9" initials="z" lastIdx="1" clrIdx="9"/>
  <p:cmAuthor id="767" name="未知用户389" initials="未" lastIdx="1" clrIdx="0"/>
  <p:cmAuthor id="11" name="杜梦媛|dumengyuan" initials="杜梦媛" lastIdx="1" clrIdx="10"/>
  <p:cmAuthor id="768" name="未知用户350" initials="未" lastIdx="1" clrIdx="0"/>
  <p:cmAuthor id="12" name="单力峰|danlifeng" initials="单力峰" lastIdx="1" clrIdx="11"/>
  <p:cmAuthor id="769" name="未知用户431" initials="未" lastIdx="1" clrIdx="0"/>
  <p:cmAuthor id="459908549" name="风驻的街角" initials="风" lastIdx="1" clrIdx="908"/>
  <p:cmAuthor id="13" name="admin/Zmcc" initials="admin" lastIdx="1" clrIdx="12"/>
  <p:cmAuthor id="770" name="未知用户351" initials="未" lastIdx="8" clrIdx="0"/>
  <p:cmAuthor id="14" name="柯能|keneng" initials="柯能" lastIdx="1" clrIdx="13"/>
  <p:cmAuthor id="771" name="未知用户432" initials="未" lastIdx="1" clrIdx="0"/>
  <p:cmAuthor id="15" name="yangkuan1@zj.cmcc" initials="杨宽" lastIdx="1" clrIdx="14"/>
  <p:cmAuthor id="772" name="未知用户392" initials="未" lastIdx="1" clrIdx="0"/>
  <p:cmAuthor id="16" name="WHX" initials="W" lastIdx="1" clrIdx="15"/>
  <p:cmAuthor id="773" name="未知用户433" initials="未" lastIdx="1" clrIdx="0"/>
  <p:cmAuthor id="17" name="俞悦|yuyue9" initials="俞悦" lastIdx="1" clrIdx="16"/>
  <p:cmAuthor id="774" name="未知用户434" initials="未" lastIdx="1" clrIdx="0"/>
  <p:cmAuthor id="1388079880" name="liuchang1" initials="l" lastIdx="1" clrIdx="687"/>
  <p:cmAuthor id="18" name="张燕" initials="MSOffice" lastIdx="1" clrIdx="17"/>
  <p:cmAuthor id="775" name="未知用户393" initials="未" lastIdx="11" clrIdx="0"/>
  <p:cmAuthor id="19" name="Saku Uchikawa" initials="S" lastIdx="11" clrIdx="0"/>
  <p:cmAuthor id="776" name="未知用户435" initials="未" lastIdx="7" clrIdx="1"/>
  <p:cmAuthor id="20" name="00065088" initials="0" lastIdx="2" clrIdx="19"/>
  <p:cmAuthor id="777" name="未知用户356" initials="未" lastIdx="1" clrIdx="2"/>
  <p:cmAuthor id="21" name="sunyufang" initials="s" lastIdx="1" clrIdx="21"/>
  <p:cmAuthor id="778" name="未知用户436" initials="未" lastIdx="1" clrIdx="0"/>
  <p:cmAuthor id="22" name="蔡建楠" initials="caijianna" lastIdx="15" clrIdx="17"/>
  <p:cmAuthor id="779" name="未知用户396" initials="未" lastIdx="1" clrIdx="0"/>
  <p:cmAuthor id="1411827" name="黄晓平" initials="黄" lastIdx="0" clrIdx="0"/>
  <p:cmAuthor id="23" name="10009110" initials="1" lastIdx="23" clrIdx="22"/>
  <p:cmAuthor id="780" name="未知用户437" initials="未" lastIdx="1" clrIdx="1"/>
  <p:cmAuthor id="1411828" name="pengfei shen" initials="ps" lastIdx="1" clrIdx="38"/>
  <p:cmAuthor id="24" name="李蕾00009994" initials="李" lastIdx="6" clrIdx="17"/>
  <p:cmAuthor id="781" name="未知用户397" initials="未" lastIdx="1" clrIdx="0"/>
  <p:cmAuthor id="1411829" name="Wu, Jing 1. (NSB - CN/Hangzhou)" initials="WJ1(C" lastIdx="2" clrIdx="39"/>
  <p:cmAuthor id="25" name="wyz" initials="w" lastIdx="1" clrIdx="24"/>
  <p:cmAuthor id="782" name="未知用户419" initials="未" lastIdx="1" clrIdx="0"/>
  <p:cmAuthor id="1411830" name="唐 赛" initials="唐" lastIdx="1" clrIdx="45"/>
  <p:cmAuthor id="26" name="10270945" initials="1" lastIdx="2" clrIdx="25"/>
  <p:cmAuthor id="783" name="未知用户399" initials="未" lastIdx="2" clrIdx="0"/>
  <p:cmAuthor id="191251535" name="沈霄雷" initials="沈" lastIdx="833089" clrIdx="0"/>
  <p:cmAuthor id="784" name="未知用户438" initials="未" lastIdx="7" clrIdx="1"/>
  <p:cmAuthor id="27" name="zrf" initials="zrf" lastIdx="3" clrIdx="26"/>
  <p:cmAuthor id="191251536" name="李哲(ZheLi)-顺丰科技" initials="a" lastIdx="1" clrIdx="11"/>
  <p:cmAuthor id="785" name="未知用户401" initials="未" lastIdx="43" clrIdx="1"/>
  <p:cmAuthor id="28" name="Hou Yingfeng" initials="H" lastIdx="10" clrIdx="23"/>
  <p:cmAuthor id="191251537" name="Echo" initials="E" lastIdx="1" clrIdx="191251536"/>
  <p:cmAuthor id="786" name="未知用户402" initials="未" lastIdx="1" clrIdx="0"/>
  <p:cmAuthor id="29" name="赵诚荣10027092" initials="赵" lastIdx="2" clrIdx="25"/>
  <p:cmAuthor id="191251538" name="渠沛" initials="渠" lastIdx="1" clrIdx="35"/>
  <p:cmAuthor id="787" name="未知用户403" initials="未" lastIdx="1" clrIdx="0"/>
  <p:cmAuthor id="30" name="10056791" initials="ZTE" lastIdx="1" clrIdx="29"/>
  <p:cmAuthor id="191251539" name="席琛" initials="" lastIdx="0" clrIdx="58"/>
  <p:cmAuthor id="788" name="未知用户327" initials="未" lastIdx="1" clrIdx="0"/>
  <p:cmAuthor id="31" name="Author" initials="A" lastIdx="0" clrIdx="30"/>
  <p:cmAuthor id="191251540" name="韩剑侠" initials="P" lastIdx="1" clrIdx="41"/>
  <p:cmAuthor id="789" name="未知用户404" initials="未" lastIdx="1" clrIdx="0"/>
  <p:cmAuthor id="32" name="李楠10047711" initials="李楠10047711" lastIdx="2" clrIdx="31"/>
  <p:cmAuthor id="191251541" name="孙 笑庆" initials="孙" lastIdx="3" clrIdx="16"/>
  <p:cmAuthor id="790" name="未知用户405" initials="未" lastIdx="1" clrIdx="0"/>
  <p:cmAuthor id="33" name="10045953" initials="1" lastIdx="1" clrIdx="32"/>
  <p:cmAuthor id="191251542" name="yang.yuan" initials="y" lastIdx="0" clrIdx="17"/>
  <p:cmAuthor id="791" name="未知用户439" initials="未" lastIdx="2" clrIdx="0"/>
  <p:cmAuthor id="34" name="Y Y" initials="YY" lastIdx="2" clrIdx="33"/>
  <p:cmAuthor id="191251543" name="王娟" initials="1" lastIdx="1" clrIdx="31"/>
  <p:cmAuthor id="792" name="未知用户406" initials="未" lastIdx="0" clrIdx="0"/>
  <p:cmAuthor id="475196944" name="姚琳" initials="姚" lastIdx="1133934" clrIdx="0"/>
  <p:cmAuthor id="35" name="Administrator" initials="A" lastIdx="1" clrIdx="35"/>
  <p:cmAuthor id="36" name="Microsoft 帐户" initials="M帐" lastIdx="6" clrIdx="36"/>
  <p:cmAuthor id="793" name="未知用户440" initials="未" lastIdx="1" clrIdx="0"/>
  <p:cmAuthor id="475196945" name="chen" initials="c" lastIdx="1" clrIdx="2"/>
  <p:cmAuthor id="37" name="zhulinfeng3" initials="z" lastIdx="1" clrIdx="36"/>
  <p:cmAuthor id="794" name="未知用户441" initials="未" lastIdx="1" clrIdx="0"/>
  <p:cmAuthor id="38" name="migu" initials="m" lastIdx="3" clrIdx="37"/>
  <p:cmAuthor id="795" name="未知用户442" initials="未" lastIdx="1" clrIdx="0"/>
  <p:cmAuthor id="39" name="ytyan" initials="y" lastIdx="2" clrIdx="38"/>
  <p:cmAuthor id="796" name="未知用户409" initials="未" lastIdx="2" clrIdx="2"/>
  <p:cmAuthor id="40" name="huhuajun" initials="h" lastIdx="1" clrIdx="39"/>
  <p:cmAuthor id="797" name="未知用户443" initials="未" lastIdx="1" clrIdx="0"/>
  <p:cmAuthor id="41" name="tangxianwei@zj.cmcc" initials="t" lastIdx="1" clrIdx="40"/>
  <p:cmAuthor id="798" name="未知用户411" initials="未" lastIdx="3" clrIdx="1"/>
  <p:cmAuthor id="42" name="徐秋月|xuqiuyue1" initials="徐秋月" lastIdx="1" clrIdx="41"/>
  <p:cmAuthor id="799" name="未知用户444" initials="未" lastIdx="6" clrIdx="0"/>
  <p:cmAuthor id="43" name="钱鑫妮|qianxinni" initials="钱鑫妮" lastIdx="1" clrIdx="42"/>
  <p:cmAuthor id="800" name="未知用户413" initials="未" lastIdx="1" clrIdx="1"/>
  <p:cmAuthor id="44" name="成玉玉" initials="成" lastIdx="1" clrIdx="43"/>
  <p:cmAuthor id="801" name="未知用户445" initials="未" lastIdx="1" clrIdx="0"/>
  <p:cmAuthor id="45" name="赵晓鸿|zhaoxiaohong4" initials="赵晓鸿" lastIdx="1" clrIdx="44"/>
  <p:cmAuthor id="802" name="未知用户446" initials="未" lastIdx="1" clrIdx="0"/>
  <p:cmAuthor id="46" name="tzljl" initials="t" lastIdx="1" clrIdx="45"/>
  <p:cmAuthor id="803" name="未知用户447" initials="未" lastIdx="1" clrIdx="0"/>
  <p:cmAuthor id="47" name="关全全10258021" initials="关" lastIdx="10" clrIdx="36"/>
  <p:cmAuthor id="804" name="未知用户448" initials="未" lastIdx="1" clrIdx="0"/>
  <p:cmAuthor id="48" name="13857" initials="1" lastIdx="2" clrIdx="47"/>
  <p:cmAuthor id="805" name="未知用户333" initials="未" lastIdx="1" clrIdx="0"/>
  <p:cmAuthor id="49" name="卢晨|luchen" initials="卢晨" lastIdx="2" clrIdx="48"/>
  <p:cmAuthor id="806" name="未知用户417" initials="未" lastIdx="1" clrIdx="0"/>
  <p:cmAuthor id="50" name="Lenovo" initials="L" lastIdx="1" clrIdx="49"/>
  <p:cmAuthor id="807" name="未知用户449" initials="未" lastIdx="1" clrIdx="0"/>
  <p:cmAuthor id="51" name="wangxiaodong" initials="w" lastIdx="1" clrIdx="50"/>
  <p:cmAuthor id="808" name="未知用户418" initials="未" lastIdx="1" clrIdx="0"/>
  <p:cmAuthor id="52" name="周君|zhoujun10" initials="周君" lastIdx="1" clrIdx="61"/>
  <p:cmAuthor id="809" name="未知用户450" initials="未" lastIdx="6" clrIdx="0"/>
  <p:cmAuthor id="53" name="陆晨凯|luchenkai" initials="陆晨凯" lastIdx="1" clrIdx="52"/>
  <p:cmAuthor id="810" name="未知用户423" initials="未" lastIdx="0" clrIdx="0"/>
  <p:cmAuthor id="54" name="杨思思_VNjyvY7j" initials="authorId_430925712" lastIdx="0" clrIdx="0"/>
  <p:cmAuthor id="811" name="未知用户424" initials="未" lastIdx="5" clrIdx="0"/>
  <p:cmAuthor id="55" name="QTX" initials="Q" lastIdx="1" clrIdx="64"/>
  <p:cmAuthor id="812" name="未知用户425" initials="未" lastIdx="3" clrIdx="1"/>
  <p:cmAuthor id="56" name="叶盛|yesheng1" initials="叶盛" lastIdx="2" clrIdx="59"/>
  <p:cmAuthor id="813" name="未知用户451" initials="未" lastIdx="1" clrIdx="0"/>
  <p:cmAuthor id="57" name="未知的使用者40" initials="" lastIdx="1" clrIdx="0"/>
  <p:cmAuthor id="814" name="未知用户452" initials="未" lastIdx="1" clrIdx="0"/>
  <p:cmAuthor id="58" name="I_u6feq6Zr" initials="authorId_300885863" lastIdx="0" clrIdx="0"/>
  <p:cmAuthor id="815" name="未知用户453" initials="未" lastIdx="1" clrIdx="0"/>
  <p:cmAuthor id="59" name="zh" initials="z" lastIdx="1" clrIdx="58"/>
  <p:cmAuthor id="816" name="未知用户454" initials="未" lastIdx="1" clrIdx="2"/>
  <p:cmAuthor id="60" name="dejat" initials="d" lastIdx="1" clrIdx="59"/>
  <p:cmAuthor id="817" name="未知用户455" initials="未" lastIdx="1" clrIdx="0"/>
  <p:cmAuthor id="61" name="yangliru1" initials="y" lastIdx="1" clrIdx="60"/>
  <p:cmAuthor id="818" name="未知用户456" initials="未" lastIdx="1" clrIdx="0"/>
  <p:cmAuthor id="62" name="未知的使用者91" initials="" lastIdx="1" clrIdx="0"/>
  <p:cmAuthor id="819" name="未知用户457" initials="未" lastIdx="10" clrIdx="0"/>
  <p:cmAuthor id="63" name="zxl" initials="z" lastIdx="11" clrIdx="62"/>
  <p:cmAuthor id="820" name="未知用户458" initials="未" lastIdx="1" clrIdx="0"/>
  <p:cmAuthor id="64" name="CHRISYU" initials="" lastIdx="1" clrIdx="0"/>
  <p:cmAuthor id="821" name="風輕 雲淡" initials="風輕" lastIdx="1" clrIdx="511"/>
  <p:cmAuthor id="65" name="未知的使用者113" initials="" lastIdx="1" clrIdx="2"/>
  <p:cmAuthor id="822" name="张 青山" initials="张" lastIdx="6" clrIdx="545"/>
  <p:cmAuthor id="66" name="liucunri" initials="" lastIdx="1" clrIdx="0"/>
  <p:cmAuthor id="823" name="张青山" initials="张青山" lastIdx="1" clrIdx="546"/>
  <p:cmAuthor id="67" name="未知用户9" initials="" lastIdx="1" clrIdx="0"/>
  <p:cmAuthor id="68" name="wzchenl@zj.cmcc" initials="wzchenl@zj.cmcc" lastIdx="1" clrIdx="67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邱飞燕|qiufeiyan" initials="邱飞燕" lastIdx="2" clrIdx="71"/>
  <p:cmAuthor id="829" name="未知用户471" initials="未" lastIdx="1" clrIdx="0"/>
  <p:cmAuthor id="73" name="未知的使用者120" initials="" lastIdx="1" clrIdx="0"/>
  <p:cmAuthor id="830" name="未知用户472" initials="未" lastIdx="1" clrIdx="0"/>
  <p:cmAuthor id="74" name="px" initials="" lastIdx="3" clrIdx="1"/>
  <p:cmAuthor id="831" name="未知用户473" initials="未" lastIdx="4" clrIdx="0"/>
  <p:cmAuthor id="75" name="陈梁|wzchenl" initials="陈梁" lastIdx="1" clrIdx="74"/>
  <p:cmAuthor id="76" name="wangzhengyu" initials="w" lastIdx="1" clrIdx="25"/>
  <p:cmAuthor id="77" name="w x" initials="wx" lastIdx="2" clrIdx="26"/>
  <p:cmAuthor id="834" name="进 揭" initials="进" lastIdx="1" clrIdx="87"/>
  <p:cmAuthor id="78" name="SHEN Chao" initials="SC" lastIdx="1" clrIdx="37"/>
  <p:cmAuthor id="835" name="未知用户475" initials="未" lastIdx="0" clrIdx="0"/>
  <p:cmAuthor id="79" name="微软用户" initials="" lastIdx="1" clrIdx="0"/>
  <p:cmAuthor id="836" name="未知用户476" initials="未" lastIdx="1" clrIdx="0"/>
  <p:cmAuthor id="80" name="未知的使用者73" initials="" lastIdx="1" clrIdx="0"/>
  <p:cmAuthor id="81" name="未知的使用者24" initials="" lastIdx="8" clrIdx="0"/>
  <p:cmAuthor id="838" name="未知用户489" initials="未" lastIdx="1" clrIdx="0"/>
  <p:cmAuthor id="82" name="未知用户16" initials="" lastIdx="1" clrIdx="0"/>
  <p:cmAuthor id="839" name="未知用户488" initials="未" lastIdx="10" clrIdx="0"/>
  <p:cmAuthor id="83" name="Mary Feil-Jacobs" initials="" lastIdx="43" clrIdx="1"/>
  <p:cmAuthor id="840" name="未知用户490" initials="未" lastIdx="1" clrIdx="0"/>
  <p:cmAuthor id="84" name="LiuHui" initials="" lastIdx="1" clrIdx="0"/>
  <p:cmAuthor id="841" name="未知用户477" initials="未" lastIdx="2" clrIdx="0"/>
  <p:cmAuthor id="85" name="未知的使用者45" initials="" lastIdx="1" clrIdx="0"/>
  <p:cmAuthor id="842" name="未知用户478" initials="未" lastIdx="1" clrIdx="0"/>
  <p:cmAuthor id="86" name="王鹏凯" initials="" lastIdx="1" clrIdx="0"/>
  <p:cmAuthor id="843" name="10015046" initials="1" lastIdx="1" clrIdx="842"/>
  <p:cmAuthor id="87" name="未知用户104" initials="" lastIdx="1" clrIdx="0"/>
  <p:cmAuthor id="844" name="未知用户480" initials="未" lastIdx="1" clrIdx="0"/>
  <p:cmAuthor id="88" name="未知用户5" initials="" lastIdx="1" clrIdx="0"/>
  <p:cmAuthor id="845" name="未知用户481" initials="未" lastIdx="10" clrIdx="0"/>
  <p:cmAuthor id="89" name="未知的使用者10" initials="" lastIdx="3" clrIdx="1"/>
  <p:cmAuthor id="846" name="未知用户271" initials="未" lastIdx="1" clrIdx="0"/>
  <p:cmAuthor id="90" name="未知的使用者93" initials="" lastIdx="1" clrIdx="1"/>
  <p:cmAuthor id="847" name="未知用户388" initials="未" lastIdx="1" clrIdx="0"/>
  <p:cmAuthor id="91" name="范作霖" initials="范" lastIdx="1" clrIdx="22"/>
  <p:cmAuthor id="848" name="未知用户484" initials="未" lastIdx="1" clrIdx="0"/>
  <p:cmAuthor id="92" name="LeeElva" initials="" lastIdx="1" clrIdx="0"/>
  <p:cmAuthor id="849" name="未知用户224" initials="未" lastIdx="5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854" name="未知用户487" initials="未" lastIdx="0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861" name="seki" initials="s" lastIdx="1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864" name="未知用户270" initials="未" lastIdx="1" clrIdx="0"/>
  <p:cmAuthor id="108" name="未知的使用者27" initials="" lastIdx="8" clrIdx="0"/>
  <p:cmAuthor id="109" name="刘豹" initials="刘" lastIdx="0" clrIdx="0"/>
  <p:cmAuthor id="866" name="USER631805" initials="U" lastIdx="1" clrIdx="865"/>
  <p:cmAuthor id="110" name="未知的使用者30" initials="" lastIdx="8" clrIdx="0"/>
  <p:cmAuthor id="867" name="zhangbai" initials="z" lastIdx="1" clrIdx="866"/>
  <p:cmAuthor id="111" name="未知的使用者53" initials="" lastIdx="1" clrIdx="0"/>
  <p:cmAuthor id="868" name="俊呈 賴" initials="俊" lastIdx="1" clrIdx="87"/>
  <p:cmAuthor id="112" name="未知用户58" initials="" lastIdx="5" clrIdx="1"/>
  <p:cmAuthor id="113" name="未知的使用者25" initials="" lastIdx="1" clrIdx="0"/>
  <p:cmAuthor id="114" name="liupeng" initials="" lastIdx="1" clrIdx="1"/>
  <p:cmAuthor id="871" name="Nero" initials="N" lastIdx="2" clrIdx="0"/>
  <p:cmAuthor id="115" name="未知用户24" initials="" lastIdx="1" clrIdx="0"/>
  <p:cmAuthor id="872" name="yifan song" initials="y" lastIdx="1" clrIdx="85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876" name="莊安君" initials="莊" lastIdx="1" clrIdx="65"/>
  <p:cmAuthor id="120" name="郑汝鸿" initials="郑" lastIdx="2" clrIdx="0"/>
  <p:cmAuthor id="121" name="未知用户19" initials="" lastIdx="1" clrIdx="0"/>
  <p:cmAuthor id="122" name="周宏達JerryChou" initials="" lastIdx="6" clrIdx="2"/>
  <p:cmAuthor id="879" name="陳建璋" initials="陳" lastIdx="2" clrIdx="85"/>
  <p:cmAuthor id="123" name="邢辰凤" initials="邢" lastIdx="45" clrIdx="7"/>
  <p:cmAuthor id="880" name="建璋" initials="建" lastIdx="1" clrIdx="86"/>
  <p:cmAuthor id="124" name="未知用户7" initials="" lastIdx="1" clrIdx="0"/>
  <p:cmAuthor id="125" name="未知的使用者56" initials="" lastIdx="1" clrIdx="0"/>
  <p:cmAuthor id="882" name="77482" initials="7" lastIdx="2" clrIdx="548"/>
  <p:cmAuthor id="126" name="未知用户46" initials="未" lastIdx="1" clrIdx="1"/>
  <p:cmAuthor id="883" name="未知用户265" initials="未" lastIdx="2" clrIdx="0"/>
  <p:cmAuthor id="127" name="未知的使用者119" initials="" lastIdx="1" clrIdx="2"/>
  <p:cmAuthor id="884" name="未知用户267" initials="未" lastIdx="1" clrIdx="0"/>
  <p:cmAuthor id="128" name="未知用户59" initials="" lastIdx="0" clrIdx="1"/>
  <p:cmAuthor id="885" name="liuxie" initials="l" lastIdx="1" clrIdx="588"/>
  <p:cmAuthor id="129" name="未知的使用者22" initials="" lastIdx="8" clrIdx="0"/>
  <p:cmAuthor id="886" name="张因然10112423" initials="1" lastIdx="1" clrIdx="885"/>
  <p:cmAuthor id="130" name="未知的使用者103" initials="" lastIdx="8" clrIdx="0"/>
  <p:cmAuthor id="887" name="未知用户241" initials="未" lastIdx="0" clrIdx="1"/>
  <p:cmAuthor id="131" name="Wenwen" initials="" lastIdx="1" clrIdx="1"/>
  <p:cmAuthor id="132" name="未知的使用者117" initials="" lastIdx="1" clrIdx="0"/>
  <p:cmAuthor id="133" name="未知的使用者33" initials="" lastIdx="1" clrIdx="0"/>
  <p:cmAuthor id="890" name="未知用户227" initials="未" lastIdx="1" clrIdx="0"/>
  <p:cmAuthor id="134" name="未知的使用者28" initials="" lastIdx="1" clrIdx="0"/>
  <p:cmAuthor id="891" name="未知用户298" initials="未" lastIdx="1" clrIdx="0"/>
  <p:cmAuthor id="135" name="未知用户67" initials="" lastIdx="1" clrIdx="0"/>
  <p:cmAuthor id="892" name="未知用户299" initials="未" lastIdx="1" clrIdx="0"/>
  <p:cmAuthor id="136" name="未知用户114" initials="" lastIdx="1" clrIdx="0"/>
  <p:cmAuthor id="137" name="未知用户18" initials="" lastIdx="10" clrIdx="0"/>
  <p:cmAuthor id="894" name="未知用户302" initials="未" lastIdx="1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898" name="許詩婕" initials="許" lastIdx="1" clrIdx="1"/>
  <p:cmAuthor id="142" name="未知的使用者9" initials="" lastIdx="1" clrIdx="0"/>
  <p:cmAuthor id="143" name="未知用户62" initials="" lastIdx="1" clrIdx="1"/>
  <p:cmAuthor id="900" name="minil" initials="m" lastIdx="4" clrIdx="589"/>
  <p:cmAuthor id="353158055" name="韩雨" initials="韩" lastIdx="0" clrIdx="0"/>
  <p:cmAuthor id="901" name="15106" initials="1" lastIdx="4" clrIdx="0"/>
  <p:cmAuthor id="144" name="yuanzh" initials="" lastIdx="1" clrIdx="1"/>
  <p:cmAuthor id="145" name="不明使用者57" initials="" lastIdx="1" clrIdx="0"/>
  <p:cmAuthor id="595510092" name="乐燕" initials="乐" lastIdx="1" clrIdx="647"/>
  <p:cmAuthor id="146" name="未知用户108" initials="" lastIdx="1" clrIdx="0"/>
  <p:cmAuthor id="903" name="赵 璐" initials="赵" lastIdx="4" clrIdx="0"/>
  <p:cmAuthor id="147" name="未知的使用者110" initials="" lastIdx="1" clrIdx="0"/>
  <p:cmAuthor id="229044123" name="WPS_1468166496" initials="W" lastIdx="1" clrIdx="344"/>
  <p:cmAuthor id="904" name="Zhu, Hawk" initials="Z" lastIdx="1" clrIdx="0"/>
  <p:cmAuthor id="148" name="linyd" initials="" lastIdx="3" clrIdx="1"/>
  <p:cmAuthor id="905" name="tanjp" initials="t" lastIdx="0" clrIdx="491"/>
  <p:cmAuthor id="149" name="未知用户8" initials="" lastIdx="1" clrIdx="0"/>
  <p:cmAuthor id="906" name="YS" initials="Y" lastIdx="1" clrIdx="86"/>
  <p:cmAuthor id="150" name="未知的使用者31" initials="" lastIdx="1" clrIdx="0"/>
  <p:cmAuthor id="151" name="未知用户81" initials="" lastIdx="1" clrIdx="0"/>
  <p:cmAuthor id="908" name="10285279" initials="1" lastIdx="1" clrIdx="907"/>
  <p:cmAuthor id="152" name="未知用户115" initials="" lastIdx="1" clrIdx="0"/>
  <p:cmAuthor id="153" name="未知用户21" initials="" lastIdx="1" clrIdx="0"/>
  <p:cmAuthor id="910" name="Jdi" initials="J" lastIdx="0" clrIdx="0"/>
  <p:cmAuthor id="154" name="未知的使用者68" initials="" lastIdx="1" clrIdx="0"/>
  <p:cmAuthor id="911" name="未知用户337" initials="未" lastIdx="1" clrIdx="0"/>
  <p:cmAuthor id="155" name="mm" initials="" lastIdx="1" clrIdx="0"/>
  <p:cmAuthor id="912" name="未知用户239" initials="未" lastIdx="3" clrIdx="0"/>
  <p:cmAuthor id="156" name="未知用户15" initials="" lastIdx="1" clrIdx="0"/>
  <p:cmAuthor id="913" name="chenmh" initials="c" lastIdx="1" clrIdx="85"/>
  <p:cmAuthor id="157" name="朱晓瑜" initials="" lastIdx="54" clrIdx="0"/>
  <p:cmAuthor id="914" name="CVTEr" initials="C" lastIdx="1" clrIdx="0"/>
  <p:cmAuthor id="158" name="不明使用者20" initials="" lastIdx="1" clrIdx="0"/>
  <p:cmAuthor id="915" name="June C" initials="J" lastIdx="1" clrIdx="4"/>
  <p:cmAuthor id="159" name="未知用户82" initials="" lastIdx="1" clrIdx="0"/>
  <p:cmAuthor id="916" name="00270" initials="0" lastIdx="1" clrIdx="0"/>
  <p:cmAuthor id="160" name="未知的使用者7" initials="" lastIdx="2" clrIdx="0"/>
  <p:cmAuthor id="917" name="IBM_USER" initials="I" lastIdx="4" clrIdx="1"/>
  <p:cmAuthor id="161" name="未知用户6" initials="" lastIdx="8" clrIdx="0"/>
  <p:cmAuthor id="918" name="aa" initials="a" lastIdx="10" clrIdx="9"/>
  <p:cmAuthor id="162" name="未知的使用者55" initials="" lastIdx="1" clrIdx="0"/>
  <p:cmAuthor id="919" name="shinevin liu" initials="s" lastIdx="1" clrIdx="3"/>
  <p:cmAuthor id="163" name="未知的使用者111" initials="" lastIdx="1" clrIdx="0"/>
  <p:cmAuthor id="920" name="Davidpeng" initials="D" lastIdx="1" clrIdx="10"/>
  <p:cmAuthor id="164" name="未知的使用者50" initials="" lastIdx="1" clrIdx="0"/>
  <p:cmAuthor id="921" name="dbc" initials="d" lastIdx="2" clrIdx="0"/>
  <p:cmAuthor id="165" name="未知的使用者11" initials="" lastIdx="1" clrIdx="0"/>
  <p:cmAuthor id="922" name="吴军影" initials="吴" lastIdx="10" clrIdx="0"/>
  <p:cmAuthor id="166" name="未知用户47" initials="" lastIdx="6" clrIdx="0"/>
  <p:cmAuthor id="923" name="冯学沛" initials="冯" lastIdx="1" clrIdx="1"/>
  <p:cmAuthor id="167" name="未知用户106" initials="未" lastIdx="1" clrIdx="0"/>
  <p:cmAuthor id="924" name="杨 超" initials="杨" lastIdx="1" clrIdx="3"/>
  <p:cmAuthor id="168" name="未知用户116" initials="" lastIdx="1" clrIdx="1"/>
  <p:cmAuthor id="925" name="董艺萱00344473" initials="董艺萱003444" lastIdx="11" clrIdx="924"/>
  <p:cmAuthor id="169" name="未知的使用者150" initials="未" lastIdx="1" clrIdx="0"/>
  <p:cmAuthor id="926" name="Rex" initials="R" lastIdx="0" clrIdx="0"/>
  <p:cmAuthor id="170" name="未知的使用者69" initials="" lastIdx="1" clrIdx="1"/>
  <p:cmAuthor id="171" name="未知的使用者112" initials="" lastIdx="1" clrIdx="1"/>
  <p:cmAuthor id="146566726" name="高飞" initials="高" lastIdx="0" clrIdx="0"/>
  <p:cmAuthor id="172" name="梁亚栋" initials="梁" lastIdx="776053" clrIdx="0"/>
  <p:cmAuthor id="146566727" name="xzb1" initials="x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赵丽丽" initials="赵" lastIdx="6" clrIdx="3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959" name="王玉婷" initials="王玉婷" lastIdx="0" clrIdx="958"/>
  <p:cmAuthor id="203" name="未知用户28" initials="未" lastIdx="5" clrIdx="1"/>
  <p:cmAuthor id="960" name="张霖|zhanglin6" initials="张霖" lastIdx="0" clrIdx="959"/>
  <p:cmAuthor id="204" name="未知的使用者72" initials="" lastIdx="1" clrIdx="0"/>
  <p:cmAuthor id="961" name="未知用户107" initials="" lastIdx="0" clrIdx="960"/>
  <p:cmAuthor id="205" name="未知的使用者48" initials="" lastIdx="1" clrIdx="0"/>
  <p:cmAuthor id="962" name="未知的使用者83" initials="" lastIdx="0" clrIdx="961"/>
  <p:cmAuthor id="206" name="未知的使用者104" initials="" lastIdx="1" clrIdx="0"/>
  <p:cmAuthor id="963" name="未知的使用者84" initials="" lastIdx="0" clrIdx="962"/>
  <p:cmAuthor id="207" name="未知用户60" initials="" lastIdx="1" clrIdx="0"/>
  <p:cmAuthor id="964" name="未知的使用者70" initials="" lastIdx="0" clrIdx="963"/>
  <p:cmAuthor id="208" name="未知的使用者39" initials="未" lastIdx="10" clrIdx="0"/>
  <p:cmAuthor id="965" name="未知的使用者85" initials="" lastIdx="0" clrIdx="964"/>
  <p:cmAuthor id="209" name="Shawna Strickland" initials="" lastIdx="2" clrIdx="0"/>
  <p:cmAuthor id="966" name="未知的使用者87" initials="" lastIdx="0" clrIdx="965"/>
  <p:cmAuthor id="210" name="未知的使用者36" initials="" lastIdx="3" clrIdx="1"/>
  <p:cmAuthor id="967" name="曾红" initials="" lastIdx="0" clrIdx="966"/>
  <p:cmAuthor id="211" name="未知的使用者76" initials="未" lastIdx="1" clrIdx="0"/>
  <p:cmAuthor id="968" name="未知的使用者29" initials="" lastIdx="0" clrIdx="967"/>
  <p:cmAuthor id="212" name="Daniel Wuu" initials="" lastIdx="1" clrIdx="0"/>
  <p:cmAuthor id="969" name="未知的使用者98" initials="" lastIdx="0" clrIdx="968"/>
  <p:cmAuthor id="213" name="未知用户56" initials="" lastIdx="1" clrIdx="0"/>
  <p:cmAuthor id="970" name="Unknown User48" initials="" lastIdx="0" clrIdx="969"/>
  <p:cmAuthor id="214" name="未知的使用者14" initials="" lastIdx="2" clrIdx="0"/>
  <p:cmAuthor id="971" name="Sky123.Org" initials="" lastIdx="0" clrIdx="970"/>
  <p:cmAuthor id="215" name="云峰 贾" initials="云" lastIdx="2" clrIdx="0"/>
  <p:cmAuthor id="972" name="沙俊杰00140688" initials="沙俊杰00140688" lastIdx="0" clrIdx="971"/>
  <p:cmAuthor id="216" name="未知的使用者197" initials="未" lastIdx="8" clrIdx="0"/>
  <p:cmAuthor id="973" name="10255708" initials="1" lastIdx="0" clrIdx="972"/>
  <p:cmAuthor id="441412215" name="tonghailan" initials="t" lastIdx="1126972" clrIdx="1"/>
  <p:cmAuthor id="217" name="Ashley Eberenz" initials="" lastIdx="7" clrIdx="1"/>
  <p:cmAuthor id="974" name="张家慧" initials="张" lastIdx="0" clrIdx="973"/>
  <p:cmAuthor id="218" name="不明使用者19" initials="" lastIdx="1" clrIdx="0"/>
  <p:cmAuthor id="975" name="MA YOU" initials="M" lastIdx="0" clrIdx="974"/>
  <p:cmAuthor id="219" name="qiantong" initials="" lastIdx="3" clrIdx="1"/>
  <p:cmAuthor id="976" name="ma jialin" initials="mj" lastIdx="0" clrIdx="975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未知的使用者168" initials="未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6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SHY" initials="S" lastIdx="1" clrIdx="315"/>
  <p:cmAuthor id="323" name="10099398" initials="1" lastIdx="1" clrIdx="322"/>
  <p:cmAuthor id="324" name="唐芸" initials="唐" lastIdx="5" clrIdx="0"/>
  <p:cmAuthor id="325" name="刘春杰10244342" initials="刘" lastIdx="1" clrIdx="41"/>
  <p:cmAuthor id="326" name="10010600" initials="1" lastIdx="1" clrIdx="325"/>
  <p:cmAuthor id="327" name="10205805" initials="1" lastIdx="1" clrIdx="326"/>
  <p:cmAuthor id="328" name="caojiaju@zj.cmcc" initials="caojiaju@zj.cmcc" lastIdx="1" clrIdx="327"/>
  <p:cmAuthor id="329" name="邱银杰" initials="邱" lastIdx="2" clrIdx="328"/>
  <p:cmAuthor id="330" name="0045000519" initials="0" lastIdx="1" clrIdx="0"/>
  <p:cmAuthor id="331" name="WHF" initials="W" lastIdx="0" clrIdx="50"/>
  <p:cmAuthor id="332" name="Liu, Hongqing (NSB - CN/Shanghai)" initials="L" lastIdx="1" clrIdx="41"/>
  <p:cmAuthor id="333" name="10080095" initials="1" lastIdx="1" clrIdx="332"/>
  <p:cmAuthor id="334" name="10240466" initials="1" lastIdx="1" clrIdx="333"/>
  <p:cmAuthor id="335" name="JZX" initials="J" lastIdx="2" clrIdx="50"/>
  <p:cmAuthor id="287643681" name="殷格非" initials="殷" lastIdx="2" clrIdx="0"/>
  <p:cmAuthor id="336" name="赵怡彬1" initials="赵" lastIdx="1" clrIdx="335"/>
  <p:cmAuthor id="287643682" name="z r" initials="zr" lastIdx="5" clrIdx="12"/>
  <p:cmAuthor id="337" name="李 少峰" initials="李" lastIdx="1" clrIdx="33"/>
  <p:cmAuthor id="287643683" name="石晓利" initials="C" lastIdx="1" clrIdx="13"/>
  <p:cmAuthor id="338" name="sxp" initials="s" lastIdx="2" clrIdx="337"/>
  <p:cmAuthor id="287643684" name="解飞|xief" initials="解飞" lastIdx="0" clrIdx="37"/>
  <p:cmAuthor id="339" name="杜群|lhdq" initials="杜群" lastIdx="1" clrIdx="338"/>
  <p:cmAuthor id="287643685" name="亮" initials="亮" lastIdx="1" clrIdx="44"/>
  <p:cmAuthor id="340" name="李妍妍|liyanyan3" initials="李妍妍" lastIdx="1" clrIdx="339"/>
  <p:cmAuthor id="691587970" name="小延魔法师" initials="小" lastIdx="1126286" clrIdx="0"/>
  <p:cmAuthor id="287643686" name="夜尽迟渊_UrQfrmQZ" initials="authorId_501680251" lastIdx="0" clrIdx="0"/>
  <p:cmAuthor id="341" name="10096825" initials="1" lastIdx="1" clrIdx="340"/>
  <p:cmAuthor id="691587971" name="陈 湘云" initials="陈" lastIdx="1" clrIdx="50"/>
  <p:cmAuthor id="287643687" name="王丰_aE3uARfm" initials="authorId_383357774" lastIdx="0" clrIdx="0"/>
  <p:cmAuthor id="342" name="王斌|wangbin34" initials="王斌" lastIdx="1" clrIdx="341"/>
  <p:cmAuthor id="691587972" name="chenglong ren" initials="cr" lastIdx="1" clrIdx="191251537"/>
  <p:cmAuthor id="287643688" name="方少_UbQfrimU" initials="authorId_442114952" lastIdx="0" clrIdx="0"/>
  <p:cmAuthor id="343" name="朱毓澄|zhuyucheng2" initials="朱毓澄" lastIdx="5" clrIdx="342"/>
  <p:cmAuthor id="691587973" name="黄昊_BfmimI77" initials="authorId_542187450" lastIdx="0" clrIdx="0"/>
  <p:cmAuthor id="287643689" name="叶盛_Q3A3IfEf" initials="authorId_506280334" lastIdx="0" clrIdx="0"/>
  <p:cmAuthor id="344" name="chenjiayue" initials="c" lastIdx="1" clrIdx="343"/>
  <p:cmAuthor id="691587974" name="十口亭_VZZjMJvM" initials="authorId_482745140" lastIdx="0" clrIdx="0"/>
  <p:cmAuthor id="287643690" name="Harley._bEJrUJ7r" initials="authorId_432156705" lastIdx="0" clrIdx="0"/>
  <p:cmAuthor id="345" name="wangnan19" initials="w" lastIdx="1" clrIdx="344"/>
  <p:cmAuthor id="691587975" name="gaoyang zhan" initials="gz" lastIdx="1" clrIdx="191251537"/>
  <p:cmAuthor id="287643691" name="罗平_VB7vJb2E" initials="authorId_305049361" lastIdx="0" clrIdx="0"/>
  <p:cmAuthor id="346" name="Unknown User24" initials="U" lastIdx="1" clrIdx="0"/>
  <p:cmAuthor id="691587976" name="周豪特_N7nyVj2I" initials="authorId_419394838" lastIdx="0" clrIdx="0"/>
  <p:cmAuthor id="287643692" name="xixi_nUjqe22E" initials="authorId_359229261" lastIdx="0" clrIdx="0"/>
  <p:cmAuthor id="347" name="金标|jinbiao" initials="金标" lastIdx="1" clrIdx="346"/>
  <p:cmAuthor id="691587977" name="丁华乐_qaMraEby" initials="authorId_616659736" lastIdx="0" clrIdx="0"/>
  <p:cmAuthor id="287643693" name="安安_zm6nYnYZ" initials="authorId_347340296" lastIdx="0" clrIdx="0"/>
  <p:cmAuthor id="348" name="10207586" initials="1" lastIdx="1" clrIdx="347"/>
  <p:cmAuthor id="691587978" name="罗平_QfY3MnyU" initials="authorId_1512265542" lastIdx="0" clrIdx="0"/>
  <p:cmAuthor id="287643694" name="nature_emInFJF7" initials="authorId_313163542" lastIdx="0" clrIdx="0"/>
  <p:cmAuthor id="349" name="10170716" initials="1" lastIdx="1" clrIdx="348"/>
  <p:cmAuthor id="691587979" name="刚刚好_RBZbyEj2" initials="authorId_256324335" lastIdx="0" clrIdx="0"/>
  <p:cmAuthor id="350" name="00001457" initials="0" lastIdx="1" clrIdx="349"/>
  <p:cmAuthor id="691587980" name="鲁琪_ayIzYrYZ" initials="authorId_602698507" lastIdx="0" clrIdx="0"/>
  <p:cmAuthor id="287643696" name="周君_MfIffYra" initials="authorId_375419134" lastIdx="0" clrIdx="0"/>
  <p:cmAuthor id="351" name="未知的使用者173" initials="未" lastIdx="1" clrIdx="0"/>
  <p:cmAuthor id="691587981" name="黄百成_m6Jjq6bQ" initials="authorId_901868002" lastIdx="0" clrIdx="0"/>
  <p:cmAuthor id="352" name="盛枫10333537" initials="盛" lastIdx="1" clrIdx="351"/>
  <p:cmAuthor id="353" name="刘威" initials="liuwei" lastIdx="1" clrIdx="352"/>
  <p:cmAuthor id="354" name="朱红新10208100" initials="朱" lastIdx="10" clrIdx="50"/>
  <p:cmAuthor id="355" name="lirui" initials="l" lastIdx="1" clrIdx="48"/>
  <p:cmAuthor id="356" name="Joyce" initials="J" lastIdx="1" clrIdx="355"/>
  <p:cmAuthor id="357" name="10067286" initials="1" lastIdx="1" clrIdx="354"/>
  <p:cmAuthor id="358" name="张静_Anua7Nne" initials="张" lastIdx="0" clrIdx="0"/>
  <p:cmAuthor id="359" name="15857" initials="1" lastIdx="1" clrIdx="358"/>
  <p:cmAuthor id="360" name="未知的使用者176" initials="未" lastIdx="1" clrIdx="0"/>
  <p:cmAuthor id="361" name="张琼|zhangqiong" initials="张琼" lastIdx="1" clrIdx="360"/>
  <p:cmAuthor id="362" name="未知的使用者178" initials="未" lastIdx="1" clrIdx="0"/>
  <p:cmAuthor id="363" name="未知的使用者179" initials="未" lastIdx="1" clrIdx="0"/>
  <p:cmAuthor id="364" name="10260821" initials="1" lastIdx="1" clrIdx="363"/>
  <p:cmAuthor id="365" name="徐琳00159163" initials="徐" lastIdx="1" clrIdx="37"/>
  <p:cmAuthor id="366" name="钟 潇文" initials="钟" lastIdx="1" clrIdx="50"/>
  <p:cmAuthor id="367" name="Wangjian (Frank)" initials="W" lastIdx="1" clrIdx="44"/>
  <p:cmAuthor id="368" name="Think" initials="T" lastIdx="2" clrIdx="40"/>
  <p:cmAuthor id="369" name="马紫慧|mazh" initials="马紫慧" lastIdx="1" clrIdx="368"/>
  <p:cmAuthor id="370" name="赵泽盛10022760" initials="赵" lastIdx="1" clrIdx="50"/>
  <p:cmAuthor id="371" name="hanyangyang" initials="h" lastIdx="1" clrIdx="370"/>
  <p:cmAuthor id="372" name="Vincent" initials="VZ" lastIdx="1" clrIdx="371"/>
  <p:cmAuthor id="374" name="未知的使用者146" initials="未" lastIdx="1" clrIdx="0"/>
  <p:cmAuthor id="375" name="zhangzm" initials="z" lastIdx="2" clrIdx="374"/>
  <p:cmAuthor id="376" name="00334816" initials="0" lastIdx="1" clrIdx="375"/>
  <p:cmAuthor id="377" name="10073055" initials="1" lastIdx="1" clrIdx="376"/>
  <p:cmAuthor id="378" name="00005049" initials="0" lastIdx="1" clrIdx="377"/>
  <p:cmAuthor id="379" name="10024364" initials="1" lastIdx="1" clrIdx="378"/>
  <p:cmAuthor id="380" name="sharon" initials="s" lastIdx="1" clrIdx="84"/>
  <p:cmAuthor id="381" name="未知用户131" initials="未" lastIdx="1" clrIdx="2"/>
  <p:cmAuthor id="382" name="未知用户132" initials="未" lastIdx="1" clrIdx="0"/>
  <p:cmAuthor id="383" name="未知的使用者194" initials="未" lastIdx="1" clrIdx="0"/>
  <p:cmAuthor id="384" name="董朝州|dongchaozhou" initials="董朝州" lastIdx="1" clrIdx="383"/>
  <p:cmAuthor id="386" name="zjlschaiyf1z" initials="z" lastIdx="1" clrIdx="385"/>
  <p:cmAuthor id="387" name="未知用户136" initials="未" lastIdx="1" clrIdx="1"/>
  <p:cmAuthor id="388" name="11746" initials="1" lastIdx="1" clrIdx="387"/>
  <p:cmAuthor id="389" name="caibin" initials="c" lastIdx="1" clrIdx="388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93" name="未知的使用者195" initials="未" lastIdx="1" clrIdx="1"/>
  <p:cmAuthor id="395" name="10240440" initials="1" lastIdx="1" clrIdx="394"/>
  <p:cmAuthor id="396" name="未知的使用者222" initials="" lastIdx="5" clrIdx="1"/>
  <p:cmAuthor id="397" name="未知的使用者203" initials="未" lastIdx="1" clrIdx="0"/>
  <p:cmAuthor id="398" name="10169052" initials="TC" lastIdx="2" clrIdx="397"/>
  <p:cmAuthor id="399" name="10326543" initials="1" lastIdx="4" clrIdx="398"/>
  <p:cmAuthor id="402" name="未知用户133" initials="未" lastIdx="1" clrIdx="0"/>
  <p:cmAuthor id="403" name="未知的使用者218" initials="" lastIdx="1" clrIdx="2"/>
  <p:cmAuthor id="404" name="未知的使用者219" initials="" lastIdx="8" clrIdx="0"/>
  <p:cmAuthor id="405" name="Unknown User28" initials="U" lastIdx="3" clrIdx="1"/>
  <p:cmAuthor id="410" name="未知的使用者232" initials="" lastIdx="8" clrIdx="0"/>
  <p:cmAuthor id="411" name="alpha" initials="a" lastIdx="1" clrIdx="0"/>
  <p:cmAuthor id="412" name="未知的使用者161" initials="未" lastIdx="1" clrIdx="0"/>
  <p:cmAuthor id="413" name="未知的使用者130" initials="" lastIdx="3" clrIdx="0"/>
  <p:cmAuthor id="414" name="Unknown User22" initials="U" lastIdx="1" clrIdx="0"/>
  <p:cmAuthor id="415" name="未知用户184" initials="未" lastIdx="1" clrIdx="1"/>
  <p:cmAuthor id="417" name="Unknown User23" initials="U" lastIdx="1" clrIdx="0"/>
  <p:cmAuthor id="418" name="未知的使用者75" initials="未" lastIdx="1" clrIdx="0"/>
  <p:cmAuthor id="419" name="未知用户182" initials="未" lastIdx="1" clrIdx="49"/>
  <p:cmAuthor id="420" name="未知用户204" initials="未" lastIdx="1" clrIdx="0"/>
  <p:cmAuthor id="421" name="Unknown User116" initials="U" lastIdx="0" clrIdx="1"/>
  <p:cmAuthor id="422" name="未知用户193" initials="未" lastIdx="3" clrIdx="0"/>
  <p:cmAuthor id="423" name="未知用户194" initials="未" lastIdx="1" clrIdx="0"/>
  <p:cmAuthor id="424" name="未知用户187" initials="未" lastIdx="10" clrIdx="0"/>
  <p:cmAuthor id="425" name="未知用户63" initials="未" lastIdx="1" clrIdx="0"/>
  <p:cmAuthor id="426" name="未知的使用者102" initials="未" lastIdx="5" clrIdx="1"/>
  <p:cmAuthor id="427" name="未知的使用者61" initials="未" lastIdx="1" clrIdx="0"/>
  <p:cmAuthor id="428" name="仝德志" initials="仝" lastIdx="1" clrIdx="0"/>
  <p:cmAuthor id="429" name="未知用户112" initials="未" lastIdx="4" clrIdx="0"/>
  <p:cmAuthor id="430" name="未知的使用者183" initials="未" lastIdx="5" clrIdx="1"/>
  <p:cmAuthor id="604287035" name="袁昭成" initials="袁" lastIdx="2" clrIdx="710"/>
  <p:cmAuthor id="431" name="未知用户162" initials="未" lastIdx="1" clrIdx="1"/>
  <p:cmAuthor id="432" name="未知用户163" initials="未" lastIdx="1" clrIdx="0"/>
  <p:cmAuthor id="498628763" name="莫凡" initials="莫" lastIdx="1" clrIdx="647"/>
  <p:cmAuthor id="433" name="針對所選的門市進行小範圍實驗，捕捉驅動績效的關鍵影響因子" initials="針" lastIdx="1" clrIdx="0"/>
  <p:cmAuthor id="434" name="未知用户161" initials="未" lastIdx="1" clrIdx="0"/>
  <p:cmAuthor id="435" name="未知的使用者114" initials="未" lastIdx="1" clrIdx="0"/>
  <p:cmAuthor id="436" name="未知用户164" initials="未" lastIdx="1" clrIdx="0"/>
  <p:cmAuthor id="437" name="未知的使用者184" initials="未" lastIdx="8" clrIdx="0"/>
  <p:cmAuthor id="438" name="未知的使用者185" initials="未" lastIdx="10" clrIdx="0"/>
  <p:cmAuthor id="439" name="未知用户10" initials="未" lastIdx="1" clrIdx="0"/>
  <p:cmAuthor id="261616612" name="邢开" initials="邢" lastIdx="1" clrIdx="364"/>
  <p:cmAuthor id="440" name="未知的使用者175" initials="未" lastIdx="8" clrIdx="0"/>
  <p:cmAuthor id="441" name="未知的使用者151" initials="未" lastIdx="1" clrIdx="0"/>
  <p:cmAuthor id="442" name="未知的使用者187" initials="未" lastIdx="1" clrIdx="0"/>
  <p:cmAuthor id="443" name="未知的使用者88" initials="未" lastIdx="1" clrIdx="1"/>
  <p:cmAuthor id="444" name="未知用户192" initials="未" lastIdx="1" clrIdx="0"/>
  <p:cmAuthor id="445" name="未知用户203" initials="未" lastIdx="1" clrIdx="1"/>
  <p:cmAuthor id="446" name="未知的使用者181" initials="未" lastIdx="7" clrIdx="1"/>
  <p:cmAuthor id="447" name="未知的使用者170" initials="未" lastIdx="43" clrIdx="1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徐 正国" initials="徐" lastIdx="1" clrIdx="45"/>
  <p:cmAuthor id="453" name="未知的使用者143" initials="未" lastIdx="1" clrIdx="0"/>
  <p:cmAuthor id="454" name="王薇（政企）" initials="王" lastIdx="1" clrIdx="57"/>
  <p:cmAuthor id="455" name="未知的使用者144" initials="未" lastIdx="1" clrIdx="0"/>
  <p:cmAuthor id="456" name="未知的使用者145" initials="未" lastIdx="1" clrIdx="0"/>
  <p:cmAuthor id="457" name="未知用户165" initials="未" lastIdx="1" clrIdx="0"/>
  <p:cmAuthor id="458" name="未知的使用者147" initials="未" lastIdx="1" clrIdx="0"/>
  <p:cmAuthor id="459" name="未知用户166" initials="未" lastIdx="8" clrIdx="0"/>
  <p:cmAuthor id="460" name="未知的使用者149" initials="未" lastIdx="8" clrIdx="0"/>
  <p:cmAuthor id="461" name="未知用户167" initials="未" lastIdx="1" clrIdx="0"/>
  <p:cmAuthor id="462" name="未知用户168" initials="未" lastIdx="1" clrIdx="0"/>
  <p:cmAuthor id="463" name="未知用户169" initials="未" lastIdx="1" clrIdx="1"/>
  <p:cmAuthor id="464" name="未知用户202" initials="未" lastIdx="8" clrIdx="0"/>
  <p:cmAuthor id="465" name="未知的使用者220" initials="未" lastIdx="7" clrIdx="1"/>
  <p:cmAuthor id="466" name="未知用户134" initials="未" lastIdx="10" clrIdx="0"/>
  <p:cmAuthor id="467" name="未知用户135" initials="未" lastIdx="1" clrIdx="0"/>
  <p:cmAuthor id="468" name="未知用户205" initials="未" lastIdx="1" clrIdx="0"/>
  <p:cmAuthor id="469" name="未知的使用者157" initials="未" lastIdx="1" clrIdx="0"/>
  <p:cmAuthor id="470" name="未知的使用者204" initials="未" lastIdx="1" clrIdx="0"/>
  <p:cmAuthor id="471" name="Yoyo Wu" initials="Y" lastIdx="2" clrIdx="0"/>
  <p:cmAuthor id="472" name="zhangbin" initials="z" lastIdx="6" clrIdx="0"/>
  <p:cmAuthor id="473" name="Arno.Du(杜明星)" initials="A" lastIdx="0" clrIdx="0"/>
  <p:cmAuthor id="474" name="未知用户174" initials="未" lastIdx="1" clrIdx="0"/>
  <p:cmAuthor id="475" name="未知用户175" initials="未" lastIdx="1" clrIdx="1"/>
  <p:cmAuthor id="476" name="Unknown User27" initials="U" lastIdx="1" clrIdx="0"/>
  <p:cmAuthor id="477" name="未知的使用者208" initials="未" lastIdx="1" clrIdx="0"/>
  <p:cmAuthor id="478" name="Unknown User112" initials="U" lastIdx="1" clrIdx="0"/>
  <p:cmAuthor id="479" name="Unknown User59" initials="U" lastIdx="1" clrIdx="0"/>
  <p:cmAuthor id="480" name="未知用户176" initials="未" lastIdx="1" clrIdx="0"/>
  <p:cmAuthor id="481" name="未知的使用者249" initials="未" lastIdx="43" clrIdx="1"/>
  <p:cmAuthor id="482" name="未知的使用者250" initials="未" lastIdx="1" clrIdx="0"/>
  <p:cmAuthor id="483" name="未知的使用者251" initials="未" lastIdx="1" clrIdx="0"/>
  <p:cmAuthor id="484" name="未知的使用者246" initials="未" lastIdx="1" clrIdx="1"/>
  <p:cmAuthor id="485" name="未知的使用者224" initials="未" lastIdx="1" clrIdx="0"/>
  <p:cmAuthor id="2000" name="黄通东_MbQvnUvu" initials="authorId_424725045" lastIdx="2492549" clrIdx="0"/>
  <p:cmAuthor id="486" name="未知的使用者252" initials="未" lastIdx="1" clrIdx="0"/>
  <p:cmAuthor id="2001" name="方楠 许" initials="方楠" lastIdx="1" clrIdx="5"/>
  <p:cmAuthor id="487" name="未知的使用者253" initials="未" lastIdx="1" clrIdx="0"/>
  <p:cmAuthor id="2002" name="金宇峰_BfyebuM3" initials="authorId_1008746-10054633" lastIdx="0" clrIdx="0"/>
  <p:cmAuthor id="488" name="未知的使用者192" initials="未" lastIdx="1" clrIdx="0"/>
  <p:cmAuthor id="2003" name="梁鹏" initials="u" lastIdx="1" clrIdx="35"/>
  <p:cmAuthor id="489" name="未知的使用者254" initials="未" lastIdx="1" clrIdx="0"/>
  <p:cmAuthor id="2004" name="范 斌" initials="范" lastIdx="1" clrIdx="36"/>
  <p:cmAuthor id="490" name="未知的使用者255" initials="未" lastIdx="1" clrIdx="0"/>
  <p:cmAuthor id="2005" name="毕邺" initials="党委办公室" lastIdx="2" clrIdx="37"/>
  <p:cmAuthor id="491" name="未知的使用者226" initials="未" lastIdx="8" clrIdx="0"/>
  <p:cmAuthor id="2006" name="jiaru tiger" initials="jt" lastIdx="2" clrIdx="38"/>
  <p:cmAuthor id="492" name="未知用户195" initials="未" lastIdx="1" clrIdx="0"/>
  <p:cmAuthor id="493" name="raymond luan" initials="r" lastIdx="0" clrIdx="0"/>
  <p:cmAuthor id="494" name="未知用户208" initials="未" lastIdx="1" clrIdx="0"/>
  <p:cmAuthor id="495" name="未知用户198" initials="未" lastIdx="1" clrIdx="0"/>
  <p:cmAuthor id="496" name="未知用户209" initials="未" lastIdx="1" clrIdx="0"/>
  <p:cmAuthor id="497" name="未知用户36" initials="未" lastIdx="1" clrIdx="0"/>
  <p:cmAuthor id="498" name="Evonlin" initials="E" lastIdx="2" clrIdx="2"/>
  <p:cmAuthor id="499" name="WANGZF" initials="W" lastIdx="4" clrIdx="2"/>
  <p:cmAuthor id="500" name="未知用户94" initials="未" lastIdx="0" clrIdx="1"/>
  <p:cmAuthor id="501" name="未知的使用者188" initials="未" lastIdx="1" clrIdx="0"/>
  <p:cmAuthor id="502" name="未知用户118" initials="未" lastIdx="1" clrIdx="0"/>
  <p:cmAuthor id="503" name="未知用户119" initials="未" lastIdx="5" clrIdx="1"/>
  <p:cmAuthor id="504" name="未知用户120" initials="未" lastIdx="8" clrIdx="0"/>
  <p:cmAuthor id="505" name="未知用户121" initials="未" lastIdx="1" clrIdx="0"/>
  <p:cmAuthor id="506" name="未知用户122" initials="未" lastIdx="1" clrIdx="0"/>
  <p:cmAuthor id="507" name="梅芬 吳" initials="梅" lastIdx="1" clrIdx="85"/>
  <p:cmAuthor id="508" name="未知的使用者134" initials="未" lastIdx="1" clrIdx="0"/>
  <p:cmAuthor id="509" name="未知的使用者136" initials="未" lastIdx="1" clrIdx="0"/>
  <p:cmAuthor id="510" name="未知的使用者139" initials="未" lastIdx="1" clrIdx="0"/>
  <p:cmAuthor id="511" name="未知的使用者247" initials="未" lastIdx="6" clrIdx="0"/>
  <p:cmAuthor id="512" name="未知的使用者174" initials="未" lastIdx="1" clrIdx="0"/>
  <p:cmAuthor id="256494066" name="远" initials="远" lastIdx="2" clrIdx="641"/>
  <p:cmAuthor id="513" name="宁隽" initials="NJ" lastIdx="1" clrIdx="512"/>
  <p:cmAuthor id="514" name="未知的使用者212" initials="" lastIdx="1" clrIdx="0"/>
  <p:cmAuthor id="515" name="WKL" initials="W" lastIdx="2" clrIdx="514"/>
  <p:cmAuthor id="516" name="未知的使用者214" initials="" lastIdx="1" clrIdx="1"/>
  <p:cmAuthor id="517" name="alexw" initials="a" lastIdx="1" clrIdx="516"/>
  <p:cmAuthor id="518" name="未知的使用者158" initials="未" lastIdx="1" clrIdx="0"/>
  <p:cmAuthor id="523" name="未知的使用者167" initials="未" lastIdx="0" clrIdx="1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527" name="未知的使用者229" initials="未" lastIdx="8" clrIdx="0"/>
  <p:cmAuthor id="8535702" name="曾蓓/贝贝" initials="曾" lastIdx="0" clrIdx="0"/>
  <p:cmAuthor id="528" name="未知的使用者230" initials="未" lastIdx="1" clrIdx="0"/>
  <p:cmAuthor id="381437688" name="谢学斌" initials="谢" lastIdx="0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543" name="未知的使用者258" initials="未" lastIdx="8" clrIdx="0"/>
  <p:cmAuthor id="544" name="未知的使用者259" initials="未" lastIdx="1" clrIdx="0"/>
  <p:cmAuthor id="545" name="未知的使用者260" initials="未" lastIdx="1" clrIdx="0"/>
  <p:cmAuthor id="546" name="未知的使用者261" initials="未" lastIdx="11" clrIdx="0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560" name="未知用户160" initials="未" lastIdx="2" clrIdx="0"/>
  <p:cmAuthor id="562" name="順天" initials="順" lastIdx="1" clrIdx="0"/>
  <p:cmAuthor id="563" name=" " initials="" lastIdx="6" clrIdx="85"/>
  <p:cmAuthor id="564" name="未知用户319" initials="未" lastIdx="1" clrIdx="0"/>
  <p:cmAuthor id="565" name="未知用户222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34" initials="未" lastIdx="7" clrIdx="1"/>
  <p:cmAuthor id="573" name="未知用户54" initials="未" lastIdx="8" clrIdx="0"/>
  <p:cmAuthor id="613835976" name="zyy" initials="z" lastIdx="1" clrIdx="592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2" name="未知的使用者205" initials="未" lastIdx="0" clrIdx="1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210492765" name="施普希（菜菜）" initials="施" lastIdx="0" clrIdx="0"/>
  <p:cmAuthor id="210492766" name="yu 1" initials="y1" lastIdx="1" clrIdx="19"/>
  <p:cmAuthor id="589" name="未知用户295" initials="未" lastIdx="1" clrIdx="0"/>
  <p:cmAuthor id="210492767" name="李 嘉" initials="李" lastIdx="1" clrIdx="26"/>
  <p:cmAuthor id="590" name="未知用户297" initials="未" lastIdx="1" clrIdx="0"/>
  <p:cmAuthor id="210492768" name="汪 丹丹" initials="汪" lastIdx="1" clrIdx="52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6" name="Microsoft Office User" initials="M" lastIdx="2" clrIdx="86"/>
  <p:cmAuthor id="597" name="未知用户256" initials="未" lastIdx="1" clrIdx="0"/>
  <p:cmAuthor id="598" name="未知用户257" initials="未" lastIdx="1" clrIdx="0"/>
  <p:cmAuthor id="599" name="未知用户258" initials="未" lastIdx="8" clrIdx="0"/>
  <p:cmAuthor id="600" name="未知用户259" initials="未" lastIdx="1" clrIdx="0"/>
  <p:cmAuthor id="601" name="未知用户260" initials="未" lastIdx="2" clrIdx="0"/>
  <p:cmAuthor id="602" name="未知用户261" initials="未" lastIdx="1" clrIdx="0"/>
  <p:cmAuthor id="603" name="未知用户262" initials="未" lastIdx="1" clrIdx="0"/>
  <p:cmAuthor id="604" name="未知的使用者140" initials="未" lastIdx="1" clrIdx="1"/>
  <p:cmAuthor id="605" name="yudi lin" initials="y" lastIdx="0" clrIdx="0"/>
  <p:cmAuthor id="606" name="未知用户249" initials="未" lastIdx="1" clrIdx="0"/>
  <p:cmAuthor id="607" name="liuzga" initials="l" lastIdx="1" clrIdx="3"/>
  <p:cmAuthor id="608" name="49554261@qq.com" initials="4" lastIdx="2" clrIdx="2"/>
  <p:cmAuthor id="609" name="未知用户230" initials="未" lastIdx="1" clrIdx="0"/>
  <p:cmAuthor id="610" name="未知用户231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未知用户269" initials="未" lastIdx="2" clrIdx="0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4" name="未知用户242" initials="未" lastIdx="3" clrIdx="0"/>
  <p:cmAuthor id="625" name="未知用户235" initials="未" lastIdx="1" clrIdx="2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1" name="岳晓丽" initials="岳" lastIdx="1" clrIdx="630"/>
  <p:cmAuthor id="257963522" name="夏泽宇" initials="夏" lastIdx="1" clrIdx="684"/>
  <p:cmAuthor id="632" name="HW" initials="H" lastIdx="2" clrIdx="631"/>
  <p:cmAuthor id="633" name="Carol Kelly" initials="C" lastIdx="1" clrIdx="0"/>
  <p:cmAuthor id="634" name="未知的使用者155" initials="未" lastIdx="1" clrIdx="0"/>
  <p:cmAuthor id="635" name="姚丽娟" initials="姚" lastIdx="2" clrIdx="634"/>
  <p:cmAuthor id="636" name="Unknown User58" initials="U" lastIdx="1" clrIdx="0"/>
  <p:cmAuthor id="637" name="Unknown User55" initials="U" lastIdx="1" clrIdx="1"/>
  <p:cmAuthor id="1046294244" name="kk" initials="k" lastIdx="1" clrIdx="873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708433798" name="jialuo" initials="j" lastIdx="0" clrIdx="0"/>
  <p:cmAuthor id="647" name="不明使用者2" initials="不" lastIdx="2" clrIdx="0"/>
  <p:cmAuthor id="708433799" name="蘇建明 fatty_BFjaamIF" initials="authorId_241790624" lastIdx="0" clrIdx="0"/>
  <p:cmAuthor id="648" name="yelinfei@zj.cmcc" initials="yelinfei@zj.cmcc" lastIdx="1" clrIdx="647"/>
  <p:cmAuthor id="708433800" name="徐梦琪|xumengq" initials="徐梦琪" lastIdx="1" clrIdx="708433799"/>
  <p:cmAuthor id="649" name="不明使用者4" initials="不" lastIdx="1" clrIdx="0"/>
  <p:cmAuthor id="708433801" name="zang" initials="z" lastIdx="1" clrIdx="708433800"/>
  <p:cmAuthor id="650" name="不明使用者6" initials="不" lastIdx="1" clrIdx="0"/>
  <p:cmAuthor id="708433802" name="王玲玲|wanglingling35" initials="王玲玲" lastIdx="1" clrIdx="708433801"/>
  <p:cmAuthor id="651" name="不明使用者5" initials="不" lastIdx="11" clrIdx="0"/>
  <p:cmAuthor id="708433803" name="文军 傅" initials="文傅" lastIdx="1" clrIdx="708433802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9" name="张翼飞" initials="zhangyifei@ha.cmcc" lastIdx="1" clrIdx="658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yangxy" initials="y" lastIdx="1" clrIdx="88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45" initials="未" lastIdx="10" clrIdx="0"/>
  <p:cmAuthor id="673" name="未知用户216" initials="未" lastIdx="1" clrIdx="0"/>
  <p:cmAuthor id="674" name="孟连磊" initials="孟" lastIdx="1" clrIdx="0"/>
  <p:cmAuthor id="394525608" name="仇怿俊" initials="仇" lastIdx="0" clrIdx="0"/>
  <p:cmAuthor id="675" name="未知用户387" initials="未" lastIdx="1" clrIdx="0"/>
  <p:cmAuthor id="394525609" name="Jimmy-Power" initials="J" lastIdx="1" clrIdx="43"/>
  <p:cmAuthor id="676" name="未知的使用者177" initials="未" lastIdx="8" clrIdx="0"/>
  <p:cmAuthor id="394525610" name="dengwanting" initials="d" lastIdx="1" clrIdx="50"/>
  <p:cmAuthor id="677" name="yushuping" initials="y" lastIdx="1" clrIdx="676"/>
  <p:cmAuthor id="394525611" name="mouse zz" initials="mz" lastIdx="1" clrIdx="54"/>
  <p:cmAuthor id="678" name="未知的使用者221" initials="未" lastIdx="1" clrIdx="0"/>
  <p:cmAuthor id="394525612" name="goulei" initials="g" lastIdx="2" clrIdx="4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cai yan" initials="cy" lastIdx="1" clrIdx="511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Unknown User80" initials="U" lastIdx="1" clrIdx="0"/>
  <p:cmAuthor id="689" name="cy" initials="c" lastIdx="1" clrIdx="76"/>
  <p:cmAuthor id="691" name="未知用户407" initials="未" lastIdx="1" clrIdx="0"/>
  <p:cmAuthor id="47245819" name="群智集" initials="群" lastIdx="0" clrIdx="0"/>
  <p:cmAuthor id="692" name="未知用户398" initials="未" lastIdx="1" clrIdx="0"/>
  <p:cmAuthor id="47245820" name="郏 鹏" initials="郏" lastIdx="1" clrIdx="16"/>
  <p:cmAuthor id="693" name="lxm" initials="l" lastIdx="1" clrIdx="413"/>
  <p:cmAuthor id="47245821" name="郏鹏" initials="M" lastIdx="1" clrIdx="17"/>
  <p:cmAuthor id="694" name="未知用户400" initials="未" lastIdx="2" clrIdx="0"/>
  <p:cmAuthor id="47245822" name="晓琳 李" initials="晓琳" lastIdx="1" clrIdx="40"/>
  <p:cmAuthor id="47245823" name="刘海娜|liuhaina" initials="W用" lastIdx="1" clrIdx="36"/>
  <p:cmAuthor id="696" name="yesg" initials="y" lastIdx="1" clrIdx="0"/>
  <p:cmAuthor id="47245824" name="goforever814" initials="g" lastIdx="1" clrIdx="34"/>
  <p:cmAuthor id="697" name="未知用户421" initials="未" lastIdx="1" clrIdx="0"/>
  <p:cmAuthor id="698" name="陳珮琪" initials="陳珮琪" lastIdx="1" clrIdx="188"/>
  <p:cmAuthor id="699" name="未知用户277" initials="未" lastIdx="1" clrIdx="1"/>
  <p:cmAuthor id="700" name="soling" initials="s" lastIdx="1" clrIdx="2"/>
  <p:cmAuthor id="701" name="李 骁" initials="李" lastIdx="1" clrIdx="0"/>
  <p:cmAuthor id="702" name="Tome" initials="T" lastIdx="1" clrIdx="85"/>
  <p:cmAuthor id="266010503" name="yan" initials="y" lastIdx="1" clrIdx="310"/>
  <p:cmAuthor id="703" name="未知的使用者96" initials="未" lastIdx="2" clrIdx="0"/>
  <p:cmAuthor id="704" name="未知的使用者97" initials="未" lastIdx="8" clrIdx="0"/>
  <p:cmAuthor id="705" name="未知用户301" initials="未" lastIdx="1" clrIdx="0"/>
  <p:cmAuthor id="706" name="未知用户306" initials="未" lastIdx="8" clrIdx="0"/>
  <p:cmAuthor id="707" name="未知用户308" initials="未" lastIdx="1" clrIdx="0"/>
  <p:cmAuthor id="710" name="Stacy Chiang" initials="S" lastIdx="2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479997760" name="Daigy" initials="D" lastIdx="1" clrIdx="622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29922660" name="杨强" initials="杨" lastIdx="0" clrIdx="0"/>
  <p:cmAuthor id="721" name="wangxinhui" initials="w" lastIdx="1" clrIdx="0"/>
  <p:cmAuthor id="29922661" name="檀晟 陈" initials="檀晟" lastIdx="1" clrIdx="10"/>
  <p:cmAuthor id="722" name="未知用户276" initials="未" lastIdx="8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49837067" name="刘浩" initials="刘" lastIdx="180431" clrIdx="0"/>
  <p:cmAuthor id="729" name="未知用户460" initials="未" lastIdx="1" clrIdx="0"/>
  <p:cmAuthor id="49837068" name="Vivian Liu" initials="VL" lastIdx="1" clrIdx="1"/>
  <p:cmAuthor id="730" name="未知用户366" initials="未" lastIdx="3" clrIdx="1"/>
  <p:cmAuthor id="49837069" name="Linjing" initials="L" lastIdx="2" clrIdx="95"/>
  <p:cmAuthor id="731" name="未知用户461" initials="未" lastIdx="10" clrIdx="0"/>
  <p:cmAuthor id="49837070" name="樊 现静" initials="樊" lastIdx="1" clrIdx="144"/>
  <p:cmAuthor id="732" name="未知用户367" initials="未" lastIdx="10" clrIdx="0"/>
  <p:cmAuthor id="49837071" name="孙 澍" initials="孙" lastIdx="1" clrIdx="207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0E7"/>
    <a:srgbClr val="88DB29"/>
    <a:srgbClr val="1184CF"/>
    <a:srgbClr val="CEE6BD"/>
    <a:srgbClr val="DEEBF7"/>
    <a:srgbClr val="9DC3E6"/>
    <a:srgbClr val="8DC222"/>
    <a:srgbClr val="69BBF3"/>
    <a:srgbClr val="0A4974"/>
    <a:srgbClr val="CF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46" d="100"/>
          <a:sy n="146" d="100"/>
        </p:scale>
        <p:origin x="612" y="66"/>
      </p:cViewPr>
      <p:guideLst>
        <p:guide orient="horz" pos="1710"/>
        <p:guide pos="30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&#20256;&#36755;&#35774;&#22791;&#24037;&#20316;\&#26448;&#26009;\24&#24180;-8&#26376;&#21322;&#24180;&#24230;&#20250;&#35758;\&#26032;&#24314;%20XLS%20&#24037;&#20316;&#34920;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&#20256;&#36755;&#35774;&#22791;&#24037;&#20316;\&#26448;&#26009;\24&#24180;-8&#26376;&#21322;&#24180;&#24230;&#20250;&#35758;\&#26032;&#24314;%20XLS%20&#24037;&#20316;&#34920;.xls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1.&#21608;&#25253;\&#25552;&#21319;&#21608;&#25253;\2025&#24180;\&#21315;&#20806;&#25552;&#21319;&#21608;&#25253;5.30\&#25644;&#36801;&#26426;&#25151;&#12289;&#36328;&#21306;PON&#21475;&#28165;&#21333;-2025053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/home/huawei/&#26700;&#38754;/&#30011;&#2227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/home/huawei/&#26700;&#38754;/&#30011;&#2227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/home/huawei/&#26700;&#38754;/&#30011;&#22270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CMCC\&#24037;&#20316;\&#29255;&#21306;\&#26448;&#26009;\2025\2025-5-9-&#36797;&#23425;&#20844;&#21496;&#20132;&#27969;&#26448;&#26009;\&#25968;&#25454;&#36136;&#24046;&#23567;&#21306;&#21344;&#27604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xuzhenhua\Desktop\&#35268;&#21010;&#26399;&#27425;&#25968;&#25454;&#23548;&#20986;_20250919121607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xuzhenhua\Desktop\&#35268;&#21010;&#26399;&#27425;&#25968;&#25454;&#23548;&#20986;_20250919121607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19732847601697E-2"/>
          <c:y val="7.958984375E-2"/>
          <c:w val="0.89981785063752295"/>
          <c:h val="0.6020507812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CDAE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11-4854-A7DB-6D5DC0CE0FE1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911-4854-A7DB-6D5DC0CE0FE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68.40</a:t>
                    </a:r>
                    <a: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354584092288998"/>
                      <c:h val="0.15820312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911-4854-A7DB-6D5DC0CE0FE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72.2</a:t>
                    </a:r>
                    <a: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236794171220399"/>
                      <c:h val="0.184895833333333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2911-4854-A7DB-6D5DC0CE0F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'[新建 XLS 工作表.xls]Sheet1'!$F$23:$F$24</c:f>
              <c:strCache>
                <c:ptCount val="2"/>
                <c:pt idx="0">
                  <c:v>年初</c:v>
                </c:pt>
                <c:pt idx="1">
                  <c:v>当前</c:v>
                </c:pt>
              </c:strCache>
            </c:strRef>
          </c:cat>
          <c:val>
            <c:numRef>
              <c:f>'[新建 XLS 工作表.xls]Sheet1'!$G$23:$G$24</c:f>
              <c:numCache>
                <c:formatCode>0.00%</c:formatCode>
                <c:ptCount val="2"/>
                <c:pt idx="0">
                  <c:v>0.57799999999999996</c:v>
                </c:pt>
                <c:pt idx="1">
                  <c:v>0.62609999999999999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11-4854-A7DB-6D5DC0CE0F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316178"/>
        <c:axId val="115650717"/>
      </c:barChart>
      <c:catAx>
        <c:axId val="19031617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115650717"/>
        <c:crosses val="autoZero"/>
        <c:auto val="1"/>
        <c:lblAlgn val="ctr"/>
        <c:lblOffset val="100"/>
        <c:noMultiLvlLbl val="0"/>
      </c:catAx>
      <c:valAx>
        <c:axId val="11565071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9031617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68a3115-4a9e-4ae8-979d-12c35a235c6c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777777777777807E-2"/>
          <c:y val="0.31410825199645098"/>
          <c:w val="0.81893004115226298"/>
          <c:h val="0.476929902395741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'[新建 XLS 工作表.xls]Sheet1'!$I$29</c:f>
              <c:strCache>
                <c:ptCount val="1"/>
                <c:pt idx="0">
                  <c:v>千兆小区建成量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F1-48EB-BD2B-6136046165F5}"/>
              </c:ext>
            </c:extLst>
          </c:dPt>
          <c:dLbls>
            <c:dLbl>
              <c:idx val="0"/>
              <c:layout>
                <c:manualLayout>
                  <c:x val="0"/>
                  <c:y val="8.8731144631765693E-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defRPr>
                    </a:pPr>
                    <a:r>
                      <a:rPr lang="en-US" altLang="zh-CN"/>
                      <a:t>2403</a:t>
                    </a:r>
                    <a:r>
                      <a:rPr altLang="en-US"/>
                      <a:t>个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 defTabSz="914400">
                    <a:defRPr lang="zh-CN"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5349794238683"/>
                      <c:h val="0.2191659272404609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71F1-48EB-BD2B-6136046165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'[新建 XLS 工作表.xls]Sheet1'!$J$28</c:f>
              <c:strCache>
                <c:ptCount val="1"/>
                <c:pt idx="0">
                  <c:v>千兆小区建成量</c:v>
                </c:pt>
              </c:strCache>
            </c:strRef>
          </c:cat>
          <c:val>
            <c:numRef>
              <c:f>'[新建 XLS 工作表.xls]Sheet1'!$J$29</c:f>
              <c:numCache>
                <c:formatCode>General</c:formatCode>
                <c:ptCount val="1"/>
                <c:pt idx="0">
                  <c:v>2073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F1-48EB-BD2B-6136046165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7017440"/>
        <c:axId val="609924041"/>
      </c:barChart>
      <c:catAx>
        <c:axId val="470174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609924041"/>
        <c:crosses val="autoZero"/>
        <c:auto val="1"/>
        <c:lblAlgn val="ctr"/>
        <c:lblOffset val="100"/>
        <c:noMultiLvlLbl val="0"/>
      </c:catAx>
      <c:valAx>
        <c:axId val="60992404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017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81c8a33-a757-42ec-aac5-b5deb12fcd33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b="0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'[搬迁机房、跨区PON口清单-20250530.xlsx]Sheet1'!$A$2</c:f>
              <c:strCache>
                <c:ptCount val="1"/>
                <c:pt idx="0">
                  <c:v>情况</c:v>
                </c:pt>
              </c:strCache>
            </c:strRef>
          </c:tx>
          <c:spPr>
            <a:solidFill>
              <a:srgbClr val="BCDAEF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rPr>
                      <a:t>7.</a:t>
                    </a:r>
                    <a:r>
                      <a:rPr lang="en-US" altLang="zh-CN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rPr>
                      <a:t>23</a:t>
                    </a:r>
                    <a:r>
                      <a:rPr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rPr>
                      <a:t>户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661157024793"/>
                      <c:h val="0.275892080069626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3F9C-4370-86EF-54242D9F73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'[搬迁机房、跨区PON口清单-20250530.xlsx]Sheet1'!$B$1</c:f>
              <c:strCache>
                <c:ptCount val="1"/>
                <c:pt idx="0">
                  <c:v>千兆PON口下平均千兆用户</c:v>
                </c:pt>
              </c:strCache>
            </c:strRef>
          </c:cat>
          <c:val>
            <c:numRef>
              <c:f>'[搬迁机房、跨区PON口清单-20250530.xlsx]Sheet1'!$B$2</c:f>
              <c:numCache>
                <c:formatCode>General</c:formatCode>
                <c:ptCount val="1"/>
                <c:pt idx="0">
                  <c:v>7.32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9C-4370-86EF-54242D9F73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439522661"/>
        <c:axId val="470875582"/>
      </c:barChart>
      <c:catAx>
        <c:axId val="43952266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470875582"/>
        <c:crosses val="autoZero"/>
        <c:auto val="1"/>
        <c:lblAlgn val="ctr"/>
        <c:lblOffset val="100"/>
        <c:noMultiLvlLbl val="0"/>
      </c:catAx>
      <c:valAx>
        <c:axId val="47087558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952266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3385a5d-d3f2-46a4-8d4b-2a3de5ad54b8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(正文)" charset="0"/>
                <a:ea typeface="微软雅黑 (正文)" charset="0"/>
                <a:cs typeface="微软雅黑 (正文)" charset="0"/>
                <a:sym typeface="微软雅黑 (正文)" charset="0"/>
              </a:defRPr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 (正文)" charset="0"/>
                <a:sym typeface="微软雅黑 (正文)" charset="0"/>
              </a:rPr>
              <a:t>全省</a:t>
            </a:r>
            <a:r>
              <a:rPr lang="zh-CN" altLang="en-US" sz="1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 (正文)" charset="0"/>
                <a:sym typeface="微软雅黑 (正文)" charset="0"/>
              </a:rPr>
              <a:t>前三</a:t>
            </a:r>
            <a:endParaRPr lang="en-US" altLang="zh-CN" sz="1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 (正文)" charset="0"/>
              <a:sym typeface="微软雅黑 (正文)" charset="0"/>
            </a:endParaRPr>
          </a:p>
        </c:rich>
      </c:tx>
      <c:layout>
        <c:manualLayout>
          <c:xMode val="edge"/>
          <c:yMode val="edge"/>
          <c:x val="0.30635491606714599"/>
          <c:y val="3.6008230452675198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 (正文)" charset="0"/>
              <a:ea typeface="微软雅黑 (正文)" charset="0"/>
              <a:cs typeface="微软雅黑 (正文)" charset="0"/>
              <a:sym typeface="微软雅黑 (正文)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9136690647481994E-2"/>
          <c:y val="0.46119929453262798"/>
          <c:w val="0.84172661870503596"/>
          <c:h val="0.3573192239858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[画图.xlsx]Sheet2!$K$20</c:f>
              <c:strCache>
                <c:ptCount val="1"/>
                <c:pt idx="0">
                  <c:v>新装宽带竣受比</c:v>
                </c:pt>
              </c:strCache>
            </c:strRef>
          </c:tx>
          <c:spPr>
            <a:solidFill>
              <a:srgbClr val="BCDAE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CDAE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87C-434C-B632-C97FCAB8DF4B}"/>
              </c:ext>
            </c:extLst>
          </c:dPt>
          <c:dLbls>
            <c:dLbl>
              <c:idx val="0"/>
              <c:layout>
                <c:manualLayout>
                  <c:x val="0"/>
                  <c:y val="5.2910052910052898E-3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rPr>
                      <a:t>86.69</a:t>
                    </a:r>
                    <a:r>
                      <a:rPr sz="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rP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35491606714628"/>
                      <c:h val="0.1416813639035859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387C-434C-B632-C97FCAB8DF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[画图.xlsx]Sheet2!$L$19</c:f>
              <c:strCache>
                <c:ptCount val="1"/>
                <c:pt idx="0">
                  <c:v>新装宽带竣受比</c:v>
                </c:pt>
              </c:strCache>
            </c:strRef>
          </c:cat>
          <c:val>
            <c:numRef>
              <c:f>[画图.xlsx]Sheet2!$L$20</c:f>
              <c:numCache>
                <c:formatCode>0.00%</c:formatCode>
                <c:ptCount val="1"/>
                <c:pt idx="0">
                  <c:v>0.85819999999999996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7C-434C-B632-C97FCAB8DF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83015898"/>
        <c:axId val="941331550"/>
      </c:barChart>
      <c:catAx>
        <c:axId val="88301589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941331550"/>
        <c:crosses val="autoZero"/>
        <c:auto val="1"/>
        <c:lblAlgn val="ctr"/>
        <c:lblOffset val="100"/>
        <c:noMultiLvlLbl val="0"/>
      </c:catAx>
      <c:valAx>
        <c:axId val="94133155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88301589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335e7cf-16be-47c2-89e3-665c78375410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微软雅黑 (正文)" charset="0"/>
          <a:ea typeface="微软雅黑 (正文)" charset="0"/>
          <a:cs typeface="微软雅黑 (正文)" charset="0"/>
          <a:sym typeface="微软雅黑 (正文)" charset="0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全省</a:t>
            </a:r>
            <a:r>
              <a:rPr lang="zh-CN" altLang="en-US" sz="1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第一</a:t>
            </a:r>
            <a:endParaRPr lang="en-US" altLang="zh-CN" sz="1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8.1966850059636998E-2"/>
          <c:y val="0.16783937002132701"/>
          <c:w val="0.82328468515782405"/>
          <c:h val="0.584098815564938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FCBE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CDAE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96C-4EED-A30C-E01FED11BFA9}"/>
              </c:ext>
            </c:extLst>
          </c:dPt>
          <c:dLbls>
            <c:dLbl>
              <c:idx val="0"/>
              <c:layout>
                <c:manualLayout>
                  <c:x val="4.8215804322295896E-3"/>
                  <c:y val="3.6802956949794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 defTabSz="914400">
                      <a:defRPr lang="zh-CN" sz="10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100%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 defTabSz="914400">
                    <a:defRPr lang="zh-CN" sz="1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376481828909897"/>
                      <c:h val="0.17539229941935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D96C-4EED-A30C-E01FED11BF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售中回访满意度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6C-4EED-A30C-E01FED11BF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63683400"/>
        <c:axId val="563688648"/>
      </c:barChart>
      <c:catAx>
        <c:axId val="563683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endParaRPr lang="zh-CN"/>
          </a:p>
        </c:txPr>
        <c:crossAx val="563688648"/>
        <c:crosses val="autoZero"/>
        <c:auto val="1"/>
        <c:lblAlgn val="ctr"/>
        <c:lblOffset val="100"/>
        <c:noMultiLvlLbl val="0"/>
      </c:catAx>
      <c:valAx>
        <c:axId val="56368864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63683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8c526ce-46ae-4324-97b9-8b7ef0eb3f37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620531622364798E-2"/>
          <c:y val="0.37933059307105099"/>
          <c:w val="0.89871677360220004"/>
          <c:h val="0.30475631238989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[画图.xlsx]Sheet2!$I$14</c:f>
              <c:strCache>
                <c:ptCount val="1"/>
                <c:pt idx="0">
                  <c:v>内网优良率</c:v>
                </c:pt>
              </c:strCache>
            </c:strRef>
          </c:tx>
          <c:spPr>
            <a:solidFill>
              <a:srgbClr val="FCBE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1246562786434503E-3"/>
                  <c:y val="7.5879086983343599E-2"/>
                </c:manualLayout>
              </c:layout>
              <c:tx>
                <c:rich>
                  <a:bodyPr/>
                  <a:lstStyle/>
                  <a:p>
                    <a:r>
                      <a:t>1.</a:t>
                    </a:r>
                    <a:r>
                      <a:rPr lang="en-US" altLang="zh-CN"/>
                      <a:t>69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5096241979835"/>
                      <c:h val="0.303516347933374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6A5B-457E-92AD-A7B48185B5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[画图.xlsx]Sheet2!$J$13</c:f>
              <c:strCache>
                <c:ptCount val="1"/>
                <c:pt idx="0">
                  <c:v>售后专线不可用时长</c:v>
                </c:pt>
              </c:strCache>
            </c:strRef>
          </c:cat>
          <c:val>
            <c:numRef>
              <c:f>[画图.xlsx]Sheet2!$J$14</c:f>
              <c:numCache>
                <c:formatCode>General</c:formatCode>
                <c:ptCount val="1"/>
                <c:pt idx="0">
                  <c:v>1.81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5B-457E-92AD-A7B48185B5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16"/>
        <c:axId val="388261494"/>
        <c:axId val="837233735"/>
      </c:barChart>
      <c:catAx>
        <c:axId val="38826149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837233735"/>
        <c:crosses val="autoZero"/>
        <c:auto val="1"/>
        <c:lblAlgn val="ctr"/>
        <c:lblOffset val="100"/>
        <c:noMultiLvlLbl val="0"/>
      </c:catAx>
      <c:valAx>
        <c:axId val="837233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826149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2901b1a-7f50-4d59-bb6c-06ed0cf590b3}"/>
      </c:ext>
    </c:extLst>
  </c:chart>
  <c:spPr>
    <a:noFill/>
    <a:ln w="9525" cap="flat" cmpd="sng" algn="ctr">
      <a:noFill/>
      <a:round/>
    </a:ln>
    <a:effectLst/>
  </c:spPr>
  <c:txPr>
    <a:bodyPr anchor="t" anchorCtr="0"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490480507706301E-2"/>
          <c:y val="0.16666666666666699"/>
          <c:w val="0.89845874886672705"/>
          <c:h val="0.4924924924924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[画图.xlsx]Sheet2!$I$14</c:f>
              <c:strCache>
                <c:ptCount val="1"/>
                <c:pt idx="0">
                  <c:v>内网优良率</c:v>
                </c:pt>
              </c:strCache>
            </c:strRef>
          </c:tx>
          <c:spPr>
            <a:solidFill>
              <a:srgbClr val="FCBE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3149946062567401E-3"/>
                  <c:y val="7.2314049586776896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/>
                      <a:t>73.97</a:t>
                    </a:r>
                    <a: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704782452355298"/>
                      <c:h val="0.28873966942148799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F6E3-464D-BA5D-91D481F2D2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[画图.xlsx]Sheet2!$J$13</c:f>
              <c:strCache>
                <c:ptCount val="1"/>
                <c:pt idx="0">
                  <c:v>装维营销业务完成率</c:v>
                </c:pt>
              </c:strCache>
            </c:strRef>
          </c:cat>
          <c:val>
            <c:numRef>
              <c:f>[画图.xlsx]Sheet2!$J$14</c:f>
              <c:numCache>
                <c:formatCode>0.00%</c:formatCode>
                <c:ptCount val="1"/>
                <c:pt idx="0">
                  <c:v>0.62280000000000002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E3-464D-BA5D-91D481F2D2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16"/>
        <c:axId val="388261494"/>
        <c:axId val="837233735"/>
      </c:barChart>
      <c:catAx>
        <c:axId val="38826149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837233735"/>
        <c:crosses val="autoZero"/>
        <c:auto val="1"/>
        <c:lblAlgn val="ctr"/>
        <c:lblOffset val="100"/>
        <c:noMultiLvlLbl val="0"/>
      </c:catAx>
      <c:valAx>
        <c:axId val="83723373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38826149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98ae941-18e6-465c-b23b-4cc4d1e1e07d}"/>
      </c:ext>
    </c:extLst>
  </c:chart>
  <c:spPr>
    <a:noFill/>
    <a:ln w="9525" cap="flat" cmpd="sng" algn="ctr">
      <a:noFill/>
      <a:round/>
    </a:ln>
    <a:effectLst/>
  </c:spPr>
  <c:txPr>
    <a:bodyPr anchor="t" anchorCtr="0"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defTabSz="914400" rtl="0">
              <a:defRPr lang="zh-CN" altLang="en-US" sz="1000" b="0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全省</a:t>
            </a:r>
            <a:r>
              <a:rPr lang="zh-CN" altLang="en-US" sz="1000" b="0" i="0" u="none" strike="noStrike" kern="1200" spc="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</a:t>
            </a:r>
          </a:p>
        </c:rich>
      </c:tx>
      <c:layout>
        <c:manualLayout>
          <c:xMode val="edge"/>
          <c:yMode val="edge"/>
          <c:x val="0.30140582655826598"/>
          <c:y val="6.27798490473750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defTabSz="914400" rtl="0">
            <a:defRPr lang="zh-CN" altLang="en-US" sz="1000" b="0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9.3157181571815698E-2"/>
          <c:y val="0.53944646295089704"/>
          <c:w val="0.81368563685636897"/>
          <c:h val="0.101644377201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Sheet1!$D$2</c:f>
              <c:strCache>
                <c:ptCount val="1"/>
                <c:pt idx="0">
                  <c:v>数据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dirty="0"/>
                      <a:t>0.93%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8619913364488"/>
                      <c:h val="0.27444225721784798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FF57-4754-A134-7AA4A806B8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zh-CN" altLang="en-US" sz="1000" b="0" i="0" u="none" strike="noStrike" kern="1200" baseline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</c:f>
              <c:strCache>
                <c:ptCount val="1"/>
                <c:pt idx="0">
                  <c:v>5G数据质差占比</c:v>
                </c:pt>
              </c:strCache>
            </c:strRef>
          </c:cat>
          <c:val>
            <c:numRef>
              <c:f>Sheet1!$D$3</c:f>
              <c:numCache>
                <c:formatCode>0.00%</c:formatCode>
                <c:ptCount val="1"/>
                <c:pt idx="0">
                  <c:v>1.0200000000000001E-2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57-4754-A134-7AA4A806B8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42818175"/>
        <c:axId val="1149607807"/>
      </c:barChart>
      <c:catAx>
        <c:axId val="1142818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altLang="en-US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/>
          </a:p>
        </c:txPr>
        <c:crossAx val="1149607807"/>
        <c:crosses val="autoZero"/>
        <c:auto val="1"/>
        <c:lblAlgn val="ctr"/>
        <c:lblOffset val="100"/>
        <c:noMultiLvlLbl val="0"/>
      </c:catAx>
      <c:valAx>
        <c:axId val="114960780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142818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b01ade9-aaf3-41d0-8264-be52dd7e08c2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altLang="zh-CN" sz="900" b="1" i="0" u="none" strike="noStrike" kern="1200" cap="none" spc="0" normalizeH="0" baseline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altLang="zh-CN" sz="900" b="1" i="0" u="none" strike="noStrike" kern="1200" cap="none" spc="0" normalizeH="0" baseline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5G载波数量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defRPr kumimoji="0" lang="en-US" altLang="zh-CN" sz="900" b="1" i="0" u="none" strike="noStrike" kern="1200" cap="none" spc="0" normalizeH="0" baseline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[规划期次数据导出_20250919121607.xlsx]Sheet1!$B$1</c:f>
              <c:strCache>
                <c:ptCount val="1"/>
                <c:pt idx="0">
                  <c:v>5G载波数量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CDAE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795-466C-B930-523718BAE1F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795-466C-B930-523718BAE1F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3.15</a:t>
                    </a:r>
                    <a:r>
                      <a:rPr lang="zh-CN" altLang="en-US"/>
                      <a:t>万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795-466C-B930-523718BAE1F7}"/>
                </c:ext>
              </c:extLst>
            </c:dLbl>
            <c:dLbl>
              <c:idx val="1"/>
              <c:layout>
                <c:manualLayout>
                  <c:x val="2.0448613600099201E-3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dirty="0"/>
                      <a:t>3.44</a:t>
                    </a:r>
                    <a:r>
                      <a:rPr lang="zh-CN" altLang="en-US" dirty="0"/>
                      <a:t>万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795-466C-B930-523718BAE1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zh-CN" alt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[规划期次数据导出_20250919121607.xlsx]Sheet1!$A$2:$A$3</c:f>
              <c:strCache>
                <c:ptCount val="2"/>
                <c:pt idx="0">
                  <c:v>年初</c:v>
                </c:pt>
                <c:pt idx="1">
                  <c:v>当前</c:v>
                </c:pt>
              </c:strCache>
            </c:strRef>
          </c:cat>
          <c:val>
            <c:numRef>
              <c:f>[规划期次数据导出_20250919121607.xlsx]Sheet1!$B$2:$B$3</c:f>
              <c:numCache>
                <c:formatCode>General</c:formatCode>
                <c:ptCount val="2"/>
                <c:pt idx="0">
                  <c:v>3.15</c:v>
                </c:pt>
                <c:pt idx="1">
                  <c:v>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795-466C-B930-523718BAE1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32792831"/>
        <c:axId val="1901155247"/>
      </c:barChart>
      <c:catAx>
        <c:axId val="2032792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altLang="en-US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/>
          </a:p>
        </c:txPr>
        <c:crossAx val="1901155247"/>
        <c:crosses val="autoZero"/>
        <c:auto val="1"/>
        <c:lblAlgn val="ctr"/>
        <c:lblOffset val="100"/>
        <c:noMultiLvlLbl val="0"/>
      </c:catAx>
      <c:valAx>
        <c:axId val="19011552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327928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a436c12-2480-4ef5-be2c-f9c15ea84fc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全省</a:t>
            </a:r>
            <a:r>
              <a:rPr lang="zh-CN" altLang="en-US" sz="1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9.8787606645711706E-2"/>
          <c:y val="0.25233132199670899"/>
          <c:w val="0.80242478670857698"/>
          <c:h val="0.45090510148107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[规划期次数据导出_20250919121607.xlsx]Sheet1!$A$6</c:f>
              <c:strCache>
                <c:ptCount val="1"/>
                <c:pt idx="0">
                  <c:v>当前</c:v>
                </c:pt>
              </c:strCache>
            </c:strRef>
          </c:tx>
          <c:spPr>
            <a:solidFill>
              <a:srgbClr val="BCDAEF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2761562640323301"/>
                      <c:h val="0.2737246297312119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99A-4F41-BA9A-A73D6C894E6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[规划期次数据导出_20250919121607.xlsx]Sheet1!$B$5</c:f>
              <c:strCache>
                <c:ptCount val="1"/>
                <c:pt idx="0">
                  <c:v>5G时长驻留比</c:v>
                </c:pt>
              </c:strCache>
            </c:strRef>
          </c:cat>
          <c:val>
            <c:numRef>
              <c:f>[规划期次数据导出_20250919121607.xlsx]Sheet1!$B$6</c:f>
              <c:numCache>
                <c:formatCode>0.00%</c:formatCode>
                <c:ptCount val="1"/>
                <c:pt idx="0">
                  <c:v>0.98960000000000004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9A-4F41-BA9A-A73D6C894E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19656029"/>
        <c:axId val="680629833"/>
      </c:barChart>
      <c:catAx>
        <c:axId val="31965602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  <c:crossAx val="680629833"/>
        <c:crosses val="autoZero"/>
        <c:auto val="1"/>
        <c:lblAlgn val="ctr"/>
        <c:lblOffset val="100"/>
        <c:noMultiLvlLbl val="0"/>
      </c:catAx>
      <c:valAx>
        <c:axId val="68062983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31965602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89c23d0-ac8c-4b71-9fc7-24ae817ef3b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alignAccFollowNode1">
    <dgm:fillClrLst meth="repeat">
      <a:srgbClr val="5B9BD5">
        <a:alpha val="90000"/>
        <a:tint val="40000"/>
      </a:srgbClr>
    </dgm:fillClrLst>
    <dgm:linClrLst meth="repeat">
      <a:srgbClr val="5B9BD5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alignImgPlace1">
    <dgm:fillClrLst meth="repeat">
      <a:srgbClr val="5B9BD5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alignNode1">
    <dgm:fillClrLst meth="repeat">
      <a:srgbClr val="5B9BD5"/>
    </dgm:fillClrLst>
    <dgm:linClrLst meth="repeat">
      <a:srgbClr val="5B9BD5"/>
    </dgm:linClrLst>
    <dgm:effectClrLst/>
    <dgm:txLinClrLst/>
    <dgm:txFillClrLst/>
    <dgm:txEffectClrLst/>
  </dgm:styleLbl>
  <dgm:styleLbl name="asst0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asst1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asst2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asst3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asst4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bgAcc1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bgAccFollowNode1">
    <dgm:fillClrLst meth="repeat">
      <a:srgbClr val="5B9BD5">
        <a:alpha val="90000"/>
        <a:tint val="40000"/>
      </a:srgbClr>
    </dgm:fillClrLst>
    <dgm:linClrLst meth="repeat">
      <a:srgbClr val="5B9BD5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bgImgPlace1">
    <dgm:fillClrLst meth="repeat">
      <a:srgbClr val="5B9BD5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bgShp">
    <dgm:fillClrLst meth="repeat">
      <a:srgbClr val="5B9BD5">
        <a:tint val="40000"/>
      </a:srgb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bgSibTrans2D1">
    <dgm:fillClrLst meth="repeat">
      <a:srgbClr val="5B9BD5">
        <a:tint val="60000"/>
      </a:srgbClr>
    </dgm:fillClrLst>
    <dgm:linClrLst meth="repeat">
      <a:srgbClr val="5B9BD5">
        <a:tint val="60000"/>
      </a:srgbClr>
    </dgm:linClrLst>
    <dgm:effectClrLst/>
    <dgm:txLinClrLst/>
    <dgm:txFillClrLst/>
    <dgm:txEffectClrLst/>
  </dgm:styleLbl>
  <dgm:styleLbl name="callout">
    <dgm:fillClrLst meth="repeat">
      <a:srgbClr val="5B9BD5"/>
    </dgm:fillClrLst>
    <dgm:linClrLst meth="repeat">
      <a:srgbClr val="5B9BD5">
        <a:tint val="50000"/>
      </a:srgbClr>
    </dgm:linClrLst>
    <dgm:effectClrLst/>
    <dgm:txLinClrLst/>
    <dgm:txFillClrLst meth="repeat">
      <a:sysClr val="windowText" lastClr="000000"/>
    </dgm:txFillClrLst>
    <dgm:txEffectClrLst/>
  </dgm:styleLbl>
  <dgm:styleLbl name="conFgAcc1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dkBgShp">
    <dgm:fillClrLst meth="repeat">
      <a:srgbClr val="5B9BD5">
        <a:shade val="80000"/>
      </a:srgbClr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fgAcc0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1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2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3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4">
    <dgm:fillClrLst meth="repeat">
      <a:sysClr val="window" lastClr="FFFFFF">
        <a:alpha val="9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fgAccFollowNode1">
    <dgm:fillClrLst meth="repeat">
      <a:srgbClr val="5B9BD5">
        <a:alpha val="90000"/>
        <a:tint val="40000"/>
      </a:srgbClr>
    </dgm:fillClrLst>
    <dgm:linClrLst meth="repeat">
      <a:srgbClr val="5B9BD5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fgImgPlace1">
    <dgm:fillClrLst meth="repeat">
      <a:srgbClr val="5B9BD5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fgShp">
    <dgm:fillClrLst meth="repeat">
      <a:srgbClr val="5B9BD5">
        <a:tint val="60000"/>
      </a:srgbClr>
    </dgm:fillClrLst>
    <dgm:linClrLst meth="repeat">
      <a:sysClr val="window" lastClr="FFFFFF"/>
    </dgm:linClrLst>
    <dgm:effectClrLst/>
    <dgm:txLinClrLst/>
    <dgm:txFillClrLst meth="repeat">
      <a:sysClr val="windowText" lastClr="000000"/>
    </dgm:txFillClrLst>
    <dgm:txEffectClrLst/>
  </dgm:styleLbl>
  <dgm:styleLbl name="fgSibTrans2D1">
    <dgm:fillClrLst meth="repeat">
      <a:srgbClr val="5B9BD5">
        <a:tint val="60000"/>
      </a:srgbClr>
    </dgm:fillClrLst>
    <dgm:linClrLst meth="repeat">
      <a:srgbClr val="5B9BD5">
        <a:tint val="60000"/>
      </a:srgbClr>
    </dgm:linClrLst>
    <dgm:effectClrLst/>
    <dgm:txLinClrLst/>
    <dgm:txFillClrLst/>
    <dgm:txEffectClrLst/>
  </dgm:styleLbl>
  <dgm:styleLbl name="lnNode1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0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1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2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3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node4">
    <dgm:fillClrLst meth="repeat">
      <a:srgbClr val="5B9BD5"/>
    </dgm:fillClrLst>
    <dgm:linClrLst meth="repeat">
      <a:sysClr val="window" lastClr="FFFFFF"/>
    </dgm:linClrLst>
    <dgm:effectClrLst/>
    <dgm:txLinClrLst/>
    <dgm:txFillClrLst/>
    <dgm:txEffectClrLst/>
  </dgm:styleLbl>
  <dgm:styleLbl name="parChTrans1D1">
    <dgm:fillClrLst meth="repeat">
      <a:srgbClr val="5B9BD5"/>
    </dgm:fillClrLst>
    <dgm:linClrLst meth="repeat">
      <a:srgbClr val="5B9BD5">
        <a:shade val="6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2">
    <dgm:fillClrLst meth="repeat">
      <a:srgbClr val="5B9BD5"/>
    </dgm:fillClrLst>
    <dgm:linClrLst meth="repeat">
      <a:srgbClr val="5B9BD5">
        <a:shade val="6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3">
    <dgm:fillClrLst meth="repeat">
      <a:srgbClr val="5B9BD5"/>
    </dgm:fillClrLst>
    <dgm:linClrLst meth="repeat">
      <a:srgbClr val="5B9BD5">
        <a:shade val="8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4">
    <dgm:fillClrLst meth="repeat">
      <a:srgbClr val="5B9BD5"/>
    </dgm:fillClrLst>
    <dgm:linClrLst meth="repeat">
      <a:srgbClr val="5B9BD5">
        <a:shade val="8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2D1">
    <dgm:fillClrLst meth="repeat">
      <a:srgbClr val="5B9BD5">
        <a:tint val="60000"/>
      </a:srgbClr>
    </dgm:fillClrLst>
    <dgm:linClrLst meth="repeat">
      <a:srgbClr val="5B9BD5">
        <a:tint val="60000"/>
      </a:srgbClr>
    </dgm:linClrLst>
    <dgm:effectClrLst/>
    <dgm:txLinClrLst/>
    <dgm:txFillClrLst meth="repeat">
      <a:sysClr val="window" lastClr="FFFFFF"/>
    </dgm:txFillClrLst>
    <dgm:txEffectClrLst/>
  </dgm:styleLbl>
  <dgm:styleLbl name="parChTrans2D2">
    <dgm:fillClrLst meth="repeat">
      <a:srgbClr val="5B9BD5"/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parChTrans2D3">
    <dgm:fillClrLst meth="repeat">
      <a:srgbClr val="5B9BD5"/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parChTrans2D4">
    <dgm:fillClrLst meth="repeat">
      <a:srgbClr val="5B9BD5"/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revTx">
    <dgm:fillClrLst meth="repeat">
      <a:sysClr val="window" lastClr="FFFFFF">
        <a:alpha val="0"/>
      </a:sysClr>
    </dgm:fillClrLst>
    <dgm:linClrLst meth="repeat">
      <a:sysClr val="windowText" lastClr="000000">
        <a:alpha val="0"/>
      </a:sysClr>
    </dgm:linClrLst>
    <dgm:effectClrLst/>
    <dgm:txLinClrLst/>
    <dgm:txFillClrLst meth="repeat">
      <a:sysClr val="windowText" lastClr="000000"/>
    </dgm:txFillClrLst>
    <dgm:txEffectClrLst/>
  </dgm:styleLbl>
  <dgm:styleLbl name="sibTrans1D1">
    <dgm:fillClrLst meth="repeat">
      <a:srgbClr val="5B9BD5"/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sibTrans2D1">
    <dgm:fillClrLst meth="repeat">
      <a:srgbClr val="5B9BD5">
        <a:tint val="60000"/>
      </a:srgbClr>
    </dgm:fillClrLst>
    <dgm:linClrLst meth="repeat">
      <a:srgbClr val="5B9BD5">
        <a:tint val="60000"/>
      </a:srgbClr>
    </dgm:linClrLst>
    <dgm:effectClrLst/>
    <dgm:txLinClrLst/>
    <dgm:txFillClrLst/>
    <dgm:txEffectClrLst/>
  </dgm:styleLbl>
  <dgm:styleLbl name="solidAlignAcc1">
    <dgm:fillClrLst meth="repeat">
      <a:sysClr val="window" lastClr="FFFFFF"/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solidBgAcc1">
    <dgm:fillClrLst meth="repeat">
      <a:sysClr val="window" lastClr="FFFFFF"/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solidFgAcc1">
    <dgm:fillClrLst meth="repeat">
      <a:sysClr val="window" lastClr="FFFFFF"/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trAlignAcc1">
    <dgm:fillClrLst meth="repeat">
      <a:sysClr val="window" lastClr="FFFFFF">
        <a:alpha val="40000"/>
      </a:sysClr>
    </dgm:fillClrLst>
    <dgm:linClrLst meth="repeat">
      <a:srgbClr val="5B9BD5"/>
    </dgm:linClrLst>
    <dgm:effectClrLst/>
    <dgm:txLinClrLst/>
    <dgm:txFillClrLst meth="repeat">
      <a:sysClr val="windowText" lastClr="000000"/>
    </dgm:txFillClrLst>
    <dgm:txEffectClrLst/>
  </dgm:styleLbl>
  <dgm:styleLbl name="trBgShp">
    <dgm:fillClrLst meth="repeat">
      <a:srgbClr val="5B9BD5">
        <a:tint val="50000"/>
        <a:alpha val="40000"/>
      </a:srgbClr>
    </dgm:fillClrLst>
    <dgm:linClrLst meth="repeat">
      <a:srgbClr val="5B9BD5"/>
    </dgm:linClrLst>
    <dgm:effectClrLst/>
    <dgm:txLinClrLst/>
    <dgm:txFillClrLst meth="repeat">
      <a:sysClr val="window" lastClr="FFFFFF"/>
    </dgm:txFillClrLst>
    <dgm:txEffectClrLst/>
  </dgm:styleLbl>
  <dgm:styleLbl name="vennNode1">
    <dgm:fillClrLst meth="repeat">
      <a:srgbClr val="5B9BD5">
        <a:alpha val="50000"/>
      </a:srgbClr>
    </dgm:fillClrLst>
    <dgm:linClrLst meth="repeat">
      <a:sysClr val="window" lastClr="FFFFFF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BA7CD8-9292-48F5-B3F6-BC9DE89E0F4D}" type="doc">
      <dgm:prSet loTypeId="urn:microsoft.com/office/officeart/2005/8/layout/orgChart1#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D5214A91-4934-4649-B935-BC0FC17E74CF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b="1" dirty="0">
              <a:latin typeface="微软雅黑" panose="020B0503020204020204" charset="-122"/>
              <a:ea typeface="微软雅黑" panose="020B0503020204020204" charset="-122"/>
            </a:rPr>
            <a:t>县市分公司</a:t>
          </a:r>
        </a:p>
      </dgm:t>
    </dgm:pt>
    <dgm:pt modelId="{C61AD519-3914-43B1-92E5-AFC6B3B8AA75}" type="parTrans" cxnId="{230C7E16-FD01-4C25-9BE2-F0096D4DF0FB}">
      <dgm:prSet/>
      <dgm:spPr/>
      <dgm:t>
        <a:bodyPr/>
        <a:lstStyle/>
        <a:p>
          <a:endParaRPr lang="zh-CN" altLang="en-US" sz="1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3DAB708-4FA2-4476-8EAF-AD9582AB38D7}" type="sibTrans" cxnId="{230C7E16-FD01-4C25-9BE2-F0096D4DF0FB}">
      <dgm:prSet/>
      <dgm:spPr/>
      <dgm:t>
        <a:bodyPr/>
        <a:lstStyle/>
        <a:p>
          <a:endParaRPr lang="zh-CN" altLang="en-US" sz="1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1E0B21B9-7AB7-4DF8-9D25-60BD35FD2124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b="1" dirty="0">
              <a:latin typeface="微软雅黑" panose="020B0503020204020204" charset="-122"/>
              <a:ea typeface="微软雅黑" panose="020B0503020204020204" charset="-122"/>
            </a:rPr>
            <a:t>综合部</a:t>
          </a:r>
        </a:p>
      </dgm:t>
    </dgm:pt>
    <dgm:pt modelId="{F0148539-5E83-4605-9843-B0D4BD21CB04}" type="parTrans" cxnId="{5340D8DD-0711-4342-9BEF-75191DFA6F96}">
      <dgm:prSet/>
      <dgm:spPr/>
      <dgm:t>
        <a:bodyPr/>
        <a:lstStyle/>
        <a:p>
          <a:endParaRPr lang="zh-CN" altLang="en-US" sz="1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3DECA7D-8DAE-438E-905F-ABF1CC1CAB0D}" type="sibTrans" cxnId="{5340D8DD-0711-4342-9BEF-75191DFA6F96}">
      <dgm:prSet/>
      <dgm:spPr/>
      <dgm:t>
        <a:bodyPr/>
        <a:lstStyle/>
        <a:p>
          <a:endParaRPr lang="zh-CN" altLang="en-US" sz="1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D251550-F724-47A1-A39B-84E868580CBF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700" b="1">
              <a:latin typeface="微软雅黑" panose="020B0503020204020204" charset="-122"/>
              <a:ea typeface="微软雅黑" panose="020B0503020204020204" charset="-122"/>
            </a:rPr>
            <a:t>市场经营部</a:t>
          </a:r>
        </a:p>
      </dgm:t>
    </dgm:pt>
    <dgm:pt modelId="{3B38A439-1159-47C1-958A-F334C297E09A}" type="parTrans" cxnId="{04E840B9-D361-4298-ACF4-C1E2EEE3034E}">
      <dgm:prSet/>
      <dgm:spPr/>
    </dgm:pt>
    <dgm:pt modelId="{54160052-20E2-4FA0-A3FA-E61CB945A0FE}" type="sibTrans" cxnId="{04E840B9-D361-4298-ACF4-C1E2EEE3034E}">
      <dgm:prSet/>
      <dgm:spPr/>
    </dgm:pt>
    <dgm:pt modelId="{C6F9DEEA-3119-44E9-A521-20BC5E6B56D3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b="1" dirty="0">
              <a:latin typeface="微软雅黑" panose="020B0503020204020204" charset="-122"/>
              <a:ea typeface="微软雅黑" panose="020B0503020204020204" charset="-122"/>
            </a:rPr>
            <a:t>政企客户部</a:t>
          </a:r>
        </a:p>
      </dgm:t>
    </dgm:pt>
    <dgm:pt modelId="{27C7D069-9D31-45CD-A40D-67DDE31E0064}" type="parTrans" cxnId="{362ACC52-B4EB-4088-B78B-C5F522007474}">
      <dgm:prSet/>
      <dgm:spPr/>
      <dgm:t>
        <a:bodyPr/>
        <a:lstStyle/>
        <a:p>
          <a:endParaRPr lang="zh-CN" altLang="en-US" sz="1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08A1F186-A9A8-4272-BFB1-4C0D4EB3F267}" type="sibTrans" cxnId="{362ACC52-B4EB-4088-B78B-C5F522007474}">
      <dgm:prSet/>
      <dgm:spPr/>
      <dgm:t>
        <a:bodyPr/>
        <a:lstStyle/>
        <a:p>
          <a:endParaRPr lang="zh-CN" altLang="en-US" sz="1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A82649B-C1A9-4A50-A0B8-3A9B622AB3B0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b="1" dirty="0">
              <a:latin typeface="微软雅黑" panose="020B0503020204020204" charset="-122"/>
              <a:ea typeface="微软雅黑" panose="020B0503020204020204" charset="-122"/>
            </a:rPr>
            <a:t>网络部</a:t>
          </a:r>
        </a:p>
      </dgm:t>
    </dgm:pt>
    <dgm:pt modelId="{7FC34362-57A1-4423-A5B3-21F7E07C6DD7}" type="parTrans" cxnId="{9B52C87C-6A70-4E81-8D0C-AE1AF9057FA7}">
      <dgm:prSet/>
      <dgm:spPr/>
      <dgm:t>
        <a:bodyPr/>
        <a:lstStyle/>
        <a:p>
          <a:endParaRPr lang="zh-CN" altLang="en-US" sz="1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3007CBFB-D937-437B-8623-3D8E0804A9B7}" type="sibTrans" cxnId="{9B52C87C-6A70-4E81-8D0C-AE1AF9057FA7}">
      <dgm:prSet/>
      <dgm:spPr/>
      <dgm:t>
        <a:bodyPr/>
        <a:lstStyle/>
        <a:p>
          <a:endParaRPr lang="zh-CN" altLang="en-US" sz="1000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0B50E7CD-E2E3-43B3-B43D-DA0B12A5AF85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700" b="1">
              <a:latin typeface="微软雅黑" panose="020B0503020204020204" charset="-122"/>
              <a:ea typeface="微软雅黑" panose="020B0503020204020204" charset="-122"/>
            </a:rPr>
            <a:t>网格</a:t>
          </a:r>
        </a:p>
      </dgm:t>
    </dgm:pt>
    <dgm:pt modelId="{59DC49A4-D15F-4C93-A51C-A0A29567069E}" type="parTrans" cxnId="{3C704F7D-3500-4F1A-8C6B-9699277F4C68}">
      <dgm:prSet/>
      <dgm:spPr/>
    </dgm:pt>
    <dgm:pt modelId="{93A5A182-A2D0-4666-ACAC-7DBD9CC764EF}" type="sibTrans" cxnId="{3C704F7D-3500-4F1A-8C6B-9699277F4C68}">
      <dgm:prSet/>
      <dgm:spPr/>
    </dgm:pt>
    <dgm:pt modelId="{66B22206-2A3F-430B-A699-38BD8078BB04}" type="pres">
      <dgm:prSet presAssocID="{B7BA7CD8-9292-48F5-B3F6-BC9DE89E0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653A571-C426-4E0E-AE33-D4B5DD8FD67C}" type="pres">
      <dgm:prSet presAssocID="{D5214A91-4934-4649-B935-BC0FC17E74CF}" presName="hierRoot1" presStyleCnt="0">
        <dgm:presLayoutVars>
          <dgm:hierBranch val="init"/>
        </dgm:presLayoutVars>
      </dgm:prSet>
      <dgm:spPr/>
    </dgm:pt>
    <dgm:pt modelId="{A35D6104-7710-4D1D-9C6B-2F8FFD88716D}" type="pres">
      <dgm:prSet presAssocID="{D5214A91-4934-4649-B935-BC0FC17E74CF}" presName="rootComposite1" presStyleCnt="0"/>
      <dgm:spPr/>
    </dgm:pt>
    <dgm:pt modelId="{663315E2-0AAB-4BF0-8E56-77909E84CF5C}" type="pres">
      <dgm:prSet presAssocID="{D5214A91-4934-4649-B935-BC0FC17E74CF}" presName="rootText1" presStyleLbl="node0" presStyleIdx="0" presStyleCnt="1" custScaleX="174418">
        <dgm:presLayoutVars>
          <dgm:chPref val="3"/>
        </dgm:presLayoutVars>
      </dgm:prSet>
      <dgm:spPr/>
    </dgm:pt>
    <dgm:pt modelId="{09CC9819-7EDC-4BA9-9D04-58032AFCDCF7}" type="pres">
      <dgm:prSet presAssocID="{D5214A91-4934-4649-B935-BC0FC17E74CF}" presName="rootConnector1" presStyleLbl="node1" presStyleIdx="0" presStyleCnt="0"/>
      <dgm:spPr/>
    </dgm:pt>
    <dgm:pt modelId="{F268471B-B95E-46E0-AAB5-6BC4344957CB}" type="pres">
      <dgm:prSet presAssocID="{D5214A91-4934-4649-B935-BC0FC17E74CF}" presName="hierChild2" presStyleCnt="0"/>
      <dgm:spPr/>
    </dgm:pt>
    <dgm:pt modelId="{65A7A9DE-BCC5-417A-AAD2-90D3B2374869}" type="pres">
      <dgm:prSet presAssocID="{F0148539-5E83-4605-9843-B0D4BD21CB04}" presName="Name37" presStyleLbl="parChTrans1D2" presStyleIdx="0" presStyleCnt="5"/>
      <dgm:spPr/>
    </dgm:pt>
    <dgm:pt modelId="{D22A868D-2322-4BB3-9D18-13D25378DDD7}" type="pres">
      <dgm:prSet presAssocID="{1E0B21B9-7AB7-4DF8-9D25-60BD35FD2124}" presName="hierRoot2" presStyleCnt="0">
        <dgm:presLayoutVars>
          <dgm:hierBranch val="init"/>
        </dgm:presLayoutVars>
      </dgm:prSet>
      <dgm:spPr/>
    </dgm:pt>
    <dgm:pt modelId="{7375FFB4-AFAE-4CEE-8A7D-069D3F1605C8}" type="pres">
      <dgm:prSet presAssocID="{1E0B21B9-7AB7-4DF8-9D25-60BD35FD2124}" presName="rootComposite" presStyleCnt="0"/>
      <dgm:spPr/>
    </dgm:pt>
    <dgm:pt modelId="{3D33826C-0707-47C3-B4D6-1BA62C6169E8}" type="pres">
      <dgm:prSet presAssocID="{1E0B21B9-7AB7-4DF8-9D25-60BD35FD2124}" presName="rootText" presStyleLbl="node2" presStyleIdx="0" presStyleCnt="5">
        <dgm:presLayoutVars>
          <dgm:chPref val="3"/>
        </dgm:presLayoutVars>
      </dgm:prSet>
      <dgm:spPr/>
    </dgm:pt>
    <dgm:pt modelId="{627F000E-1DF8-4C8B-A49A-4F105C51DC29}" type="pres">
      <dgm:prSet presAssocID="{1E0B21B9-7AB7-4DF8-9D25-60BD35FD2124}" presName="rootConnector" presStyleLbl="node2" presStyleIdx="0" presStyleCnt="5"/>
      <dgm:spPr/>
    </dgm:pt>
    <dgm:pt modelId="{5CCCB8B4-86FF-4B75-9F93-8494A2D60513}" type="pres">
      <dgm:prSet presAssocID="{1E0B21B9-7AB7-4DF8-9D25-60BD35FD2124}" presName="hierChild4" presStyleCnt="0"/>
      <dgm:spPr/>
    </dgm:pt>
    <dgm:pt modelId="{832B836C-F0FE-4D9D-BC46-C89FEE39EEDF}" type="pres">
      <dgm:prSet presAssocID="{1E0B21B9-7AB7-4DF8-9D25-60BD35FD2124}" presName="hierChild5" presStyleCnt="0"/>
      <dgm:spPr/>
    </dgm:pt>
    <dgm:pt modelId="{78697447-5D5E-4D2B-9C7C-AA19AB3086AE}" type="pres">
      <dgm:prSet presAssocID="{3B38A439-1159-47C1-958A-F334C297E09A}" presName="Name37" presStyleLbl="parChTrans1D2" presStyleIdx="1" presStyleCnt="5"/>
      <dgm:spPr/>
    </dgm:pt>
    <dgm:pt modelId="{B55E8E64-3949-4800-BB26-6F476FE66E26}" type="pres">
      <dgm:prSet presAssocID="{3D251550-F724-47A1-A39B-84E868580CBF}" presName="hierRoot2" presStyleCnt="0">
        <dgm:presLayoutVars>
          <dgm:hierBranch val="init"/>
        </dgm:presLayoutVars>
      </dgm:prSet>
      <dgm:spPr/>
    </dgm:pt>
    <dgm:pt modelId="{5BD0AD9E-9E68-449B-B97F-DBA98FBAB2D1}" type="pres">
      <dgm:prSet presAssocID="{3D251550-F724-47A1-A39B-84E868580CBF}" presName="rootComposite" presStyleCnt="0"/>
      <dgm:spPr/>
    </dgm:pt>
    <dgm:pt modelId="{D72E1F77-82BA-4F1F-89DD-2B1AC1894953}" type="pres">
      <dgm:prSet presAssocID="{3D251550-F724-47A1-A39B-84E868580CBF}" presName="rootText" presStyleLbl="node2" presStyleIdx="1" presStyleCnt="5">
        <dgm:presLayoutVars>
          <dgm:chPref val="3"/>
        </dgm:presLayoutVars>
      </dgm:prSet>
      <dgm:spPr/>
    </dgm:pt>
    <dgm:pt modelId="{90CB7A5A-2AC1-4BA3-A72D-3AB3CF91867B}" type="pres">
      <dgm:prSet presAssocID="{3D251550-F724-47A1-A39B-84E868580CBF}" presName="rootConnector" presStyleLbl="node2" presStyleIdx="1" presStyleCnt="5"/>
      <dgm:spPr/>
    </dgm:pt>
    <dgm:pt modelId="{15BB254A-5E34-4804-B650-ABCCA33B823E}" type="pres">
      <dgm:prSet presAssocID="{3D251550-F724-47A1-A39B-84E868580CBF}" presName="hierChild4" presStyleCnt="0"/>
      <dgm:spPr/>
    </dgm:pt>
    <dgm:pt modelId="{4939671B-8013-4731-9C44-0A5BAF8FFEAD}" type="pres">
      <dgm:prSet presAssocID="{3D251550-F724-47A1-A39B-84E868580CBF}" presName="hierChild5" presStyleCnt="0"/>
      <dgm:spPr/>
    </dgm:pt>
    <dgm:pt modelId="{FBBE8090-DAB5-4928-B162-CE87D3048E3F}" type="pres">
      <dgm:prSet presAssocID="{27C7D069-9D31-45CD-A40D-67DDE31E0064}" presName="Name37" presStyleLbl="parChTrans1D2" presStyleIdx="2" presStyleCnt="5"/>
      <dgm:spPr/>
    </dgm:pt>
    <dgm:pt modelId="{BFED756E-62E8-41CE-9B28-34796CCB03F6}" type="pres">
      <dgm:prSet presAssocID="{C6F9DEEA-3119-44E9-A521-20BC5E6B56D3}" presName="hierRoot2" presStyleCnt="0">
        <dgm:presLayoutVars>
          <dgm:hierBranch val="init"/>
        </dgm:presLayoutVars>
      </dgm:prSet>
      <dgm:spPr/>
    </dgm:pt>
    <dgm:pt modelId="{1C881145-C4F3-4012-9E40-392A04C4F5BA}" type="pres">
      <dgm:prSet presAssocID="{C6F9DEEA-3119-44E9-A521-20BC5E6B56D3}" presName="rootComposite" presStyleCnt="0"/>
      <dgm:spPr/>
    </dgm:pt>
    <dgm:pt modelId="{D5D9119B-FAE2-416E-988F-E834D0B924ED}" type="pres">
      <dgm:prSet presAssocID="{C6F9DEEA-3119-44E9-A521-20BC5E6B56D3}" presName="rootText" presStyleLbl="node2" presStyleIdx="2" presStyleCnt="5">
        <dgm:presLayoutVars>
          <dgm:chPref val="3"/>
        </dgm:presLayoutVars>
      </dgm:prSet>
      <dgm:spPr/>
    </dgm:pt>
    <dgm:pt modelId="{E471A311-82C0-48F6-94E3-D5DEB005C3BC}" type="pres">
      <dgm:prSet presAssocID="{C6F9DEEA-3119-44E9-A521-20BC5E6B56D3}" presName="rootConnector" presStyleLbl="node2" presStyleIdx="2" presStyleCnt="5"/>
      <dgm:spPr/>
    </dgm:pt>
    <dgm:pt modelId="{AA31620F-FFC5-429E-B9F2-6809B4A0BEC3}" type="pres">
      <dgm:prSet presAssocID="{C6F9DEEA-3119-44E9-A521-20BC5E6B56D3}" presName="hierChild4" presStyleCnt="0"/>
      <dgm:spPr/>
    </dgm:pt>
    <dgm:pt modelId="{5A4FEE62-1193-4351-A43E-1F52CAD815C4}" type="pres">
      <dgm:prSet presAssocID="{C6F9DEEA-3119-44E9-A521-20BC5E6B56D3}" presName="hierChild5" presStyleCnt="0"/>
      <dgm:spPr/>
    </dgm:pt>
    <dgm:pt modelId="{6EC23B43-3AE5-4E86-BEDD-1A8F495894B9}" type="pres">
      <dgm:prSet presAssocID="{7FC34362-57A1-4423-A5B3-21F7E07C6DD7}" presName="Name37" presStyleLbl="parChTrans1D2" presStyleIdx="3" presStyleCnt="5"/>
      <dgm:spPr/>
    </dgm:pt>
    <dgm:pt modelId="{E221AEDF-BD3E-4ADC-942B-028624774873}" type="pres">
      <dgm:prSet presAssocID="{AA82649B-C1A9-4A50-A0B8-3A9B622AB3B0}" presName="hierRoot2" presStyleCnt="0">
        <dgm:presLayoutVars>
          <dgm:hierBranch val="init"/>
        </dgm:presLayoutVars>
      </dgm:prSet>
      <dgm:spPr/>
    </dgm:pt>
    <dgm:pt modelId="{48E01BE4-48C3-453B-9081-0879DBF2F1C0}" type="pres">
      <dgm:prSet presAssocID="{AA82649B-C1A9-4A50-A0B8-3A9B622AB3B0}" presName="rootComposite" presStyleCnt="0"/>
      <dgm:spPr/>
    </dgm:pt>
    <dgm:pt modelId="{66D96FC5-D2D8-43BB-9676-4293643509BC}" type="pres">
      <dgm:prSet presAssocID="{AA82649B-C1A9-4A50-A0B8-3A9B622AB3B0}" presName="rootText" presStyleLbl="node2" presStyleIdx="3" presStyleCnt="5">
        <dgm:presLayoutVars>
          <dgm:chPref val="3"/>
        </dgm:presLayoutVars>
      </dgm:prSet>
      <dgm:spPr/>
    </dgm:pt>
    <dgm:pt modelId="{B1CCE85B-13AD-4D0E-98B7-2EC1CEFD6886}" type="pres">
      <dgm:prSet presAssocID="{AA82649B-C1A9-4A50-A0B8-3A9B622AB3B0}" presName="rootConnector" presStyleLbl="node2" presStyleIdx="3" presStyleCnt="5"/>
      <dgm:spPr/>
    </dgm:pt>
    <dgm:pt modelId="{245F8F76-F4E6-4E5A-87B6-3FCC3AB438B2}" type="pres">
      <dgm:prSet presAssocID="{AA82649B-C1A9-4A50-A0B8-3A9B622AB3B0}" presName="hierChild4" presStyleCnt="0"/>
      <dgm:spPr/>
    </dgm:pt>
    <dgm:pt modelId="{F15788DE-4363-4CD1-9163-481E9D75A431}" type="pres">
      <dgm:prSet presAssocID="{AA82649B-C1A9-4A50-A0B8-3A9B622AB3B0}" presName="hierChild5" presStyleCnt="0"/>
      <dgm:spPr/>
    </dgm:pt>
    <dgm:pt modelId="{C6DC1339-D045-4B26-9F01-EDE40C43D018}" type="pres">
      <dgm:prSet presAssocID="{59DC49A4-D15F-4C93-A51C-A0A29567069E}" presName="Name37" presStyleLbl="parChTrans1D2" presStyleIdx="4" presStyleCnt="5"/>
      <dgm:spPr/>
    </dgm:pt>
    <dgm:pt modelId="{DDC1FFD1-0611-467C-8BE0-675CC5461D20}" type="pres">
      <dgm:prSet presAssocID="{0B50E7CD-E2E3-43B3-B43D-DA0B12A5AF85}" presName="hierRoot2" presStyleCnt="0">
        <dgm:presLayoutVars>
          <dgm:hierBranch val="init"/>
        </dgm:presLayoutVars>
      </dgm:prSet>
      <dgm:spPr/>
    </dgm:pt>
    <dgm:pt modelId="{F4F8E47D-E8C9-4402-8A19-023255ABA320}" type="pres">
      <dgm:prSet presAssocID="{0B50E7CD-E2E3-43B3-B43D-DA0B12A5AF85}" presName="rootComposite" presStyleCnt="0"/>
      <dgm:spPr/>
    </dgm:pt>
    <dgm:pt modelId="{6EB8B9C6-0DF6-4A48-A20C-2209A28817C4}" type="pres">
      <dgm:prSet presAssocID="{0B50E7CD-E2E3-43B3-B43D-DA0B12A5AF85}" presName="rootText" presStyleLbl="node2" presStyleIdx="4" presStyleCnt="5">
        <dgm:presLayoutVars>
          <dgm:chPref val="3"/>
        </dgm:presLayoutVars>
      </dgm:prSet>
      <dgm:spPr/>
    </dgm:pt>
    <dgm:pt modelId="{C4F03FCC-6843-48CD-8CF2-C426C3ED5053}" type="pres">
      <dgm:prSet presAssocID="{0B50E7CD-E2E3-43B3-B43D-DA0B12A5AF85}" presName="rootConnector" presStyleLbl="node2" presStyleIdx="4" presStyleCnt="5"/>
      <dgm:spPr/>
    </dgm:pt>
    <dgm:pt modelId="{08C36318-138B-4BDD-AEA5-91F880B33067}" type="pres">
      <dgm:prSet presAssocID="{0B50E7CD-E2E3-43B3-B43D-DA0B12A5AF85}" presName="hierChild4" presStyleCnt="0"/>
      <dgm:spPr/>
    </dgm:pt>
    <dgm:pt modelId="{B62C2CC4-A85A-47ED-9CCC-5984ECA42DF3}" type="pres">
      <dgm:prSet presAssocID="{0B50E7CD-E2E3-43B3-B43D-DA0B12A5AF85}" presName="hierChild5" presStyleCnt="0"/>
      <dgm:spPr/>
    </dgm:pt>
    <dgm:pt modelId="{A6402771-0344-4903-9B83-5199CEB05561}" type="pres">
      <dgm:prSet presAssocID="{D5214A91-4934-4649-B935-BC0FC17E74CF}" presName="hierChild3" presStyleCnt="0"/>
      <dgm:spPr/>
    </dgm:pt>
  </dgm:ptLst>
  <dgm:cxnLst>
    <dgm:cxn modelId="{E87D9002-27A6-489E-A28A-7C387EB8CCFD}" type="presOf" srcId="{0B50E7CD-E2E3-43B3-B43D-DA0B12A5AF85}" destId="{C4F03FCC-6843-48CD-8CF2-C426C3ED5053}" srcOrd="2" destOrd="0" presId="urn:microsoft.com/office/officeart/2005/8/layout/orgChart1#1"/>
    <dgm:cxn modelId="{230C7E16-FD01-4C25-9BE2-F0096D4DF0FB}" srcId="{B7BA7CD8-9292-48F5-B3F6-BC9DE89E0F4D}" destId="{D5214A91-4934-4649-B935-BC0FC17E74CF}" srcOrd="0" destOrd="0" parTransId="{C61AD519-3914-43B1-92E5-AFC6B3B8AA75}" sibTransId="{63DAB708-4FA2-4476-8EAF-AD9582AB38D7}"/>
    <dgm:cxn modelId="{E42CC316-E2AD-472F-AE2D-A62A0AD4561A}" type="presOf" srcId="{3B38A439-1159-47C1-958A-F334C297E09A}" destId="{78697447-5D5E-4D2B-9C7C-AA19AB3086AE}" srcOrd="0" destOrd="0" presId="urn:microsoft.com/office/officeart/2005/8/layout/orgChart1#1"/>
    <dgm:cxn modelId="{5824A819-75B4-4832-9C1C-4BF99173E5A3}" type="presOf" srcId="{59DC49A4-D15F-4C93-A51C-A0A29567069E}" destId="{C6DC1339-D045-4B26-9F01-EDE40C43D018}" srcOrd="0" destOrd="0" presId="urn:microsoft.com/office/officeart/2005/8/layout/orgChart1#1"/>
    <dgm:cxn modelId="{D5F3BC41-4228-4F11-821C-CDCEC43D3F75}" type="presOf" srcId="{C6F9DEEA-3119-44E9-A521-20BC5E6B56D3}" destId="{E471A311-82C0-48F6-94E3-D5DEB005C3BC}" srcOrd="2" destOrd="0" presId="urn:microsoft.com/office/officeart/2005/8/layout/orgChart1#1"/>
    <dgm:cxn modelId="{74DD6367-DE0B-4DC7-8DFF-42E98E90F0A2}" type="presOf" srcId="{0B50E7CD-E2E3-43B3-B43D-DA0B12A5AF85}" destId="{6EB8B9C6-0DF6-4A48-A20C-2209A28817C4}" srcOrd="1" destOrd="0" presId="urn:microsoft.com/office/officeart/2005/8/layout/orgChart1#1"/>
    <dgm:cxn modelId="{25762C6A-B603-411E-A33C-C7F1A62CA236}" type="presOf" srcId="{1E0B21B9-7AB7-4DF8-9D25-60BD35FD2124}" destId="{7375FFB4-AFAE-4CEE-8A7D-069D3F1605C8}" srcOrd="0" destOrd="0" presId="urn:microsoft.com/office/officeart/2005/8/layout/orgChart1#1"/>
    <dgm:cxn modelId="{7145BC4B-A614-4096-AA7A-1E001A0159D5}" type="presOf" srcId="{0B50E7CD-E2E3-43B3-B43D-DA0B12A5AF85}" destId="{F4F8E47D-E8C9-4402-8A19-023255ABA320}" srcOrd="0" destOrd="0" presId="urn:microsoft.com/office/officeart/2005/8/layout/orgChart1#1"/>
    <dgm:cxn modelId="{91A37F51-02DA-4037-9908-A8253AAEEE94}" type="presOf" srcId="{1E0B21B9-7AB7-4DF8-9D25-60BD35FD2124}" destId="{627F000E-1DF8-4C8B-A49A-4F105C51DC29}" srcOrd="2" destOrd="0" presId="urn:microsoft.com/office/officeart/2005/8/layout/orgChart1#1"/>
    <dgm:cxn modelId="{9D9A0E72-80EA-49C6-82EF-282E0F50AD3A}" type="presOf" srcId="{D5214A91-4934-4649-B935-BC0FC17E74CF}" destId="{09CC9819-7EDC-4BA9-9D04-58032AFCDCF7}" srcOrd="2" destOrd="0" presId="urn:microsoft.com/office/officeart/2005/8/layout/orgChart1#1"/>
    <dgm:cxn modelId="{362ACC52-B4EB-4088-B78B-C5F522007474}" srcId="{D5214A91-4934-4649-B935-BC0FC17E74CF}" destId="{C6F9DEEA-3119-44E9-A521-20BC5E6B56D3}" srcOrd="2" destOrd="0" parTransId="{27C7D069-9D31-45CD-A40D-67DDE31E0064}" sibTransId="{08A1F186-A9A8-4272-BFB1-4C0D4EB3F267}"/>
    <dgm:cxn modelId="{B1353358-73AD-4A3E-BD48-623AF848DBA1}" type="presOf" srcId="{D5214A91-4934-4649-B935-BC0FC17E74CF}" destId="{A35D6104-7710-4D1D-9C6B-2F8FFD88716D}" srcOrd="0" destOrd="0" presId="urn:microsoft.com/office/officeart/2005/8/layout/orgChart1#1"/>
    <dgm:cxn modelId="{897D4A58-60C0-4248-B50D-9A36CC4050D0}" type="presOf" srcId="{C6F9DEEA-3119-44E9-A521-20BC5E6B56D3}" destId="{1C881145-C4F3-4012-9E40-392A04C4F5BA}" srcOrd="0" destOrd="0" presId="urn:microsoft.com/office/officeart/2005/8/layout/orgChart1#1"/>
    <dgm:cxn modelId="{27927058-B9C4-4D86-A560-80482FCC2BEC}" type="presOf" srcId="{27C7D069-9D31-45CD-A40D-67DDE31E0064}" destId="{FBBE8090-DAB5-4928-B162-CE87D3048E3F}" srcOrd="0" destOrd="0" presId="urn:microsoft.com/office/officeart/2005/8/layout/orgChart1#1"/>
    <dgm:cxn modelId="{7462405A-D212-4AB7-B401-CFBBA8E4EAD6}" type="presOf" srcId="{AA82649B-C1A9-4A50-A0B8-3A9B622AB3B0}" destId="{66D96FC5-D2D8-43BB-9676-4293643509BC}" srcOrd="1" destOrd="0" presId="urn:microsoft.com/office/officeart/2005/8/layout/orgChart1#1"/>
    <dgm:cxn modelId="{4D4C665A-302E-4056-8C8A-23C974642B03}" type="presOf" srcId="{AA82649B-C1A9-4A50-A0B8-3A9B622AB3B0}" destId="{B1CCE85B-13AD-4D0E-98B7-2EC1CEFD6886}" srcOrd="2" destOrd="0" presId="urn:microsoft.com/office/officeart/2005/8/layout/orgChart1#1"/>
    <dgm:cxn modelId="{9B52C87C-6A70-4E81-8D0C-AE1AF9057FA7}" srcId="{D5214A91-4934-4649-B935-BC0FC17E74CF}" destId="{AA82649B-C1A9-4A50-A0B8-3A9B622AB3B0}" srcOrd="3" destOrd="0" parTransId="{7FC34362-57A1-4423-A5B3-21F7E07C6DD7}" sibTransId="{3007CBFB-D937-437B-8623-3D8E0804A9B7}"/>
    <dgm:cxn modelId="{3C704F7D-3500-4F1A-8C6B-9699277F4C68}" srcId="{D5214A91-4934-4649-B935-BC0FC17E74CF}" destId="{0B50E7CD-E2E3-43B3-B43D-DA0B12A5AF85}" srcOrd="4" destOrd="0" parTransId="{59DC49A4-D15F-4C93-A51C-A0A29567069E}" sibTransId="{93A5A182-A2D0-4666-ACAC-7DBD9CC764EF}"/>
    <dgm:cxn modelId="{1C193A7E-AFF8-425F-AAAF-7CC1553D624A}" type="presOf" srcId="{C6F9DEEA-3119-44E9-A521-20BC5E6B56D3}" destId="{D5D9119B-FAE2-416E-988F-E834D0B924ED}" srcOrd="1" destOrd="0" presId="urn:microsoft.com/office/officeart/2005/8/layout/orgChart1#1"/>
    <dgm:cxn modelId="{F619FD93-3D2A-4F5A-875B-E950E06CD8D6}" type="presOf" srcId="{3D251550-F724-47A1-A39B-84E868580CBF}" destId="{5BD0AD9E-9E68-449B-B97F-DBA98FBAB2D1}" srcOrd="0" destOrd="0" presId="urn:microsoft.com/office/officeart/2005/8/layout/orgChart1#1"/>
    <dgm:cxn modelId="{1DCB9E95-A649-4FC3-B76F-00D3F11EAF03}" type="presOf" srcId="{3D251550-F724-47A1-A39B-84E868580CBF}" destId="{D72E1F77-82BA-4F1F-89DD-2B1AC1894953}" srcOrd="1" destOrd="0" presId="urn:microsoft.com/office/officeart/2005/8/layout/orgChart1#1"/>
    <dgm:cxn modelId="{637739A0-84E5-4C83-8E12-EFAE36B1525A}" type="presOf" srcId="{AA82649B-C1A9-4A50-A0B8-3A9B622AB3B0}" destId="{48E01BE4-48C3-453B-9081-0879DBF2F1C0}" srcOrd="0" destOrd="0" presId="urn:microsoft.com/office/officeart/2005/8/layout/orgChart1#1"/>
    <dgm:cxn modelId="{49F4ADB4-340A-43D4-B76B-80043AA76C8A}" type="presOf" srcId="{B7BA7CD8-9292-48F5-B3F6-BC9DE89E0F4D}" destId="{66B22206-2A3F-430B-A699-38BD8078BB04}" srcOrd="0" destOrd="0" presId="urn:microsoft.com/office/officeart/2005/8/layout/orgChart1#1"/>
    <dgm:cxn modelId="{04E840B9-D361-4298-ACF4-C1E2EEE3034E}" srcId="{D5214A91-4934-4649-B935-BC0FC17E74CF}" destId="{3D251550-F724-47A1-A39B-84E868580CBF}" srcOrd="1" destOrd="0" parTransId="{3B38A439-1159-47C1-958A-F334C297E09A}" sibTransId="{54160052-20E2-4FA0-A3FA-E61CB945A0FE}"/>
    <dgm:cxn modelId="{A9EE87BD-29C8-4315-A71A-44B82AF012B1}" type="presOf" srcId="{D5214A91-4934-4649-B935-BC0FC17E74CF}" destId="{663315E2-0AAB-4BF0-8E56-77909E84CF5C}" srcOrd="1" destOrd="0" presId="urn:microsoft.com/office/officeart/2005/8/layout/orgChart1#1"/>
    <dgm:cxn modelId="{B0471AC0-26CD-457A-B3A0-7FAC7B9AF473}" type="presOf" srcId="{7FC34362-57A1-4423-A5B3-21F7E07C6DD7}" destId="{6EC23B43-3AE5-4E86-BEDD-1A8F495894B9}" srcOrd="0" destOrd="0" presId="urn:microsoft.com/office/officeart/2005/8/layout/orgChart1#1"/>
    <dgm:cxn modelId="{9D7D58C1-91B8-46B8-A766-0F6D5E6BF797}" type="presOf" srcId="{1E0B21B9-7AB7-4DF8-9D25-60BD35FD2124}" destId="{3D33826C-0707-47C3-B4D6-1BA62C6169E8}" srcOrd="1" destOrd="0" presId="urn:microsoft.com/office/officeart/2005/8/layout/orgChart1#1"/>
    <dgm:cxn modelId="{5340D8DD-0711-4342-9BEF-75191DFA6F96}" srcId="{D5214A91-4934-4649-B935-BC0FC17E74CF}" destId="{1E0B21B9-7AB7-4DF8-9D25-60BD35FD2124}" srcOrd="0" destOrd="0" parTransId="{F0148539-5E83-4605-9843-B0D4BD21CB04}" sibTransId="{93DECA7D-8DAE-438E-905F-ABF1CC1CAB0D}"/>
    <dgm:cxn modelId="{ADB192E8-6D10-4343-878B-8039FF4C27E3}" type="presOf" srcId="{F0148539-5E83-4605-9843-B0D4BD21CB04}" destId="{65A7A9DE-BCC5-417A-AAD2-90D3B2374869}" srcOrd="0" destOrd="0" presId="urn:microsoft.com/office/officeart/2005/8/layout/orgChart1#1"/>
    <dgm:cxn modelId="{8DA338F1-6F74-49EF-ADDC-52B281E3FFF2}" type="presOf" srcId="{3D251550-F724-47A1-A39B-84E868580CBF}" destId="{90CB7A5A-2AC1-4BA3-A72D-3AB3CF91867B}" srcOrd="2" destOrd="0" presId="urn:microsoft.com/office/officeart/2005/8/layout/orgChart1#1"/>
    <dgm:cxn modelId="{4F4284E5-5BE3-471D-8FFA-4A1E786383B1}" type="presParOf" srcId="{66B22206-2A3F-430B-A699-38BD8078BB04}" destId="{A653A571-C426-4E0E-AE33-D4B5DD8FD67C}" srcOrd="0" destOrd="0" presId="urn:microsoft.com/office/officeart/2005/8/layout/orgChart1#1"/>
    <dgm:cxn modelId="{7BEBA31C-1291-408E-B770-1D97665D280C}" type="presParOf" srcId="{A653A571-C426-4E0E-AE33-D4B5DD8FD67C}" destId="{A35D6104-7710-4D1D-9C6B-2F8FFD88716D}" srcOrd="0" destOrd="0" presId="urn:microsoft.com/office/officeart/2005/8/layout/orgChart1#1"/>
    <dgm:cxn modelId="{DCE22B76-9BDA-4361-99BA-728573CD3C96}" type="presParOf" srcId="{A35D6104-7710-4D1D-9C6B-2F8FFD88716D}" destId="{663315E2-0AAB-4BF0-8E56-77909E84CF5C}" srcOrd="0" destOrd="0" presId="urn:microsoft.com/office/officeart/2005/8/layout/orgChart1#1"/>
    <dgm:cxn modelId="{8E85CDA0-573B-45AA-B1DE-CB4BE8B15684}" type="presParOf" srcId="{A35D6104-7710-4D1D-9C6B-2F8FFD88716D}" destId="{09CC9819-7EDC-4BA9-9D04-58032AFCDCF7}" srcOrd="1" destOrd="0" presId="urn:microsoft.com/office/officeart/2005/8/layout/orgChart1#1"/>
    <dgm:cxn modelId="{E611AC21-D93E-4226-BDAC-CD5087AFD32C}" type="presParOf" srcId="{A653A571-C426-4E0E-AE33-D4B5DD8FD67C}" destId="{F268471B-B95E-46E0-AAB5-6BC4344957CB}" srcOrd="1" destOrd="0" presId="urn:microsoft.com/office/officeart/2005/8/layout/orgChart1#1"/>
    <dgm:cxn modelId="{1846B1DC-D195-4743-9C72-7A83FBF715B8}" type="presParOf" srcId="{F268471B-B95E-46E0-AAB5-6BC4344957CB}" destId="{65A7A9DE-BCC5-417A-AAD2-90D3B2374869}" srcOrd="0" destOrd="0" presId="urn:microsoft.com/office/officeart/2005/8/layout/orgChart1#1"/>
    <dgm:cxn modelId="{AB0A4109-D80F-45E8-852B-AAA6D397FDEA}" type="presParOf" srcId="{F268471B-B95E-46E0-AAB5-6BC4344957CB}" destId="{D22A868D-2322-4BB3-9D18-13D25378DDD7}" srcOrd="1" destOrd="0" presId="urn:microsoft.com/office/officeart/2005/8/layout/orgChart1#1"/>
    <dgm:cxn modelId="{89834E1C-033A-4C52-8F04-4B764DEFEE09}" type="presParOf" srcId="{D22A868D-2322-4BB3-9D18-13D25378DDD7}" destId="{7375FFB4-AFAE-4CEE-8A7D-069D3F1605C8}" srcOrd="0" destOrd="0" presId="urn:microsoft.com/office/officeart/2005/8/layout/orgChart1#1"/>
    <dgm:cxn modelId="{37A64AF1-D977-4486-A227-4871A53F484A}" type="presParOf" srcId="{7375FFB4-AFAE-4CEE-8A7D-069D3F1605C8}" destId="{3D33826C-0707-47C3-B4D6-1BA62C6169E8}" srcOrd="0" destOrd="0" presId="urn:microsoft.com/office/officeart/2005/8/layout/orgChart1#1"/>
    <dgm:cxn modelId="{77E4BC6D-3003-45D0-90F1-038FCEB7C9A3}" type="presParOf" srcId="{7375FFB4-AFAE-4CEE-8A7D-069D3F1605C8}" destId="{627F000E-1DF8-4C8B-A49A-4F105C51DC29}" srcOrd="1" destOrd="0" presId="urn:microsoft.com/office/officeart/2005/8/layout/orgChart1#1"/>
    <dgm:cxn modelId="{1DC95DD2-28B3-4723-96DF-2AAFC932A6CB}" type="presParOf" srcId="{D22A868D-2322-4BB3-9D18-13D25378DDD7}" destId="{5CCCB8B4-86FF-4B75-9F93-8494A2D60513}" srcOrd="1" destOrd="0" presId="urn:microsoft.com/office/officeart/2005/8/layout/orgChart1#1"/>
    <dgm:cxn modelId="{9B43B972-EE3A-4D15-9C06-4EC3F0606F4E}" type="presParOf" srcId="{D22A868D-2322-4BB3-9D18-13D25378DDD7}" destId="{832B836C-F0FE-4D9D-BC46-C89FEE39EEDF}" srcOrd="2" destOrd="0" presId="urn:microsoft.com/office/officeart/2005/8/layout/orgChart1#1"/>
    <dgm:cxn modelId="{ADFB797E-707C-4588-8258-24FABAE0E6CB}" type="presParOf" srcId="{F268471B-B95E-46E0-AAB5-6BC4344957CB}" destId="{78697447-5D5E-4D2B-9C7C-AA19AB3086AE}" srcOrd="2" destOrd="0" presId="urn:microsoft.com/office/officeart/2005/8/layout/orgChart1#1"/>
    <dgm:cxn modelId="{6D58A8F7-E55F-4846-8AE6-03958944F2A5}" type="presParOf" srcId="{F268471B-B95E-46E0-AAB5-6BC4344957CB}" destId="{B55E8E64-3949-4800-BB26-6F476FE66E26}" srcOrd="3" destOrd="0" presId="urn:microsoft.com/office/officeart/2005/8/layout/orgChart1#1"/>
    <dgm:cxn modelId="{C47C79CC-9B7D-4C11-99FF-CC0E3FBAC2FE}" type="presParOf" srcId="{B55E8E64-3949-4800-BB26-6F476FE66E26}" destId="{5BD0AD9E-9E68-449B-B97F-DBA98FBAB2D1}" srcOrd="0" destOrd="0" presId="urn:microsoft.com/office/officeart/2005/8/layout/orgChart1#1"/>
    <dgm:cxn modelId="{8A5B73E8-772D-4314-AD23-216F8EC8AC52}" type="presParOf" srcId="{5BD0AD9E-9E68-449B-B97F-DBA98FBAB2D1}" destId="{D72E1F77-82BA-4F1F-89DD-2B1AC1894953}" srcOrd="0" destOrd="0" presId="urn:microsoft.com/office/officeart/2005/8/layout/orgChart1#1"/>
    <dgm:cxn modelId="{51C7073D-EA6E-4804-9B20-9403A5E1EA49}" type="presParOf" srcId="{5BD0AD9E-9E68-449B-B97F-DBA98FBAB2D1}" destId="{90CB7A5A-2AC1-4BA3-A72D-3AB3CF91867B}" srcOrd="1" destOrd="0" presId="urn:microsoft.com/office/officeart/2005/8/layout/orgChart1#1"/>
    <dgm:cxn modelId="{6A6BADA4-EF80-4C52-93A6-71050DF9D384}" type="presParOf" srcId="{B55E8E64-3949-4800-BB26-6F476FE66E26}" destId="{15BB254A-5E34-4804-B650-ABCCA33B823E}" srcOrd="1" destOrd="0" presId="urn:microsoft.com/office/officeart/2005/8/layout/orgChart1#1"/>
    <dgm:cxn modelId="{0E6D6C06-E446-40E8-8E04-F7A2EEDBC4D5}" type="presParOf" srcId="{B55E8E64-3949-4800-BB26-6F476FE66E26}" destId="{4939671B-8013-4731-9C44-0A5BAF8FFEAD}" srcOrd="2" destOrd="0" presId="urn:microsoft.com/office/officeart/2005/8/layout/orgChart1#1"/>
    <dgm:cxn modelId="{2E981DAC-4BA5-4470-8658-D7617D905E55}" type="presParOf" srcId="{F268471B-B95E-46E0-AAB5-6BC4344957CB}" destId="{FBBE8090-DAB5-4928-B162-CE87D3048E3F}" srcOrd="4" destOrd="0" presId="urn:microsoft.com/office/officeart/2005/8/layout/orgChart1#1"/>
    <dgm:cxn modelId="{BF347BF1-4CCC-404F-905C-F1206FB0C328}" type="presParOf" srcId="{F268471B-B95E-46E0-AAB5-6BC4344957CB}" destId="{BFED756E-62E8-41CE-9B28-34796CCB03F6}" srcOrd="5" destOrd="0" presId="urn:microsoft.com/office/officeart/2005/8/layout/orgChart1#1"/>
    <dgm:cxn modelId="{01E415F5-06E1-4D95-A07A-226E17281162}" type="presParOf" srcId="{BFED756E-62E8-41CE-9B28-34796CCB03F6}" destId="{1C881145-C4F3-4012-9E40-392A04C4F5BA}" srcOrd="0" destOrd="0" presId="urn:microsoft.com/office/officeart/2005/8/layout/orgChart1#1"/>
    <dgm:cxn modelId="{AFEE2ABF-0D5E-4821-9993-7A5285000DA0}" type="presParOf" srcId="{1C881145-C4F3-4012-9E40-392A04C4F5BA}" destId="{D5D9119B-FAE2-416E-988F-E834D0B924ED}" srcOrd="0" destOrd="0" presId="urn:microsoft.com/office/officeart/2005/8/layout/orgChart1#1"/>
    <dgm:cxn modelId="{7CE84E04-1ADF-4A72-A9D7-4CE870BF5D2A}" type="presParOf" srcId="{1C881145-C4F3-4012-9E40-392A04C4F5BA}" destId="{E471A311-82C0-48F6-94E3-D5DEB005C3BC}" srcOrd="1" destOrd="0" presId="urn:microsoft.com/office/officeart/2005/8/layout/orgChart1#1"/>
    <dgm:cxn modelId="{4CA4AB8A-2678-416B-9296-09730F081E96}" type="presParOf" srcId="{BFED756E-62E8-41CE-9B28-34796CCB03F6}" destId="{AA31620F-FFC5-429E-B9F2-6809B4A0BEC3}" srcOrd="1" destOrd="0" presId="urn:microsoft.com/office/officeart/2005/8/layout/orgChart1#1"/>
    <dgm:cxn modelId="{DD46A4A9-8ED4-4317-83C3-5DB913A74441}" type="presParOf" srcId="{BFED756E-62E8-41CE-9B28-34796CCB03F6}" destId="{5A4FEE62-1193-4351-A43E-1F52CAD815C4}" srcOrd="2" destOrd="0" presId="urn:microsoft.com/office/officeart/2005/8/layout/orgChart1#1"/>
    <dgm:cxn modelId="{2360A262-06D9-4903-8560-C94422734469}" type="presParOf" srcId="{F268471B-B95E-46E0-AAB5-6BC4344957CB}" destId="{6EC23B43-3AE5-4E86-BEDD-1A8F495894B9}" srcOrd="6" destOrd="0" presId="urn:microsoft.com/office/officeart/2005/8/layout/orgChart1#1"/>
    <dgm:cxn modelId="{C21D9E33-50DE-469C-9814-E57D7A9804BF}" type="presParOf" srcId="{F268471B-B95E-46E0-AAB5-6BC4344957CB}" destId="{E221AEDF-BD3E-4ADC-942B-028624774873}" srcOrd="7" destOrd="0" presId="urn:microsoft.com/office/officeart/2005/8/layout/orgChart1#1"/>
    <dgm:cxn modelId="{942575A3-3EAA-46DF-BAA5-F933A306F109}" type="presParOf" srcId="{E221AEDF-BD3E-4ADC-942B-028624774873}" destId="{48E01BE4-48C3-453B-9081-0879DBF2F1C0}" srcOrd="0" destOrd="0" presId="urn:microsoft.com/office/officeart/2005/8/layout/orgChart1#1"/>
    <dgm:cxn modelId="{2737DD5F-977F-4285-8199-502FD56C2AD2}" type="presParOf" srcId="{48E01BE4-48C3-453B-9081-0879DBF2F1C0}" destId="{66D96FC5-D2D8-43BB-9676-4293643509BC}" srcOrd="0" destOrd="0" presId="urn:microsoft.com/office/officeart/2005/8/layout/orgChart1#1"/>
    <dgm:cxn modelId="{B05455A2-46BD-4CBD-8DFC-E113FA1D3C66}" type="presParOf" srcId="{48E01BE4-48C3-453B-9081-0879DBF2F1C0}" destId="{B1CCE85B-13AD-4D0E-98B7-2EC1CEFD6886}" srcOrd="1" destOrd="0" presId="urn:microsoft.com/office/officeart/2005/8/layout/orgChart1#1"/>
    <dgm:cxn modelId="{DF14A3AB-0CD4-4BA6-8DDB-7A1643F51962}" type="presParOf" srcId="{E221AEDF-BD3E-4ADC-942B-028624774873}" destId="{245F8F76-F4E6-4E5A-87B6-3FCC3AB438B2}" srcOrd="1" destOrd="0" presId="urn:microsoft.com/office/officeart/2005/8/layout/orgChart1#1"/>
    <dgm:cxn modelId="{A0BADAB7-AAAA-4028-A9D2-D8DB71C867DC}" type="presParOf" srcId="{E221AEDF-BD3E-4ADC-942B-028624774873}" destId="{F15788DE-4363-4CD1-9163-481E9D75A431}" srcOrd="2" destOrd="0" presId="urn:microsoft.com/office/officeart/2005/8/layout/orgChart1#1"/>
    <dgm:cxn modelId="{36B69BE5-297A-444E-943B-1E523E95B74F}" type="presParOf" srcId="{F268471B-B95E-46E0-AAB5-6BC4344957CB}" destId="{C6DC1339-D045-4B26-9F01-EDE40C43D018}" srcOrd="8" destOrd="0" presId="urn:microsoft.com/office/officeart/2005/8/layout/orgChart1#1"/>
    <dgm:cxn modelId="{2D9EDE7C-DC40-48BF-B212-4184C3DA439F}" type="presParOf" srcId="{F268471B-B95E-46E0-AAB5-6BC4344957CB}" destId="{DDC1FFD1-0611-467C-8BE0-675CC5461D20}" srcOrd="9" destOrd="0" presId="urn:microsoft.com/office/officeart/2005/8/layout/orgChart1#1"/>
    <dgm:cxn modelId="{9E2DC080-FEBC-4753-8C2D-DB3E3DBB4AC6}" type="presParOf" srcId="{DDC1FFD1-0611-467C-8BE0-675CC5461D20}" destId="{F4F8E47D-E8C9-4402-8A19-023255ABA320}" srcOrd="0" destOrd="0" presId="urn:microsoft.com/office/officeart/2005/8/layout/orgChart1#1"/>
    <dgm:cxn modelId="{7C38E564-A497-4340-8CE3-59AF4A8DAB5E}" type="presParOf" srcId="{F4F8E47D-E8C9-4402-8A19-023255ABA320}" destId="{6EB8B9C6-0DF6-4A48-A20C-2209A28817C4}" srcOrd="0" destOrd="0" presId="urn:microsoft.com/office/officeart/2005/8/layout/orgChart1#1"/>
    <dgm:cxn modelId="{F0394830-319B-4930-AB4C-6669BCEA3197}" type="presParOf" srcId="{F4F8E47D-E8C9-4402-8A19-023255ABA320}" destId="{C4F03FCC-6843-48CD-8CF2-C426C3ED5053}" srcOrd="1" destOrd="0" presId="urn:microsoft.com/office/officeart/2005/8/layout/orgChart1#1"/>
    <dgm:cxn modelId="{C6E67838-6294-4AC5-AD8C-789E21FB180C}" type="presParOf" srcId="{DDC1FFD1-0611-467C-8BE0-675CC5461D20}" destId="{08C36318-138B-4BDD-AEA5-91F880B33067}" srcOrd="1" destOrd="0" presId="urn:microsoft.com/office/officeart/2005/8/layout/orgChart1#1"/>
    <dgm:cxn modelId="{667FCD49-8D78-42BC-91F9-E215973EA5E9}" type="presParOf" srcId="{DDC1FFD1-0611-467C-8BE0-675CC5461D20}" destId="{B62C2CC4-A85A-47ED-9CCC-5984ECA42DF3}" srcOrd="2" destOrd="0" presId="urn:microsoft.com/office/officeart/2005/8/layout/orgChart1#1"/>
    <dgm:cxn modelId="{133A0972-109A-41D8-A1C0-5BB9440F55B7}" type="presParOf" srcId="{A653A571-C426-4E0E-AE33-D4B5DD8FD67C}" destId="{A6402771-0344-4903-9B83-5199CEB05561}" srcOrd="2" destOrd="0" presId="urn:microsoft.com/office/officeart/2005/8/layout/orgChart1#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C1339-D045-4B26-9F01-EDE40C43D018}">
      <dsp:nvSpPr>
        <dsp:cNvPr id="0" name=""/>
        <dsp:cNvSpPr/>
      </dsp:nvSpPr>
      <dsp:spPr>
        <a:xfrm>
          <a:off x="1310402" y="808946"/>
          <a:ext cx="1085832" cy="94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12"/>
              </a:lnTo>
              <a:lnTo>
                <a:pt x="1085832" y="47112"/>
              </a:lnTo>
              <a:lnTo>
                <a:pt x="1085832" y="94225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C23B43-3AE5-4E86-BEDD-1A8F495894B9}">
      <dsp:nvSpPr>
        <dsp:cNvPr id="0" name=""/>
        <dsp:cNvSpPr/>
      </dsp:nvSpPr>
      <dsp:spPr>
        <a:xfrm>
          <a:off x="1310402" y="808946"/>
          <a:ext cx="542916" cy="94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12"/>
              </a:lnTo>
              <a:lnTo>
                <a:pt x="542916" y="47112"/>
              </a:lnTo>
              <a:lnTo>
                <a:pt x="542916" y="94225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BE8090-DAB5-4928-B162-CE87D3048E3F}">
      <dsp:nvSpPr>
        <dsp:cNvPr id="0" name=""/>
        <dsp:cNvSpPr/>
      </dsp:nvSpPr>
      <dsp:spPr>
        <a:xfrm>
          <a:off x="1264681" y="808946"/>
          <a:ext cx="91440" cy="9422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4225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697447-5D5E-4D2B-9C7C-AA19AB3086AE}">
      <dsp:nvSpPr>
        <dsp:cNvPr id="0" name=""/>
        <dsp:cNvSpPr/>
      </dsp:nvSpPr>
      <dsp:spPr>
        <a:xfrm>
          <a:off x="767485" y="808946"/>
          <a:ext cx="542916" cy="94225"/>
        </a:xfrm>
        <a:custGeom>
          <a:avLst/>
          <a:gdLst/>
          <a:ahLst/>
          <a:cxnLst/>
          <a:rect l="0" t="0" r="0" b="0"/>
          <a:pathLst>
            <a:path>
              <a:moveTo>
                <a:pt x="542916" y="0"/>
              </a:moveTo>
              <a:lnTo>
                <a:pt x="542916" y="47112"/>
              </a:lnTo>
              <a:lnTo>
                <a:pt x="0" y="47112"/>
              </a:lnTo>
              <a:lnTo>
                <a:pt x="0" y="94225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A7A9DE-BCC5-417A-AAD2-90D3B2374869}">
      <dsp:nvSpPr>
        <dsp:cNvPr id="0" name=""/>
        <dsp:cNvSpPr/>
      </dsp:nvSpPr>
      <dsp:spPr>
        <a:xfrm>
          <a:off x="224569" y="808946"/>
          <a:ext cx="1085832" cy="94225"/>
        </a:xfrm>
        <a:custGeom>
          <a:avLst/>
          <a:gdLst/>
          <a:ahLst/>
          <a:cxnLst/>
          <a:rect l="0" t="0" r="0" b="0"/>
          <a:pathLst>
            <a:path>
              <a:moveTo>
                <a:pt x="1085832" y="0"/>
              </a:moveTo>
              <a:lnTo>
                <a:pt x="1085832" y="47112"/>
              </a:lnTo>
              <a:lnTo>
                <a:pt x="0" y="47112"/>
              </a:lnTo>
              <a:lnTo>
                <a:pt x="0" y="94225"/>
              </a:lnTo>
            </a:path>
          </a:pathLst>
        </a:custGeom>
        <a:noFill/>
        <a:ln w="12700" cap="flat" cmpd="sng" algn="ctr">
          <a:solidFill>
            <a:srgbClr val="5B9BD5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3315E2-0AAB-4BF0-8E56-77909E84CF5C}">
      <dsp:nvSpPr>
        <dsp:cNvPr id="0" name=""/>
        <dsp:cNvSpPr/>
      </dsp:nvSpPr>
      <dsp:spPr>
        <a:xfrm>
          <a:off x="919102" y="584601"/>
          <a:ext cx="782598" cy="224345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b="1" kern="1200" dirty="0">
              <a:latin typeface="微软雅黑" panose="020B0503020204020204" charset="-122"/>
              <a:ea typeface="微软雅黑" panose="020B0503020204020204" charset="-122"/>
            </a:rPr>
            <a:t>县市分公司</a:t>
          </a:r>
        </a:p>
      </dsp:txBody>
      <dsp:txXfrm>
        <a:off x="919102" y="584601"/>
        <a:ext cx="782598" cy="224345"/>
      </dsp:txXfrm>
    </dsp:sp>
    <dsp:sp modelId="{3D33826C-0707-47C3-B4D6-1BA62C6169E8}">
      <dsp:nvSpPr>
        <dsp:cNvPr id="0" name=""/>
        <dsp:cNvSpPr/>
      </dsp:nvSpPr>
      <dsp:spPr>
        <a:xfrm>
          <a:off x="223" y="903172"/>
          <a:ext cx="448691" cy="224345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b="1" kern="1200" dirty="0">
              <a:latin typeface="微软雅黑" panose="020B0503020204020204" charset="-122"/>
              <a:ea typeface="微软雅黑" panose="020B0503020204020204" charset="-122"/>
            </a:rPr>
            <a:t>综合部</a:t>
          </a:r>
        </a:p>
      </dsp:txBody>
      <dsp:txXfrm>
        <a:off x="223" y="903172"/>
        <a:ext cx="448691" cy="224345"/>
      </dsp:txXfrm>
    </dsp:sp>
    <dsp:sp modelId="{D72E1F77-82BA-4F1F-89DD-2B1AC1894953}">
      <dsp:nvSpPr>
        <dsp:cNvPr id="0" name=""/>
        <dsp:cNvSpPr/>
      </dsp:nvSpPr>
      <dsp:spPr>
        <a:xfrm>
          <a:off x="543140" y="903172"/>
          <a:ext cx="448691" cy="224345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700" b="1" kern="1200">
              <a:latin typeface="微软雅黑" panose="020B0503020204020204" charset="-122"/>
              <a:ea typeface="微软雅黑" panose="020B0503020204020204" charset="-122"/>
            </a:rPr>
            <a:t>市场经营部</a:t>
          </a:r>
        </a:p>
      </dsp:txBody>
      <dsp:txXfrm>
        <a:off x="543140" y="903172"/>
        <a:ext cx="448691" cy="224345"/>
      </dsp:txXfrm>
    </dsp:sp>
    <dsp:sp modelId="{D5D9119B-FAE2-416E-988F-E834D0B924ED}">
      <dsp:nvSpPr>
        <dsp:cNvPr id="0" name=""/>
        <dsp:cNvSpPr/>
      </dsp:nvSpPr>
      <dsp:spPr>
        <a:xfrm>
          <a:off x="1086056" y="903172"/>
          <a:ext cx="448691" cy="224345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b="1" kern="1200" dirty="0">
              <a:latin typeface="微软雅黑" panose="020B0503020204020204" charset="-122"/>
              <a:ea typeface="微软雅黑" panose="020B0503020204020204" charset="-122"/>
            </a:rPr>
            <a:t>政企客户部</a:t>
          </a:r>
        </a:p>
      </dsp:txBody>
      <dsp:txXfrm>
        <a:off x="1086056" y="903172"/>
        <a:ext cx="448691" cy="224345"/>
      </dsp:txXfrm>
    </dsp:sp>
    <dsp:sp modelId="{66D96FC5-D2D8-43BB-9676-4293643509BC}">
      <dsp:nvSpPr>
        <dsp:cNvPr id="0" name=""/>
        <dsp:cNvSpPr/>
      </dsp:nvSpPr>
      <dsp:spPr>
        <a:xfrm>
          <a:off x="1628972" y="903172"/>
          <a:ext cx="448691" cy="224345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b="1" kern="1200" dirty="0">
              <a:latin typeface="微软雅黑" panose="020B0503020204020204" charset="-122"/>
              <a:ea typeface="微软雅黑" panose="020B0503020204020204" charset="-122"/>
            </a:rPr>
            <a:t>网络部</a:t>
          </a:r>
        </a:p>
      </dsp:txBody>
      <dsp:txXfrm>
        <a:off x="1628972" y="903172"/>
        <a:ext cx="448691" cy="224345"/>
      </dsp:txXfrm>
    </dsp:sp>
    <dsp:sp modelId="{6EB8B9C6-0DF6-4A48-A20C-2209A28817C4}">
      <dsp:nvSpPr>
        <dsp:cNvPr id="0" name=""/>
        <dsp:cNvSpPr/>
      </dsp:nvSpPr>
      <dsp:spPr>
        <a:xfrm>
          <a:off x="2171888" y="903172"/>
          <a:ext cx="448691" cy="224345"/>
        </a:xfrm>
        <a:prstGeom prst="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700" b="1" kern="1200">
              <a:latin typeface="微软雅黑" panose="020B0503020204020204" charset="-122"/>
              <a:ea typeface="微软雅黑" panose="020B0503020204020204" charset="-122"/>
            </a:rPr>
            <a:t>网格</a:t>
          </a:r>
        </a:p>
      </dsp:txBody>
      <dsp:txXfrm>
        <a:off x="2171888" y="903172"/>
        <a:ext cx="448691" cy="224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#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Text" lastClr="000000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1F444-22C8-47E6-BDD1-50FEAA521DBC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4.xml"/><Relationship Id="rId7" Type="http://schemas.openxmlformats.org/officeDocument/2006/relationships/image" Target="../media/image1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"/>
            <a:ext cx="9144000" cy="51444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28650" y="1942251"/>
            <a:ext cx="7886700" cy="629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0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37830" y="3665384"/>
            <a:ext cx="3868340" cy="35010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5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单击此处编辑日期</a:t>
            </a: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6262370" y="96520"/>
            <a:ext cx="2670175" cy="801370"/>
            <a:chOff x="322377" y="128913"/>
            <a:chExt cx="3227035" cy="1067978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0"/>
            <a:ext cx="9144000" cy="4956708"/>
            <a:chOff x="0" y="0"/>
            <a:chExt cx="9144000" cy="660778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585"/>
            <a:stretch>
              <a:fillRect/>
            </a:stretch>
          </p:blipFill>
          <p:spPr>
            <a:xfrm>
              <a:off x="0" y="0"/>
              <a:ext cx="6688672" cy="6564808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52" r="2147"/>
            <a:stretch>
              <a:fillRect/>
            </a:stretch>
          </p:blipFill>
          <p:spPr>
            <a:xfrm>
              <a:off x="2086881" y="0"/>
              <a:ext cx="7057119" cy="6607788"/>
            </a:xfrm>
            <a:prstGeom prst="rect">
              <a:avLst/>
            </a:prstGeom>
          </p:spPr>
        </p:pic>
      </p:grp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44128" y="990055"/>
            <a:ext cx="6055744" cy="341840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单击此处编辑内容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682816"/>
            <a:ext cx="20574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980" y="0"/>
            <a:ext cx="1574165" cy="10420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4405630"/>
            <a:ext cx="997585" cy="606425"/>
          </a:xfrm>
          <a:prstGeom prst="rect">
            <a:avLst/>
          </a:prstGeom>
        </p:spPr>
      </p:pic>
      <p:sp>
        <p:nvSpPr>
          <p:cNvPr id="17" name="Rectangle 7"/>
          <p:cNvSpPr>
            <a:spLocks noChangeArrowheads="1"/>
          </p:cNvSpPr>
          <p:nvPr userDrawn="1"/>
        </p:nvSpPr>
        <p:spPr bwMode="auto">
          <a:xfrm>
            <a:off x="8674894" y="4797958"/>
            <a:ext cx="309562" cy="317500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‹#›</a:t>
            </a:fld>
            <a:endParaRPr lang="en-US" altLang="zh-CN" sz="65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44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85800" y="297311"/>
            <a:ext cx="6115050" cy="458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1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682816"/>
            <a:ext cx="20574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685800" y="1001229"/>
            <a:ext cx="7772400" cy="34288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单击此处编辑内容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980" y="0"/>
            <a:ext cx="1574165" cy="1042035"/>
          </a:xfrm>
          <a:prstGeom prst="rect">
            <a:avLst/>
          </a:prstGeom>
        </p:spPr>
      </p:pic>
      <p:sp>
        <p:nvSpPr>
          <p:cNvPr id="9" name="Rectangle 7"/>
          <p:cNvSpPr>
            <a:spLocks noChangeArrowheads="1"/>
          </p:cNvSpPr>
          <p:nvPr userDrawn="1"/>
        </p:nvSpPr>
        <p:spPr bwMode="auto">
          <a:xfrm>
            <a:off x="8674894" y="4797958"/>
            <a:ext cx="309562" cy="317500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‹#›</a:t>
            </a:fld>
            <a:endParaRPr lang="en-US" altLang="zh-CN" sz="65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" y="0"/>
            <a:ext cx="9130285" cy="5144400"/>
          </a:xfrm>
          <a:prstGeom prst="rect">
            <a:avLst/>
          </a:prstGeom>
        </p:spPr>
      </p:pic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8674894" y="4797958"/>
            <a:ext cx="309562" cy="317500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‹#›</a:t>
            </a:fld>
            <a:endParaRPr lang="en-US" altLang="zh-CN" sz="65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553720" y="1713072"/>
            <a:ext cx="440055" cy="229076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4" name="矩形 3"/>
          <p:cNvSpPr/>
          <p:nvPr userDrawn="1"/>
        </p:nvSpPr>
        <p:spPr>
          <a:xfrm>
            <a:off x="-553720" y="2084071"/>
            <a:ext cx="440055" cy="229076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553720" y="2467928"/>
            <a:ext cx="439420" cy="258604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553720" y="2825592"/>
            <a:ext cx="439420" cy="258604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45735" y="286854"/>
            <a:ext cx="8229600" cy="449749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1184C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8754563" y="4812207"/>
            <a:ext cx="213950" cy="209183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8701268" y="4808841"/>
            <a:ext cx="309562" cy="317500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‹#›</a:t>
            </a:fld>
            <a:endParaRPr lang="en-US" altLang="zh-CN" sz="65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245735" y="798672"/>
            <a:ext cx="8652530" cy="914400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20000"/>
              </a:lnSpc>
              <a:spcBef>
                <a:spcPts val="300"/>
              </a:spcBef>
              <a:buFontTx/>
              <a:buChar char="‒"/>
              <a:defRPr sz="1100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3094074"/>
            <a:ext cx="5443870" cy="2047998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6975575" y="39270"/>
            <a:ext cx="2132566" cy="673428"/>
            <a:chOff x="322377" y="128913"/>
            <a:chExt cx="3227035" cy="1067978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9143524" cy="5173974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 userDrawn="1"/>
        </p:nvCxnSpPr>
        <p:spPr>
          <a:xfrm>
            <a:off x="1998685" y="520021"/>
            <a:ext cx="7145267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0" y="161419"/>
            <a:ext cx="202777" cy="409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7508933" y="78091"/>
            <a:ext cx="1594607" cy="503779"/>
            <a:chOff x="322377" y="128913"/>
            <a:chExt cx="3227035" cy="1067978"/>
          </a:xfrm>
        </p:grpSpPr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89418" y="4804949"/>
            <a:ext cx="1480842" cy="338551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1200"/>
            </a:lvl1pPr>
          </a:lstStyle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Tm="0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553720" y="1713072"/>
            <a:ext cx="440055" cy="229076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45"/>
          </a:p>
        </p:txBody>
      </p:sp>
      <p:sp>
        <p:nvSpPr>
          <p:cNvPr id="3" name="矩形 2"/>
          <p:cNvSpPr/>
          <p:nvPr userDrawn="1"/>
        </p:nvSpPr>
        <p:spPr>
          <a:xfrm>
            <a:off x="-553720" y="2084071"/>
            <a:ext cx="440055" cy="229076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4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553720" y="2467928"/>
            <a:ext cx="439420" cy="258604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79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553720" y="2825592"/>
            <a:ext cx="439420" cy="258604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79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45735" y="286854"/>
            <a:ext cx="8229600" cy="449749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1184C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8701268" y="4808841"/>
            <a:ext cx="309562" cy="317500"/>
          </a:xfrm>
          <a:prstGeom prst="rect">
            <a:avLst/>
          </a:prstGeom>
          <a:noFill/>
          <a:ln>
            <a:noFill/>
          </a:ln>
        </p:spPr>
        <p:txBody>
          <a:bodyPr lIns="58786" tIns="29393" rIns="58786" bIns="29393"/>
          <a:lstStyle/>
          <a:p>
            <a:pPr algn="ctr">
              <a:defRPr/>
            </a:pPr>
            <a:fld id="{083AA7C1-1891-49BD-9179-A0E53E88FB77}" type="slidenum">
              <a:rPr lang="zh-CN" altLang="en-US" sz="675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‹#›</a:t>
            </a:fld>
            <a:endParaRPr lang="en-US" altLang="zh-CN" sz="49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245735" y="798672"/>
            <a:ext cx="8652530" cy="914400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20000"/>
              </a:lnSpc>
              <a:spcBef>
                <a:spcPts val="300"/>
              </a:spcBef>
              <a:buFontTx/>
              <a:buChar char="‒"/>
              <a:defRPr sz="1100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3094074"/>
            <a:ext cx="5443870" cy="2047998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6975575" y="39270"/>
            <a:ext cx="2132566" cy="673428"/>
            <a:chOff x="322377" y="128913"/>
            <a:chExt cx="3227035" cy="1067978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4" name="TextBox 7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8748722" y="4956581"/>
            <a:ext cx="395279" cy="205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68" tIns="34289" rIns="68568" bIns="34289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r" defTabSz="1219200"/>
            <a:fld id="{45FE5F3F-81DA-43CE-8182-548C8A7A20D5}" type="slidenum">
              <a:rPr lang="zh-CN" altLang="en-US" sz="900" b="1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9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8748465" y="4957157"/>
            <a:ext cx="395536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9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9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 userDrawn="1"/>
        </p:nvSpPr>
        <p:spPr bwMode="auto">
          <a:xfrm>
            <a:off x="8748722" y="4956581"/>
            <a:ext cx="395279" cy="205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68" tIns="34289" rIns="68568" bIns="34289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r" defTabSz="1219200"/>
            <a:fld id="{45FE5F3F-81DA-43CE-8182-548C8A7A20D5}" type="slidenum">
              <a:rPr lang="zh-CN" altLang="en-US" sz="900" b="1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9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logo 合集-0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31150" y="83821"/>
            <a:ext cx="1008380" cy="3117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72954" y="1491615"/>
            <a:ext cx="617220" cy="1634490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6975575" y="39270"/>
            <a:ext cx="2132566" cy="673428"/>
            <a:chOff x="322377" y="128913"/>
            <a:chExt cx="3227035" cy="1067978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3094074"/>
            <a:ext cx="5443870" cy="204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553720" y="1713072"/>
            <a:ext cx="440055" cy="229076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45"/>
          </a:p>
        </p:txBody>
      </p:sp>
      <p:sp>
        <p:nvSpPr>
          <p:cNvPr id="4" name="矩形 3"/>
          <p:cNvSpPr/>
          <p:nvPr userDrawn="1"/>
        </p:nvSpPr>
        <p:spPr>
          <a:xfrm>
            <a:off x="-553720" y="2084071"/>
            <a:ext cx="440055" cy="229076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4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553720" y="2467928"/>
            <a:ext cx="439420" cy="258604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79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553720" y="2825592"/>
            <a:ext cx="439420" cy="258604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79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8701268" y="4808841"/>
            <a:ext cx="309562" cy="317500"/>
          </a:xfrm>
          <a:prstGeom prst="rect">
            <a:avLst/>
          </a:prstGeom>
          <a:noFill/>
          <a:ln>
            <a:noFill/>
          </a:ln>
        </p:spPr>
        <p:txBody>
          <a:bodyPr lIns="58786" tIns="29393" rIns="58786" bIns="29393"/>
          <a:lstStyle/>
          <a:p>
            <a:pPr algn="ctr">
              <a:defRPr/>
            </a:pPr>
            <a:fld id="{083AA7C1-1891-49BD-9179-A0E53E88FB77}" type="slidenum">
              <a:rPr lang="zh-CN" altLang="en-US" sz="675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‹#›</a:t>
            </a:fld>
            <a:endParaRPr lang="en-US" altLang="zh-CN" sz="49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975575" y="39270"/>
            <a:ext cx="2132566" cy="673428"/>
            <a:chOff x="322377" y="128913"/>
            <a:chExt cx="3227035" cy="1067978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3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3094074"/>
            <a:ext cx="5443870" cy="2047998"/>
          </a:xfrm>
          <a:prstGeom prst="rect">
            <a:avLst/>
          </a:prstGeom>
        </p:spPr>
      </p:pic>
      <p:sp>
        <p:nvSpPr>
          <p:cNvPr id="7" name="TextBox 7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8748722" y="4956581"/>
            <a:ext cx="395279" cy="205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68" tIns="34289" rIns="68568" bIns="34289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r" defTabSz="1219200"/>
            <a:fld id="{45FE5F3F-81DA-43CE-8182-548C8A7A20D5}" type="slidenum">
              <a:rPr lang="zh-CN" altLang="en-US" sz="900" b="1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9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3690" b="60321"/>
          <a:stretch>
            <a:fillRect/>
          </a:stretch>
        </p:blipFill>
        <p:spPr>
          <a:xfrm>
            <a:off x="0" y="0"/>
            <a:ext cx="3320143" cy="272121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698" t="63676" r="-32" b="43"/>
          <a:stretch>
            <a:fillRect/>
          </a:stretch>
        </p:blipFill>
        <p:spPr>
          <a:xfrm>
            <a:off x="5638801" y="2655322"/>
            <a:ext cx="3505199" cy="2488178"/>
          </a:xfrm>
          <a:prstGeom prst="rect">
            <a:avLst/>
          </a:prstGeom>
        </p:spPr>
      </p:pic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37830" y="3664743"/>
            <a:ext cx="3868340" cy="3500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单击此处编辑日期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975575" y="39270"/>
            <a:ext cx="2132566" cy="673428"/>
            <a:chOff x="322377" y="128913"/>
            <a:chExt cx="3227035" cy="1067978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4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tags" Target="../tags/tag11.xml"/><Relationship Id="rId7" Type="http://schemas.openxmlformats.org/officeDocument/2006/relationships/notesSlide" Target="../notesSlides/notesSlide2.xml"/><Relationship Id="rId12" Type="http://schemas.microsoft.com/office/2007/relationships/diagramDrawing" Target="../diagrams/drawing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7.xml"/><Relationship Id="rId11" Type="http://schemas.openxmlformats.org/officeDocument/2006/relationships/diagramColors" Target="../diagrams/colors1.xml"/><Relationship Id="rId5" Type="http://schemas.openxmlformats.org/officeDocument/2006/relationships/tags" Target="../tags/tag13.xml"/><Relationship Id="rId10" Type="http://schemas.openxmlformats.org/officeDocument/2006/relationships/diagramQuickStyle" Target="../diagrams/quickStyle1.xml"/><Relationship Id="rId4" Type="http://schemas.openxmlformats.org/officeDocument/2006/relationships/tags" Target="../tags/tag12.xml"/><Relationship Id="rId9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tags" Target="../tags/tag31.xml"/><Relationship Id="rId26" Type="http://schemas.openxmlformats.org/officeDocument/2006/relationships/image" Target="../media/image19.png"/><Relationship Id="rId3" Type="http://schemas.openxmlformats.org/officeDocument/2006/relationships/tags" Target="../tags/tag16.xml"/><Relationship Id="rId21" Type="http://schemas.openxmlformats.org/officeDocument/2006/relationships/tags" Target="../tags/tag34.xml"/><Relationship Id="rId34" Type="http://schemas.openxmlformats.org/officeDocument/2006/relationships/image" Target="../media/image27.png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5" Type="http://schemas.openxmlformats.org/officeDocument/2006/relationships/slideLayout" Target="../slideLayouts/slideLayout7.xml"/><Relationship Id="rId33" Type="http://schemas.openxmlformats.org/officeDocument/2006/relationships/image" Target="../media/image26.png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tags" Target="../tags/tag33.xml"/><Relationship Id="rId29" Type="http://schemas.openxmlformats.org/officeDocument/2006/relationships/image" Target="../media/image22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24" Type="http://schemas.openxmlformats.org/officeDocument/2006/relationships/tags" Target="../tags/tag37.xml"/><Relationship Id="rId32" Type="http://schemas.openxmlformats.org/officeDocument/2006/relationships/image" Target="../media/image25.jpeg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23" Type="http://schemas.openxmlformats.org/officeDocument/2006/relationships/tags" Target="../tags/tag36.xml"/><Relationship Id="rId28" Type="http://schemas.openxmlformats.org/officeDocument/2006/relationships/image" Target="../media/image21.jpeg"/><Relationship Id="rId10" Type="http://schemas.openxmlformats.org/officeDocument/2006/relationships/tags" Target="../tags/tag23.xml"/><Relationship Id="rId19" Type="http://schemas.openxmlformats.org/officeDocument/2006/relationships/tags" Target="../tags/tag32.xml"/><Relationship Id="rId31" Type="http://schemas.openxmlformats.org/officeDocument/2006/relationships/image" Target="../media/image24.jpeg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tags" Target="../tags/tag35.xml"/><Relationship Id="rId27" Type="http://schemas.openxmlformats.org/officeDocument/2006/relationships/image" Target="../media/image20.jpeg"/><Relationship Id="rId30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3" Type="http://schemas.openxmlformats.org/officeDocument/2006/relationships/tags" Target="../tags/tag40.xml"/><Relationship Id="rId21" Type="http://schemas.openxmlformats.org/officeDocument/2006/relationships/tags" Target="../tags/tag58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tags" Target="../tags/tag57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notesSlide" Target="../notesSlides/notesSlide3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slideLayout" Target="../slideLayouts/slideLayout7.xml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tags" Target="../tags/tag5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chart" Target="../charts/chart4.xml"/><Relationship Id="rId18" Type="http://schemas.openxmlformats.org/officeDocument/2006/relationships/chart" Target="../charts/chart9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chart" Target="../charts/chart3.xml"/><Relationship Id="rId17" Type="http://schemas.openxmlformats.org/officeDocument/2006/relationships/chart" Target="../charts/chart8.xml"/><Relationship Id="rId2" Type="http://schemas.openxmlformats.org/officeDocument/2006/relationships/tags" Target="../tags/tag61.xml"/><Relationship Id="rId16" Type="http://schemas.openxmlformats.org/officeDocument/2006/relationships/chart" Target="../charts/chart7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chart" Target="../charts/chart2.xml"/><Relationship Id="rId5" Type="http://schemas.openxmlformats.org/officeDocument/2006/relationships/tags" Target="../tags/tag64.xml"/><Relationship Id="rId15" Type="http://schemas.openxmlformats.org/officeDocument/2006/relationships/chart" Target="../charts/chart6.xml"/><Relationship Id="rId10" Type="http://schemas.openxmlformats.org/officeDocument/2006/relationships/chart" Target="../charts/chart1.xml"/><Relationship Id="rId19" Type="http://schemas.openxmlformats.org/officeDocument/2006/relationships/chart" Target="../charts/chart10.xml"/><Relationship Id="rId4" Type="http://schemas.openxmlformats.org/officeDocument/2006/relationships/tags" Target="../tags/tag63.xml"/><Relationship Id="rId9" Type="http://schemas.openxmlformats.org/officeDocument/2006/relationships/notesSlide" Target="../notesSlides/notesSlide4.xml"/><Relationship Id="rId1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70.xml"/><Relationship Id="rId7" Type="http://schemas.openxmlformats.org/officeDocument/2006/relationships/image" Target="../media/image28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1.png"/><Relationship Id="rId4" Type="http://schemas.openxmlformats.org/officeDocument/2006/relationships/tags" Target="../tags/tag71.xml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13" Type="http://schemas.openxmlformats.org/officeDocument/2006/relationships/image" Target="../media/image38.jpeg"/><Relationship Id="rId3" Type="http://schemas.openxmlformats.org/officeDocument/2006/relationships/tags" Target="../tags/tag74.xml"/><Relationship Id="rId7" Type="http://schemas.openxmlformats.org/officeDocument/2006/relationships/image" Target="../media/image32.jpeg"/><Relationship Id="rId12" Type="http://schemas.openxmlformats.org/officeDocument/2006/relationships/image" Target="../media/image37.png"/><Relationship Id="rId2" Type="http://schemas.openxmlformats.org/officeDocument/2006/relationships/tags" Target="../tags/tag73.xml"/><Relationship Id="rId16" Type="http://schemas.openxmlformats.org/officeDocument/2006/relationships/image" Target="../media/image41.png"/><Relationship Id="rId1" Type="http://schemas.openxmlformats.org/officeDocument/2006/relationships/tags" Target="../tags/tag72.xml"/><Relationship Id="rId6" Type="http://schemas.openxmlformats.org/officeDocument/2006/relationships/notesSlide" Target="../notesSlides/notesSlide7.xml"/><Relationship Id="rId11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tags" Target="../tags/tag75.xml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image" Target="../media/image42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82.xml"/><Relationship Id="rId7" Type="http://schemas.openxmlformats.org/officeDocument/2006/relationships/image" Target="../media/image43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48.png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tags" Target="../tags/tag85.xml"/><Relationship Id="rId16" Type="http://schemas.openxmlformats.org/officeDocument/2006/relationships/image" Target="../media/image51.png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image" Target="../media/image46.png"/><Relationship Id="rId5" Type="http://schemas.openxmlformats.org/officeDocument/2006/relationships/tags" Target="../tags/tag88.xml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tags" Target="../tags/tag87.xml"/><Relationship Id="rId9" Type="http://schemas.openxmlformats.org/officeDocument/2006/relationships/notesSlide" Target="../notesSlides/notesSlide10.xml"/><Relationship Id="rId1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tags" Target="../tags/tag93.xml"/><Relationship Id="rId7" Type="http://schemas.openxmlformats.org/officeDocument/2006/relationships/image" Target="../media/image54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53.jpeg"/><Relationship Id="rId5" Type="http://schemas.openxmlformats.org/officeDocument/2006/relationships/notesSlide" Target="../notesSlides/notesSlide11.xml"/><Relationship Id="rId10" Type="http://schemas.openxmlformats.org/officeDocument/2006/relationships/image" Target="../media/image57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tags" Target="../tags/tag96.xml"/><Relationship Id="rId7" Type="http://schemas.openxmlformats.org/officeDocument/2006/relationships/image" Target="../media/image59.pn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notesSlide" Target="../notesSlides/notesSlide12.xml"/><Relationship Id="rId10" Type="http://schemas.openxmlformats.org/officeDocument/2006/relationships/image" Target="../media/image62.jpe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tags" Target="../tags/tag99.xml"/><Relationship Id="rId7" Type="http://schemas.openxmlformats.org/officeDocument/2006/relationships/image" Target="../media/image65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64.png"/><Relationship Id="rId5" Type="http://schemas.openxmlformats.org/officeDocument/2006/relationships/notesSlide" Target="../notesSlides/notesSlide13.xml"/><Relationship Id="rId10" Type="http://schemas.openxmlformats.org/officeDocument/2006/relationships/image" Target="../media/image68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1220519" y="1201035"/>
            <a:ext cx="6703439" cy="1453769"/>
          </a:xfrm>
        </p:spPr>
        <p:txBody>
          <a:bodyPr vert="horz" wrap="square" lIns="68591" tIns="34295" rIns="68591" bIns="34295" anchor="b" anchorCtr="0">
            <a:normAutofit/>
          </a:bodyPr>
          <a:lstStyle/>
          <a:p>
            <a:pPr algn="ctr" defTabSz="914400" eaLnBrk="1" fontAlgn="auto" latinLnBrk="0" hangingPunct="1">
              <a:lnSpc>
                <a:spcPct val="150000"/>
              </a:lnSpc>
              <a:buNone/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嘉兴移动业务交流与合作展望</a:t>
            </a:r>
            <a:endParaRPr lang="zh-CN" altLang="en-US" sz="3200" b="1" kern="1200" dirty="0">
              <a:solidFill>
                <a:srgbClr val="0B85CF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7171" name="文本占位符 4"/>
          <p:cNvSpPr>
            <a:spLocks noGrp="1"/>
          </p:cNvSpPr>
          <p:nvPr/>
        </p:nvSpPr>
        <p:spPr>
          <a:xfrm>
            <a:off x="2608773" y="3224130"/>
            <a:ext cx="3697605" cy="530225"/>
          </a:xfrm>
          <a:prstGeom prst="rect">
            <a:avLst/>
          </a:prstGeom>
        </p:spPr>
        <p:txBody>
          <a:bodyPr vert="horz" wrap="square" lIns="68591" tIns="34295" rIns="68591" bIns="34295" anchor="t" anchorCtr="0">
            <a:spAutoFit/>
          </a:bodyPr>
          <a:lstStyle>
            <a:lvl1pPr marL="0">
              <a:defRPr sz="2665" b="1" i="0">
                <a:solidFill>
                  <a:srgbClr val="A6A6A6"/>
                </a:solidFill>
                <a:latin typeface="微软雅黑" panose="020B0503020204020204" charset="-122"/>
                <a:ea typeface="+mn-ea"/>
                <a:cs typeface="微软雅黑" panose="020B0503020204020204" charset="-122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 defTabSz="914400" eaLnBrk="1" fontAlgn="auto" latinLnBrk="0" hangingPunct="1">
              <a:lnSpc>
                <a:spcPct val="150000"/>
              </a:lnSpc>
              <a:buClrTx/>
              <a:buSzTx/>
            </a:pPr>
            <a:r>
              <a:rPr lang="en-US" altLang="zh-CN" sz="2000" kern="1200" dirty="0">
                <a:solidFill>
                  <a:srgbClr val="0B85C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2025</a:t>
            </a:r>
            <a:r>
              <a:rPr lang="zh-CN" altLang="en-US" sz="2000" kern="1200" dirty="0">
                <a:solidFill>
                  <a:srgbClr val="0B85C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年</a:t>
            </a:r>
            <a:r>
              <a:rPr lang="en-US" altLang="zh-CN" sz="2000" kern="1200" dirty="0">
                <a:solidFill>
                  <a:srgbClr val="0B85C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9</a:t>
            </a:r>
            <a:r>
              <a:rPr lang="zh-CN" altLang="en-US" sz="2000" kern="1200" dirty="0">
                <a:solidFill>
                  <a:srgbClr val="0B85C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579721"/>
            <a:ext cx="9144000" cy="1904524"/>
          </a:xfrm>
          <a:prstGeom prst="rect">
            <a:avLst/>
          </a:prstGeom>
          <a:gradFill>
            <a:gsLst>
              <a:gs pos="0">
                <a:srgbClr val="88B92C"/>
              </a:gs>
              <a:gs pos="100000">
                <a:srgbClr val="1D7D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标题 1"/>
          <p:cNvSpPr/>
          <p:nvPr/>
        </p:nvSpPr>
        <p:spPr bwMode="auto">
          <a:xfrm>
            <a:off x="185739" y="34646"/>
            <a:ext cx="4538662" cy="414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8425" tIns="58650" rIns="92863" bIns="34285" anchor="ctr">
            <a:spAutoFit/>
          </a:bodyPr>
          <a:lstStyle/>
          <a:p>
            <a:pPr eaLnBrk="0" hangingPunct="0"/>
            <a:r>
              <a:rPr lang="zh-CN" altLang="en-US" sz="2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580198"/>
            <a:ext cx="2904649" cy="19030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38049" y="2220754"/>
            <a:ext cx="38404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嘉兴移动总体概况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21"/>
          <p:cNvSpPr/>
          <p:nvPr>
            <p:custDataLst>
              <p:tags r:id="rId1"/>
            </p:custDataLst>
          </p:nvPr>
        </p:nvSpPr>
        <p:spPr>
          <a:xfrm>
            <a:off x="197168" y="1439704"/>
            <a:ext cx="8776811" cy="3347561"/>
          </a:xfrm>
          <a:prstGeom prst="roundRect">
            <a:avLst>
              <a:gd name="adj" fmla="val 5961"/>
            </a:avLst>
          </a:prstGeom>
          <a:noFill/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armonyOS Sans SC"/>
              <a:cs typeface="+mn-cs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2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35"/>
          <p:cNvSpPr txBox="1"/>
          <p:nvPr/>
        </p:nvSpPr>
        <p:spPr>
          <a:xfrm>
            <a:off x="305276" y="681514"/>
            <a:ext cx="8587264" cy="548005"/>
          </a:xfrm>
          <a:prstGeom prst="rect">
            <a:avLst/>
          </a:prstGeom>
          <a:noFill/>
          <a:ln w="12700" cmpd="sng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68580" tIns="34290" rIns="68580" bIns="34290" rtlCol="0">
            <a:spAutoFit/>
          </a:bodyPr>
          <a:lstStyle/>
          <a:p>
            <a:pPr indent="0" fontAlgn="auto">
              <a:lnSpc>
                <a:spcPct val="130000"/>
              </a:lnSpc>
              <a:buClr>
                <a:srgbClr val="000000"/>
              </a:buClr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嘉兴移动现设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12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部门（含工会），下设嘉</a:t>
            </a:r>
            <a:r>
              <a:rPr lang="zh-CN" altLang="zh-CN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禾、嘉善、平湖、海盐、海宁和桐乡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6</a:t>
            </a:r>
            <a:r>
              <a:rPr lang="zh-CN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个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区</a:t>
            </a:r>
            <a:r>
              <a:rPr lang="zh-CN" altLang="zh-CN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县分公司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，分公司下设共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46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个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网格。公司现有员工</a:t>
            </a:r>
            <a:r>
              <a:rPr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12</a:t>
            </a:r>
            <a:r>
              <a:rPr 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49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，平均年龄</a:t>
            </a:r>
            <a:r>
              <a:rPr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3</a:t>
            </a:r>
            <a:r>
              <a:rPr 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9.5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周岁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，本科及以上学历占比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8</a:t>
            </a:r>
            <a:r>
              <a:rPr 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9.2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%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，研究生及以上占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1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4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.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5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%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  <a:sym typeface="+mn-ea"/>
              </a:rPr>
              <a:t>。</a:t>
            </a:r>
          </a:p>
        </p:txBody>
      </p:sp>
      <p:sp>
        <p:nvSpPr>
          <p:cNvPr id="64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23824" y="1536383"/>
            <a:ext cx="1485424" cy="274320"/>
          </a:xfrm>
          <a:prstGeom prst="rect">
            <a:avLst/>
          </a:prstGeom>
          <a:solidFill>
            <a:srgbClr val="109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77" tIns="34288" rIns="68577" bIns="34288" anchor="ctr" anchorCtr="0"/>
          <a:lstStyle/>
          <a:p>
            <a:pPr algn="ctr" eaLnBrk="0" hangingPunct="0"/>
            <a:r>
              <a:rPr lang="zh-CN" sz="13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嘉兴移动</a:t>
            </a:r>
          </a:p>
        </p:txBody>
      </p:sp>
      <p:cxnSp>
        <p:nvCxnSpPr>
          <p:cNvPr id="62" name="直接连接符 61"/>
          <p:cNvCxnSpPr/>
          <p:nvPr/>
        </p:nvCxnSpPr>
        <p:spPr>
          <a:xfrm flipH="1">
            <a:off x="4988935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65" name="矩形 64"/>
          <p:cNvSpPr/>
          <p:nvPr/>
        </p:nvSpPr>
        <p:spPr>
          <a:xfrm>
            <a:off x="299085" y="2161699"/>
            <a:ext cx="5675471" cy="245125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ysClr val="window" lastClr="FFFFFF">
                    <a:lumMod val="95000"/>
                  </a:sysClr>
                </a:solidFill>
              </a14:hiddenFill>
            </a:ext>
          </a:ex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lIns="68577" tIns="34288" rIns="68577" bIns="34288" rtlCol="0" anchor="ctr"/>
          <a:lstStyle/>
          <a:p>
            <a:pPr algn="ctr"/>
            <a:endParaRPr lang="zh-CN" altLang="en-US" sz="1350"/>
          </a:p>
        </p:txBody>
      </p:sp>
      <p:sp>
        <p:nvSpPr>
          <p:cNvPr id="68" name="矩形 67"/>
          <p:cNvSpPr/>
          <p:nvPr/>
        </p:nvSpPr>
        <p:spPr>
          <a:xfrm>
            <a:off x="6002655" y="2165033"/>
            <a:ext cx="2875121" cy="2275999"/>
          </a:xfrm>
          <a:prstGeom prst="rect">
            <a:avLst/>
          </a:prstGeom>
          <a:noFill/>
          <a:ln w="12700" cap="flat" cmpd="sng" algn="ctr">
            <a:solidFill>
              <a:srgbClr val="A5A5A5">
                <a:lumMod val="20000"/>
                <a:lumOff val="80000"/>
              </a:srgb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20000"/>
                    <a:lumOff val="80000"/>
                  </a:srgbClr>
                </a:solidFill>
              </a14:hiddenFill>
            </a:ext>
          </a:ex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lIns="91437" tIns="45717" rIns="91437" bIns="45717" rtlCol="0" anchor="ctr"/>
          <a:lstStyle/>
          <a:p>
            <a:pPr algn="ctr"/>
            <a:endParaRPr lang="zh-CN" altLang="en-US" sz="1350"/>
          </a:p>
        </p:txBody>
      </p:sp>
      <p:cxnSp>
        <p:nvCxnSpPr>
          <p:cNvPr id="69" name="直接连接符 68"/>
          <p:cNvCxnSpPr/>
          <p:nvPr/>
        </p:nvCxnSpPr>
        <p:spPr>
          <a:xfrm flipH="1">
            <a:off x="4988144" y="2134076"/>
            <a:ext cx="806" cy="131336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714786" y="2240280"/>
            <a:ext cx="1" cy="150515"/>
          </a:xfrm>
          <a:prstGeom prst="line">
            <a:avLst/>
          </a:prstGeom>
          <a:solidFill>
            <a:srgbClr val="92D050"/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1" name="直接连接符 70"/>
          <p:cNvCxnSpPr/>
          <p:nvPr/>
        </p:nvCxnSpPr>
        <p:spPr>
          <a:xfrm flipH="1">
            <a:off x="6364160" y="2136899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3" name="直接连接符 72"/>
          <p:cNvCxnSpPr/>
          <p:nvPr/>
        </p:nvCxnSpPr>
        <p:spPr>
          <a:xfrm flipH="1">
            <a:off x="6818594" y="2136899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7222532" y="2136899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7665710" y="2136899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7" name="直接连接符 76"/>
          <p:cNvCxnSpPr/>
          <p:nvPr/>
        </p:nvCxnSpPr>
        <p:spPr>
          <a:xfrm flipH="1">
            <a:off x="8095037" y="2136899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575517" y="2080357"/>
            <a:ext cx="7938000" cy="27623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2382203" y="2135981"/>
            <a:ext cx="953" cy="13144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89" name="Rectangle 47"/>
          <p:cNvSpPr>
            <a:spLocks noChangeArrowheads="1"/>
          </p:cNvSpPr>
          <p:nvPr/>
        </p:nvSpPr>
        <p:spPr bwMode="auto">
          <a:xfrm>
            <a:off x="2249805" y="2242185"/>
            <a:ext cx="270986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政企客户部</a:t>
            </a:r>
          </a:p>
        </p:txBody>
      </p:sp>
      <p:sp>
        <p:nvSpPr>
          <p:cNvPr id="99" name="Rectangle 5"/>
          <p:cNvSpPr>
            <a:spLocks noChangeArrowheads="1"/>
          </p:cNvSpPr>
          <p:nvPr/>
        </p:nvSpPr>
        <p:spPr bwMode="auto">
          <a:xfrm>
            <a:off x="2303621" y="3404711"/>
            <a:ext cx="216218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68577" tIns="34288" rIns="68577" bIns="34288" anchorCtr="1"/>
          <a:lstStyle/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D</a:t>
            </a:r>
          </a:p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I</a:t>
            </a:r>
          </a:p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C</a:t>
            </a:r>
          </a:p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T中心</a:t>
            </a:r>
          </a:p>
        </p:txBody>
      </p:sp>
      <p:cxnSp>
        <p:nvCxnSpPr>
          <p:cNvPr id="100" name="直接连接符 99"/>
          <p:cNvCxnSpPr>
            <a:stCxn id="89" idx="2"/>
          </p:cNvCxnSpPr>
          <p:nvPr/>
        </p:nvCxnSpPr>
        <p:spPr>
          <a:xfrm flipH="1">
            <a:off x="2385536" y="3090863"/>
            <a:ext cx="0" cy="32385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01" name="Rectangle 47"/>
          <p:cNvSpPr>
            <a:spLocks noChangeArrowheads="1"/>
          </p:cNvSpPr>
          <p:nvPr/>
        </p:nvSpPr>
        <p:spPr bwMode="auto">
          <a:xfrm>
            <a:off x="4838700" y="2240280"/>
            <a:ext cx="268605" cy="845820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endParaRPr lang="zh-CN" altLang="en-US" sz="975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华文细黑" panose="02010600040101010101" pitchFamily="2" charset="-122"/>
            </a:endParaRPr>
          </a:p>
        </p:txBody>
      </p:sp>
      <p:sp>
        <p:nvSpPr>
          <p:cNvPr id="102" name="Rectangle 23"/>
          <p:cNvSpPr>
            <a:spLocks noChangeArrowheads="1"/>
          </p:cNvSpPr>
          <p:nvPr/>
        </p:nvSpPr>
        <p:spPr bwMode="auto">
          <a:xfrm>
            <a:off x="8343029" y="2220630"/>
            <a:ext cx="365310" cy="848770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桐乡分公司</a:t>
            </a:r>
          </a:p>
        </p:txBody>
      </p:sp>
      <p:sp>
        <p:nvSpPr>
          <p:cNvPr id="103" name="Rectangle 37"/>
          <p:cNvSpPr>
            <a:spLocks noChangeArrowheads="1"/>
          </p:cNvSpPr>
          <p:nvPr/>
        </p:nvSpPr>
        <p:spPr bwMode="auto">
          <a:xfrm>
            <a:off x="6168291" y="2220630"/>
            <a:ext cx="365310" cy="848770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嘉禾分公司</a:t>
            </a:r>
          </a:p>
        </p:txBody>
      </p:sp>
      <p:sp>
        <p:nvSpPr>
          <p:cNvPr id="104" name="Rectangle 38"/>
          <p:cNvSpPr>
            <a:spLocks noChangeArrowheads="1"/>
          </p:cNvSpPr>
          <p:nvPr/>
        </p:nvSpPr>
        <p:spPr bwMode="auto">
          <a:xfrm>
            <a:off x="6603239" y="2220630"/>
            <a:ext cx="365310" cy="848770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嘉善分公司</a:t>
            </a:r>
          </a:p>
        </p:txBody>
      </p:sp>
      <p:sp>
        <p:nvSpPr>
          <p:cNvPr id="105" name="Rectangle 39"/>
          <p:cNvSpPr>
            <a:spLocks noChangeArrowheads="1"/>
          </p:cNvSpPr>
          <p:nvPr/>
        </p:nvSpPr>
        <p:spPr bwMode="auto">
          <a:xfrm>
            <a:off x="7038185" y="2220630"/>
            <a:ext cx="365310" cy="848770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平湖分公司</a:t>
            </a:r>
          </a:p>
        </p:txBody>
      </p:sp>
      <p:sp>
        <p:nvSpPr>
          <p:cNvPr id="106" name="Rectangle 40"/>
          <p:cNvSpPr>
            <a:spLocks noChangeArrowheads="1"/>
          </p:cNvSpPr>
          <p:nvPr/>
        </p:nvSpPr>
        <p:spPr bwMode="auto">
          <a:xfrm>
            <a:off x="7473134" y="2220630"/>
            <a:ext cx="365310" cy="848770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海盐分公司</a:t>
            </a:r>
          </a:p>
        </p:txBody>
      </p:sp>
      <p:sp>
        <p:nvSpPr>
          <p:cNvPr id="107" name="Rectangle 41"/>
          <p:cNvSpPr>
            <a:spLocks noChangeArrowheads="1"/>
          </p:cNvSpPr>
          <p:nvPr/>
        </p:nvSpPr>
        <p:spPr bwMode="auto">
          <a:xfrm>
            <a:off x="7908081" y="2220630"/>
            <a:ext cx="365310" cy="848770"/>
          </a:xfrm>
          <a:prstGeom prst="rect">
            <a:avLst/>
          </a:prstGeom>
          <a:solidFill>
            <a:srgbClr val="44546A">
              <a:lumMod val="60000"/>
              <a:lumOff val="40000"/>
            </a:srgbClr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海宁分公司</a:t>
            </a:r>
          </a:p>
        </p:txBody>
      </p:sp>
      <p:cxnSp>
        <p:nvCxnSpPr>
          <p:cNvPr id="108" name="直接连接符 107"/>
          <p:cNvCxnSpPr/>
          <p:nvPr/>
        </p:nvCxnSpPr>
        <p:spPr>
          <a:xfrm flipV="1">
            <a:off x="575993" y="1889476"/>
            <a:ext cx="7938000" cy="0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8511323" y="1900229"/>
            <a:ext cx="1429" cy="317183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10" name="Rectangle 5"/>
          <p:cNvSpPr>
            <a:spLocks noChangeArrowheads="1"/>
          </p:cNvSpPr>
          <p:nvPr/>
        </p:nvSpPr>
        <p:spPr bwMode="auto">
          <a:xfrm>
            <a:off x="1612583" y="3404711"/>
            <a:ext cx="250984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lIns="68577" tIns="34288" rIns="68577" bIns="34288" anchorCtr="1"/>
          <a:lstStyle/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渠道运营中心</a:t>
            </a:r>
          </a:p>
        </p:txBody>
      </p:sp>
      <p:sp>
        <p:nvSpPr>
          <p:cNvPr id="111" name="Rectangle 5"/>
          <p:cNvSpPr>
            <a:spLocks noChangeArrowheads="1"/>
          </p:cNvSpPr>
          <p:nvPr/>
        </p:nvSpPr>
        <p:spPr bwMode="auto">
          <a:xfrm>
            <a:off x="1924050" y="3404711"/>
            <a:ext cx="231458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68577" tIns="34288" rIns="68577" bIns="34288" anchorCtr="1"/>
          <a:lstStyle/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业务支撑中心</a:t>
            </a:r>
          </a:p>
        </p:txBody>
      </p:sp>
      <p:cxnSp>
        <p:nvCxnSpPr>
          <p:cNvPr id="112" name="直接连接符 111"/>
          <p:cNvCxnSpPr/>
          <p:nvPr/>
        </p:nvCxnSpPr>
        <p:spPr>
          <a:xfrm>
            <a:off x="1768316" y="3259455"/>
            <a:ext cx="29718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1768316" y="3259455"/>
            <a:ext cx="0" cy="13144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2070259" y="3255645"/>
            <a:ext cx="0" cy="13144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15" name="直接连接符 114"/>
          <p:cNvCxnSpPr/>
          <p:nvPr/>
        </p:nvCxnSpPr>
        <p:spPr>
          <a:xfrm flipH="1">
            <a:off x="1924050" y="3070384"/>
            <a:ext cx="0" cy="189071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16" name="矩形 115"/>
          <p:cNvSpPr/>
          <p:nvPr/>
        </p:nvSpPr>
        <p:spPr>
          <a:xfrm>
            <a:off x="6661799" y="1883565"/>
            <a:ext cx="892175" cy="205740"/>
          </a:xfrm>
          <a:prstGeom prst="rect">
            <a:avLst/>
          </a:prstGeom>
        </p:spPr>
        <p:txBody>
          <a:bodyPr wrap="none" lIns="68577" tIns="34288" rIns="68577" bIns="34288">
            <a:spAutoFit/>
          </a:bodyPr>
          <a:lstStyle/>
          <a:p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6</a:t>
            </a:r>
            <a:r>
              <a:rPr lang="zh-CN" altLang="en-US" sz="9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个县市分公司</a:t>
            </a:r>
          </a:p>
        </p:txBody>
      </p:sp>
      <p:sp>
        <p:nvSpPr>
          <p:cNvPr id="117" name="矩形 116"/>
          <p:cNvSpPr/>
          <p:nvPr/>
        </p:nvSpPr>
        <p:spPr>
          <a:xfrm>
            <a:off x="2793664" y="1889393"/>
            <a:ext cx="619760" cy="205740"/>
          </a:xfrm>
          <a:prstGeom prst="rect">
            <a:avLst/>
          </a:prstGeom>
        </p:spPr>
        <p:txBody>
          <a:bodyPr wrap="none" lIns="68577" tIns="34288" rIns="68577" bIns="34288">
            <a:spAutoFit/>
          </a:bodyPr>
          <a:lstStyle/>
          <a:p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12</a:t>
            </a:r>
            <a:r>
              <a:rPr lang="zh-CN" altLang="en-US" sz="9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个部门</a:t>
            </a:r>
          </a:p>
        </p:txBody>
      </p:sp>
      <p:sp>
        <p:nvSpPr>
          <p:cNvPr id="118" name="Rectangle 5"/>
          <p:cNvSpPr>
            <a:spLocks noChangeArrowheads="1"/>
          </p:cNvSpPr>
          <p:nvPr/>
        </p:nvSpPr>
        <p:spPr bwMode="auto">
          <a:xfrm>
            <a:off x="2857024" y="3404711"/>
            <a:ext cx="228124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lIns="68577" tIns="34288" rIns="68577" bIns="34288" anchorCtr="1"/>
          <a:lstStyle/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无线网优中心</a:t>
            </a:r>
          </a:p>
        </p:txBody>
      </p:sp>
      <p:sp>
        <p:nvSpPr>
          <p:cNvPr id="119" name="Rectangle 6"/>
          <p:cNvSpPr>
            <a:spLocks noChangeArrowheads="1"/>
          </p:cNvSpPr>
          <p:nvPr/>
        </p:nvSpPr>
        <p:spPr bwMode="auto">
          <a:xfrm>
            <a:off x="2627471" y="3404711"/>
            <a:ext cx="220028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lIns="68577" tIns="34288" rIns="68577" bIns="34288" anchorCtr="1"/>
          <a:lstStyle/>
          <a:p>
            <a:pPr algn="ctr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综合维护中心</a:t>
            </a:r>
          </a:p>
        </p:txBody>
      </p:sp>
      <p:sp>
        <p:nvSpPr>
          <p:cNvPr id="120" name="Rectangle 5"/>
          <p:cNvSpPr>
            <a:spLocks noChangeArrowheads="1"/>
          </p:cNvSpPr>
          <p:nvPr/>
        </p:nvSpPr>
        <p:spPr bwMode="auto">
          <a:xfrm>
            <a:off x="3094673" y="3404711"/>
            <a:ext cx="254318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68577" tIns="34288" rIns="68577" bIns="34288" anchorCtr="1"/>
          <a:lstStyle/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传输动力中心</a:t>
            </a:r>
          </a:p>
        </p:txBody>
      </p:sp>
      <p:cxnSp>
        <p:nvCxnSpPr>
          <p:cNvPr id="121" name="直接连接符 120"/>
          <p:cNvCxnSpPr/>
          <p:nvPr/>
        </p:nvCxnSpPr>
        <p:spPr>
          <a:xfrm flipH="1">
            <a:off x="2794635" y="3243263"/>
            <a:ext cx="476" cy="162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3226118" y="3243263"/>
            <a:ext cx="0" cy="162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23" name="Rectangle 5"/>
          <p:cNvSpPr>
            <a:spLocks noChangeArrowheads="1"/>
          </p:cNvSpPr>
          <p:nvPr/>
        </p:nvSpPr>
        <p:spPr bwMode="auto">
          <a:xfrm>
            <a:off x="3358515" y="3404711"/>
            <a:ext cx="241935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68577" tIns="34288" rIns="68577" bIns="34288" anchorCtr="1"/>
          <a:lstStyle/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客户响应中心</a:t>
            </a:r>
          </a:p>
        </p:txBody>
      </p:sp>
      <p:cxnSp>
        <p:nvCxnSpPr>
          <p:cNvPr id="124" name="直接连接符 123"/>
          <p:cNvCxnSpPr/>
          <p:nvPr/>
        </p:nvCxnSpPr>
        <p:spPr>
          <a:xfrm>
            <a:off x="3479006" y="3243263"/>
            <a:ext cx="0" cy="162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2793683" y="3243263"/>
            <a:ext cx="684848" cy="2381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6" name="直接连接符 125"/>
          <p:cNvCxnSpPr/>
          <p:nvPr/>
        </p:nvCxnSpPr>
        <p:spPr>
          <a:xfrm flipH="1">
            <a:off x="3102769" y="2818924"/>
            <a:ext cx="0" cy="432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3017520" y="3243263"/>
            <a:ext cx="0" cy="162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1007745" y="2240280"/>
            <a:ext cx="0" cy="189071"/>
          </a:xfrm>
          <a:prstGeom prst="line">
            <a:avLst/>
          </a:prstGeom>
          <a:solidFill>
            <a:srgbClr val="92D050"/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29" name="直接连接符 128"/>
          <p:cNvCxnSpPr/>
          <p:nvPr/>
        </p:nvCxnSpPr>
        <p:spPr>
          <a:xfrm flipH="1">
            <a:off x="575310" y="1885474"/>
            <a:ext cx="953" cy="453390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30" name="Rectangle 5"/>
          <p:cNvSpPr>
            <a:spLocks noChangeArrowheads="1"/>
          </p:cNvSpPr>
          <p:nvPr/>
        </p:nvSpPr>
        <p:spPr bwMode="auto">
          <a:xfrm>
            <a:off x="461486" y="3404711"/>
            <a:ext cx="241935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68577" tIns="34288" rIns="68577" bIns="34288" anchorCtr="1"/>
          <a:lstStyle/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行政安保中心</a:t>
            </a:r>
          </a:p>
        </p:txBody>
      </p:sp>
      <p:cxnSp>
        <p:nvCxnSpPr>
          <p:cNvPr id="131" name="直接连接符 130"/>
          <p:cNvCxnSpPr/>
          <p:nvPr/>
        </p:nvCxnSpPr>
        <p:spPr>
          <a:xfrm flipH="1">
            <a:off x="575310" y="3063240"/>
            <a:ext cx="0" cy="310039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32" name="Rectangle 47"/>
          <p:cNvSpPr>
            <a:spLocks noChangeArrowheads="1"/>
          </p:cNvSpPr>
          <p:nvPr/>
        </p:nvSpPr>
        <p:spPr bwMode="auto">
          <a:xfrm>
            <a:off x="359569" y="2240280"/>
            <a:ext cx="389096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办公室（党委办公室）</a:t>
            </a:r>
          </a:p>
        </p:txBody>
      </p:sp>
      <p:cxnSp>
        <p:nvCxnSpPr>
          <p:cNvPr id="133" name="直接连接符 132"/>
          <p:cNvCxnSpPr/>
          <p:nvPr/>
        </p:nvCxnSpPr>
        <p:spPr>
          <a:xfrm flipH="1">
            <a:off x="1373029" y="2134076"/>
            <a:ext cx="953" cy="13144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34" name="直接连接符 133"/>
          <p:cNvCxnSpPr/>
          <p:nvPr/>
        </p:nvCxnSpPr>
        <p:spPr>
          <a:xfrm flipH="1">
            <a:off x="1391603" y="3119914"/>
            <a:ext cx="0" cy="310039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graphicFrame>
        <p:nvGraphicFramePr>
          <p:cNvPr id="136" name="图示 135"/>
          <p:cNvGraphicFramePr/>
          <p:nvPr>
            <p:custDataLst>
              <p:tags r:id="rId4"/>
            </p:custDataLst>
          </p:nvPr>
        </p:nvGraphicFramePr>
        <p:xfrm>
          <a:off x="6124575" y="2998946"/>
          <a:ext cx="2620804" cy="1712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37" name="直接连接符 136"/>
          <p:cNvCxnSpPr/>
          <p:nvPr/>
        </p:nvCxnSpPr>
        <p:spPr>
          <a:xfrm flipH="1">
            <a:off x="3084411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38" name="直接连接符 137"/>
          <p:cNvCxnSpPr/>
          <p:nvPr/>
        </p:nvCxnSpPr>
        <p:spPr>
          <a:xfrm flipH="1">
            <a:off x="5715216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39" name="直接连接符 138"/>
          <p:cNvCxnSpPr/>
          <p:nvPr/>
        </p:nvCxnSpPr>
        <p:spPr>
          <a:xfrm flipH="1">
            <a:off x="1926171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40" name="直接连接符 139"/>
          <p:cNvCxnSpPr/>
          <p:nvPr/>
        </p:nvCxnSpPr>
        <p:spPr>
          <a:xfrm flipH="1">
            <a:off x="1372292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41" name="直接连接符 140"/>
          <p:cNvCxnSpPr/>
          <p:nvPr/>
        </p:nvCxnSpPr>
        <p:spPr>
          <a:xfrm flipH="1">
            <a:off x="3719729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47" name="直接连接符 146"/>
          <p:cNvCxnSpPr/>
          <p:nvPr/>
        </p:nvCxnSpPr>
        <p:spPr>
          <a:xfrm flipH="1">
            <a:off x="5328025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58" name="直接连接符 157"/>
          <p:cNvCxnSpPr/>
          <p:nvPr/>
        </p:nvCxnSpPr>
        <p:spPr>
          <a:xfrm flipH="1">
            <a:off x="4140257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62" name="直接连接符 161"/>
          <p:cNvCxnSpPr/>
          <p:nvPr/>
        </p:nvCxnSpPr>
        <p:spPr>
          <a:xfrm flipH="1">
            <a:off x="1005104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166" name="直接连接符 165"/>
          <p:cNvCxnSpPr/>
          <p:nvPr/>
        </p:nvCxnSpPr>
        <p:spPr>
          <a:xfrm flipH="1">
            <a:off x="4505065" y="2134076"/>
            <a:ext cx="806" cy="131336"/>
          </a:xfrm>
          <a:prstGeom prst="line">
            <a:avLst/>
          </a:prstGeom>
          <a:solidFill>
            <a:srgbClr val="44546A">
              <a:lumMod val="60000"/>
              <a:lumOff val="40000"/>
            </a:srgbClr>
          </a:solidFill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175" name="Rectangle 47"/>
          <p:cNvSpPr>
            <a:spLocks noChangeArrowheads="1"/>
          </p:cNvSpPr>
          <p:nvPr/>
        </p:nvSpPr>
        <p:spPr bwMode="auto">
          <a:xfrm>
            <a:off x="846296" y="2240280"/>
            <a:ext cx="287179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人力资源部</a:t>
            </a:r>
          </a:p>
        </p:txBody>
      </p:sp>
      <p:sp>
        <p:nvSpPr>
          <p:cNvPr id="178" name="Rectangle 47"/>
          <p:cNvSpPr>
            <a:spLocks noChangeArrowheads="1"/>
          </p:cNvSpPr>
          <p:nvPr/>
        </p:nvSpPr>
        <p:spPr bwMode="auto">
          <a:xfrm>
            <a:off x="1239203" y="2240280"/>
            <a:ext cx="269558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财务部</a:t>
            </a:r>
          </a:p>
        </p:txBody>
      </p:sp>
      <p:sp>
        <p:nvSpPr>
          <p:cNvPr id="189" name="Rectangle 47"/>
          <p:cNvSpPr>
            <a:spLocks noChangeArrowheads="1"/>
          </p:cNvSpPr>
          <p:nvPr/>
        </p:nvSpPr>
        <p:spPr bwMode="auto">
          <a:xfrm>
            <a:off x="1764506" y="2240280"/>
            <a:ext cx="269558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市场经营部</a:t>
            </a:r>
          </a:p>
        </p:txBody>
      </p:sp>
      <p:sp>
        <p:nvSpPr>
          <p:cNvPr id="191" name="Rectangle 47"/>
          <p:cNvSpPr>
            <a:spLocks noChangeArrowheads="1"/>
          </p:cNvSpPr>
          <p:nvPr/>
        </p:nvSpPr>
        <p:spPr bwMode="auto">
          <a:xfrm>
            <a:off x="2963228" y="2240280"/>
            <a:ext cx="268129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网络部</a:t>
            </a:r>
          </a:p>
        </p:txBody>
      </p:sp>
      <p:sp>
        <p:nvSpPr>
          <p:cNvPr id="194" name="Rectangle 47"/>
          <p:cNvSpPr>
            <a:spLocks noChangeArrowheads="1"/>
          </p:cNvSpPr>
          <p:nvPr/>
        </p:nvSpPr>
        <p:spPr bwMode="auto">
          <a:xfrm>
            <a:off x="3600450" y="2240280"/>
            <a:ext cx="277178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工程建设部</a:t>
            </a:r>
          </a:p>
        </p:txBody>
      </p:sp>
      <p:sp>
        <p:nvSpPr>
          <p:cNvPr id="198" name="Rectangle 47"/>
          <p:cNvSpPr>
            <a:spLocks noChangeArrowheads="1"/>
          </p:cNvSpPr>
          <p:nvPr/>
        </p:nvSpPr>
        <p:spPr bwMode="auto">
          <a:xfrm>
            <a:off x="3977640" y="2240280"/>
            <a:ext cx="277178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战略客户中心</a:t>
            </a:r>
          </a:p>
        </p:txBody>
      </p:sp>
      <p:sp>
        <p:nvSpPr>
          <p:cNvPr id="199" name="Rectangle 47"/>
          <p:cNvSpPr>
            <a:spLocks noChangeArrowheads="1"/>
          </p:cNvSpPr>
          <p:nvPr/>
        </p:nvSpPr>
        <p:spPr bwMode="auto">
          <a:xfrm>
            <a:off x="4366260" y="2240280"/>
            <a:ext cx="277178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客户服务部</a:t>
            </a:r>
          </a:p>
        </p:txBody>
      </p:sp>
      <p:sp>
        <p:nvSpPr>
          <p:cNvPr id="202" name="Rectangle 47"/>
          <p:cNvSpPr>
            <a:spLocks noChangeArrowheads="1"/>
          </p:cNvSpPr>
          <p:nvPr/>
        </p:nvSpPr>
        <p:spPr bwMode="auto">
          <a:xfrm>
            <a:off x="5212080" y="2240280"/>
            <a:ext cx="275749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/>
          <a:lstStyle/>
          <a:p>
            <a:pPr algn="ctr" eaLnBrk="0" hangingPunct="0"/>
            <a:r>
              <a:rPr lang="zh-CN" altLang="en-US" sz="975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纪委办公室</a:t>
            </a:r>
            <a:endParaRPr lang="zh-CN" altLang="en-US" sz="975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华文细黑" panose="02010600040101010101" pitchFamily="2" charset="-122"/>
            </a:endParaRPr>
          </a:p>
        </p:txBody>
      </p:sp>
      <p:sp>
        <p:nvSpPr>
          <p:cNvPr id="203" name="Rectangle 47"/>
          <p:cNvSpPr>
            <a:spLocks noChangeArrowheads="1"/>
          </p:cNvSpPr>
          <p:nvPr/>
        </p:nvSpPr>
        <p:spPr bwMode="auto">
          <a:xfrm>
            <a:off x="5597366" y="2240280"/>
            <a:ext cx="235268" cy="848678"/>
          </a:xfrm>
          <a:prstGeom prst="rect">
            <a:avLst/>
          </a:prstGeom>
          <a:solidFill>
            <a:srgbClr val="92D050"/>
          </a:solidFill>
          <a:ln w="9525">
            <a:solidFill>
              <a:sysClr val="window" lastClr="FFFFFF">
                <a:lumMod val="85000"/>
              </a:sysClr>
            </a:solidFill>
            <a:miter lim="800000"/>
          </a:ln>
        </p:spPr>
        <p:txBody>
          <a:bodyPr lIns="68577" tIns="34288" rIns="68577" bIns="34288" anchor="ctr" anchorCtr="0"/>
          <a:lstStyle/>
          <a:p>
            <a:pPr algn="ctr" eaLnBrk="0" hangingPunct="0"/>
            <a:r>
              <a:rPr lang="zh-CN" altLang="en-US"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工    会</a:t>
            </a:r>
          </a:p>
        </p:txBody>
      </p:sp>
      <p:sp>
        <p:nvSpPr>
          <p:cNvPr id="204" name="Rectangle 5"/>
          <p:cNvSpPr>
            <a:spLocks noChangeArrowheads="1"/>
          </p:cNvSpPr>
          <p:nvPr/>
        </p:nvSpPr>
        <p:spPr bwMode="auto">
          <a:xfrm>
            <a:off x="1264444" y="3404711"/>
            <a:ext cx="244316" cy="103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</a:ln>
        </p:spPr>
        <p:txBody>
          <a:bodyPr lIns="68577" tIns="34288" rIns="68577" bIns="34288" anchorCtr="1"/>
          <a:lstStyle/>
          <a:p>
            <a:pPr algn="just" eaLnBrk="0" hangingPunct="0"/>
            <a:r>
              <a:rPr lang="zh-CN" altLang="en-US" sz="9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采购物流中心</a:t>
            </a:r>
          </a:p>
        </p:txBody>
      </p:sp>
      <p:sp>
        <p:nvSpPr>
          <p:cNvPr id="206" name="TextBox 35"/>
          <p:cNvSpPr txBox="1"/>
          <p:nvPr/>
        </p:nvSpPr>
        <p:spPr>
          <a:xfrm>
            <a:off x="4857750" y="2240280"/>
            <a:ext cx="249555" cy="81105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eaVert" wrap="square" lIns="68577" tIns="34288" rIns="68577" bIns="34288" rtlCol="0">
            <a:noAutofit/>
          </a:bodyPr>
          <a:lstStyle/>
          <a:p>
            <a:pPr algn="ctr" eaLnBrk="0" hangingPunct="0"/>
            <a:r>
              <a:rPr sz="97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华文细黑" panose="02010600040101010101" pitchFamily="2" charset="-122"/>
              </a:rPr>
              <a:t>党建工作部</a:t>
            </a:r>
          </a:p>
        </p:txBody>
      </p:sp>
      <p:sp>
        <p:nvSpPr>
          <p:cNvPr id="3" name="标题 1"/>
          <p:cNvSpPr txBox="1"/>
          <p:nvPr>
            <p:custDataLst>
              <p:tags r:id="rId5"/>
            </p:custDataLst>
          </p:nvPr>
        </p:nvSpPr>
        <p:spPr>
          <a:xfrm>
            <a:off x="305753" y="184309"/>
            <a:ext cx="7735253" cy="343853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嘉兴移动概况</a:t>
            </a:r>
            <a:r>
              <a:rPr lang="en-US" altLang="zh-CN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组织架构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35"/>
          <p:cNvSpPr txBox="1"/>
          <p:nvPr>
            <p:custDataLst>
              <p:tags r:id="rId2"/>
            </p:custDataLst>
          </p:nvPr>
        </p:nvSpPr>
        <p:spPr>
          <a:xfrm>
            <a:off x="268129" y="509588"/>
            <a:ext cx="8553926" cy="88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lIns="68580" tIns="34290" rIns="68580" bIns="34290" rtlCol="0">
            <a:noAutofit/>
          </a:bodyPr>
          <a:lstStyle/>
          <a:p>
            <a:pPr lvl="0" indent="304800" algn="l" fontAlgn="auto">
              <a:lnSpc>
                <a:spcPct val="1500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xmlns="" val="200" checksum="1077528236"/>
                </a:ext>
              </a:extLst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嘉兴移动始终牢记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“央企姓党”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的政治本色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牢牢把握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“建强优质网络服务民生、发挥信息技术优势服务经济”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两个定位，扎实履行央企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经济、政治、社会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三大责任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，在浙江移动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“善知善行、惟实惟新”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的工作文化指引下，传承和发扬嘉兴公司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做最好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执行文化。</a:t>
            </a:r>
            <a:endParaRPr lang="zh-CN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7179" y="1391126"/>
            <a:ext cx="4208621" cy="3525731"/>
            <a:chOff x="10313" y="4152"/>
            <a:chExt cx="4565" cy="4257"/>
          </a:xfrm>
        </p:grpSpPr>
        <p:sp>
          <p:nvSpPr>
            <p:cNvPr id="8" name="矩形 7"/>
            <p:cNvSpPr/>
            <p:nvPr>
              <p:custDataLst>
                <p:tags r:id="rId21"/>
              </p:custDataLst>
            </p:nvPr>
          </p:nvSpPr>
          <p:spPr>
            <a:xfrm>
              <a:off x="10313" y="4230"/>
              <a:ext cx="4565" cy="4179"/>
            </a:xfrm>
            <a:prstGeom prst="rect">
              <a:avLst/>
            </a:prstGeom>
            <a:noFill/>
            <a:ln w="3175" cmpd="sng">
              <a:solidFill>
                <a:srgbClr val="BCDAEF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0955" y="4152"/>
              <a:ext cx="3280" cy="411"/>
              <a:chOff x="5845" y="4694"/>
              <a:chExt cx="3276" cy="382"/>
            </a:xfrm>
            <a:solidFill>
              <a:srgbClr val="BCDAEF"/>
            </a:solidFill>
          </p:grpSpPr>
          <p:grpSp>
            <p:nvGrpSpPr>
              <p:cNvPr id="10" name="组合 9"/>
              <p:cNvGrpSpPr/>
              <p:nvPr/>
            </p:nvGrpSpPr>
            <p:grpSpPr>
              <a:xfrm>
                <a:off x="5845" y="4694"/>
                <a:ext cx="3277" cy="383"/>
                <a:chOff x="12150" y="1698"/>
                <a:chExt cx="4624" cy="567"/>
              </a:xfrm>
              <a:grpFill/>
            </p:grpSpPr>
            <p:sp>
              <p:nvSpPr>
                <p:cNvPr id="11" name="梯形 1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2150" y="1698"/>
                  <a:ext cx="4625" cy="111"/>
                </a:xfrm>
                <a:prstGeom prst="trapezoid">
                  <a:avLst>
                    <a:gd name="adj" fmla="val 107452"/>
                  </a:avLst>
                </a:prstGeom>
                <a:solidFill>
                  <a:srgbClr val="1091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cs typeface="+mn-cs"/>
                    <a:sym typeface="字魂105号-简雅黑" panose="00000500000000000000" pitchFamily="2" charset="-122"/>
                  </a:endParaRPr>
                </a:p>
              </p:txBody>
            </p:sp>
            <p:sp>
              <p:nvSpPr>
                <p:cNvPr id="12" name="流程图: 离页连接符 1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2413" y="1711"/>
                  <a:ext cx="4099" cy="554"/>
                </a:xfrm>
                <a:prstGeom prst="flowChartOffpageConnector">
                  <a:avLst/>
                </a:prstGeom>
                <a:solidFill>
                  <a:srgbClr val="1091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cs typeface="+mn-cs"/>
                    <a:sym typeface="字魂105号-简雅黑" panose="00000500000000000000" pitchFamily="2" charset="-122"/>
                  </a:endParaRPr>
                </a:p>
              </p:txBody>
            </p:sp>
          </p:grpSp>
          <p:sp>
            <p:nvSpPr>
              <p:cNvPr id="13" name="TextBox 31"/>
              <p:cNvSpPr/>
              <p:nvPr>
                <p:custDataLst>
                  <p:tags r:id="rId22"/>
                </p:custDataLst>
              </p:nvPr>
            </p:nvSpPr>
            <p:spPr>
              <a:xfrm>
                <a:off x="6417" y="4694"/>
                <a:ext cx="2193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rIns="0" numCol="1" spcCol="0" rtlCol="0" fromWordArt="0" anchor="ctr" anchorCtr="0" forceAA="0" compatLnSpc="1">
                <a:noAutofit/>
              </a:bodyPr>
              <a:lstStyle/>
              <a:p>
                <a:pPr lvl="0" algn="ctr" defTabSz="1219200" eaLnBrk="0" fontAlgn="base" hangingPunct="0">
                  <a:buClrTx/>
                  <a:buSzTx/>
                  <a:buFontTx/>
                  <a:defRPr/>
                </a:pPr>
                <a:r>
                  <a:rPr lang="zh-CN" altLang="en-US" sz="135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争先创优屡获佳绩</a:t>
                </a:r>
                <a:endParaRPr lang="zh-CN" altLang="en-US" sz="1350" b="1" kern="0" noProof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黑体" panose="02010609060101010101" pitchFamily="49" charset="-122"/>
                  <a:sym typeface="+mn-ea"/>
                </a:endParaRPr>
              </a:p>
            </p:txBody>
          </p:sp>
        </p:grpSp>
      </p:grpSp>
      <p:pic>
        <p:nvPicPr>
          <p:cNvPr id="86" name="图片 85" descr="331406e22d4e58cb11106a84d89431a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43389" y="4229576"/>
            <a:ext cx="869156" cy="560546"/>
          </a:xfrm>
          <a:prstGeom prst="roundRect">
            <a:avLst>
              <a:gd name="adj" fmla="val 0"/>
            </a:avLst>
          </a:prstGeom>
          <a:ln>
            <a:noFill/>
          </a:ln>
        </p:spPr>
      </p:pic>
      <p:sp>
        <p:nvSpPr>
          <p:cNvPr id="87" name="文本框 86"/>
          <p:cNvSpPr txBox="1"/>
          <p:nvPr>
            <p:custDataLst>
              <p:tags r:id="rId4"/>
            </p:custDataLst>
          </p:nvPr>
        </p:nvSpPr>
        <p:spPr>
          <a:xfrm>
            <a:off x="287655" y="1733074"/>
            <a:ext cx="2972276" cy="227695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Font typeface="Wingdings" panose="05000000000000000000" charset="0"/>
              <a:buChar char="u"/>
            </a:pPr>
            <a:r>
              <a:rPr lang="zh-CN" altLang="zh-CN" sz="105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</a:t>
            </a:r>
            <a:r>
              <a:rPr lang="en-US" altLang="zh-CN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全国文明单位</a:t>
            </a:r>
            <a:r>
              <a:rPr lang="en-US" altLang="zh-CN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endParaRPr lang="zh-CN" altLang="en-US" sz="105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05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获评全国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“工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人先锋号”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05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“中央企业基层示范党支部”</a:t>
            </a:r>
            <a:endParaRPr lang="zh-CN" altLang="en-US" sz="1050" dirty="0" err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05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“浙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江省五一劳动奖状”</a:t>
            </a:r>
            <a:endParaRPr lang="zh-CN" altLang="en-US" sz="1050" dirty="0" err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05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“首批浙江省企业文化中心”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05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“中国移动企业文化示范基地”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05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“创建全国文明城市工作先进集体”</a:t>
            </a:r>
            <a:endParaRPr lang="en-US" altLang="zh-CN" sz="105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05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“中央企业五四红旗团支部”</a:t>
            </a:r>
            <a:endParaRPr lang="en-US" altLang="zh-CN" sz="105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>
                <a:srgbClr val="0085CE"/>
              </a:buClr>
              <a:buSzTx/>
              <a:buFont typeface="Wingdings" panose="05000000000000000000" charset="0"/>
              <a:buChar char="u"/>
            </a:pPr>
            <a:r>
              <a:rPr lang="zh-CN" altLang="zh-CN" sz="1050" spc="-4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获评</a:t>
            </a:r>
            <a:r>
              <a:rPr lang="zh-CN" altLang="en-US" sz="105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“全国优秀质量信得过班组”</a:t>
            </a:r>
            <a:endParaRPr lang="en-US" altLang="zh-CN" sz="105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19" name="图片 118" descr="集体1.全国文明单位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3265646" y="1852136"/>
            <a:ext cx="1163479" cy="789146"/>
          </a:xfrm>
          <a:prstGeom prst="rect">
            <a:avLst/>
          </a:prstGeom>
          <a:ln>
            <a:noFill/>
          </a:ln>
        </p:spPr>
      </p:pic>
      <p:pic>
        <p:nvPicPr>
          <p:cNvPr id="123" name="图片 122" descr="集体3.全国工人先锋号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/>
          <a:srcRect l="-293"/>
          <a:stretch>
            <a:fillRect/>
          </a:stretch>
        </p:blipFill>
        <p:spPr>
          <a:xfrm rot="16200000">
            <a:off x="3461861" y="2738914"/>
            <a:ext cx="766763" cy="1159193"/>
          </a:xfrm>
          <a:prstGeom prst="rect">
            <a:avLst/>
          </a:prstGeom>
          <a:ln>
            <a:noFill/>
          </a:ln>
        </p:spPr>
      </p:pic>
      <p:pic>
        <p:nvPicPr>
          <p:cNvPr id="124" name="图片 12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3265646" y="3995738"/>
            <a:ext cx="1159193" cy="793433"/>
          </a:xfrm>
          <a:prstGeom prst="rect">
            <a:avLst/>
          </a:prstGeom>
          <a:ln>
            <a:noFill/>
          </a:ln>
        </p:spPr>
      </p:pic>
      <p:pic>
        <p:nvPicPr>
          <p:cNvPr id="126" name="图片 125" descr="集体8.浙江省企业文化建设示范单位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/>
          <a:srcRect/>
          <a:stretch>
            <a:fillRect/>
          </a:stretch>
        </p:blipFill>
        <p:spPr>
          <a:xfrm>
            <a:off x="1388269" y="4229576"/>
            <a:ext cx="834390" cy="559594"/>
          </a:xfrm>
          <a:prstGeom prst="rect">
            <a:avLst/>
          </a:prstGeom>
          <a:ln>
            <a:noFill/>
          </a:ln>
        </p:spPr>
      </p:pic>
      <p:pic>
        <p:nvPicPr>
          <p:cNvPr id="127" name="图片 126" descr="集团企业文化示范单位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2298383" y="4229576"/>
            <a:ext cx="871061" cy="568166"/>
          </a:xfrm>
          <a:prstGeom prst="rect">
            <a:avLst/>
          </a:prstGeom>
          <a:ln>
            <a:noFill/>
          </a:ln>
        </p:spPr>
      </p:pic>
      <p:grpSp>
        <p:nvGrpSpPr>
          <p:cNvPr id="42" name="组合 41"/>
          <p:cNvGrpSpPr/>
          <p:nvPr/>
        </p:nvGrpSpPr>
        <p:grpSpPr>
          <a:xfrm>
            <a:off x="4655820" y="1383506"/>
            <a:ext cx="4208621" cy="3525731"/>
            <a:chOff x="10313" y="4152"/>
            <a:chExt cx="4565" cy="4257"/>
          </a:xfrm>
        </p:grpSpPr>
        <p:sp>
          <p:nvSpPr>
            <p:cNvPr id="43" name="矩形 42"/>
            <p:cNvSpPr/>
            <p:nvPr>
              <p:custDataLst>
                <p:tags r:id="rId17"/>
              </p:custDataLst>
            </p:nvPr>
          </p:nvSpPr>
          <p:spPr>
            <a:xfrm>
              <a:off x="10313" y="4230"/>
              <a:ext cx="4565" cy="4179"/>
            </a:xfrm>
            <a:prstGeom prst="rect">
              <a:avLst/>
            </a:prstGeom>
            <a:noFill/>
            <a:ln w="3175" cmpd="sng">
              <a:solidFill>
                <a:srgbClr val="BCDAEF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0955" y="4152"/>
              <a:ext cx="3280" cy="411"/>
              <a:chOff x="5845" y="4694"/>
              <a:chExt cx="3276" cy="382"/>
            </a:xfrm>
            <a:solidFill>
              <a:srgbClr val="BCDAEF"/>
            </a:solidFill>
          </p:grpSpPr>
          <p:grpSp>
            <p:nvGrpSpPr>
              <p:cNvPr id="45" name="组合 44"/>
              <p:cNvGrpSpPr/>
              <p:nvPr/>
            </p:nvGrpSpPr>
            <p:grpSpPr>
              <a:xfrm>
                <a:off x="5845" y="4694"/>
                <a:ext cx="3277" cy="383"/>
                <a:chOff x="12150" y="1698"/>
                <a:chExt cx="4624" cy="567"/>
              </a:xfrm>
              <a:grpFill/>
            </p:grpSpPr>
            <p:sp>
              <p:nvSpPr>
                <p:cNvPr id="46" name="梯形 4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2150" y="1698"/>
                  <a:ext cx="4625" cy="111"/>
                </a:xfrm>
                <a:prstGeom prst="trapezoid">
                  <a:avLst>
                    <a:gd name="adj" fmla="val 107452"/>
                  </a:avLst>
                </a:prstGeom>
                <a:solidFill>
                  <a:srgbClr val="1091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cs typeface="+mn-cs"/>
                    <a:sym typeface="字魂105号-简雅黑" panose="00000500000000000000" pitchFamily="2" charset="-122"/>
                  </a:endParaRPr>
                </a:p>
              </p:txBody>
            </p:sp>
            <p:sp>
              <p:nvSpPr>
                <p:cNvPr id="47" name="流程图: 离页连接符 46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2413" y="1711"/>
                  <a:ext cx="4099" cy="554"/>
                </a:xfrm>
                <a:prstGeom prst="flowChartOffpageConnector">
                  <a:avLst/>
                </a:prstGeom>
                <a:solidFill>
                  <a:srgbClr val="1091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cs typeface="+mn-cs"/>
                    <a:sym typeface="字魂105号-简雅黑" panose="00000500000000000000" pitchFamily="2" charset="-122"/>
                  </a:endParaRPr>
                </a:p>
              </p:txBody>
            </p:sp>
          </p:grpSp>
          <p:sp>
            <p:nvSpPr>
              <p:cNvPr id="48" name="TextBox 31"/>
              <p:cNvSpPr/>
              <p:nvPr>
                <p:custDataLst>
                  <p:tags r:id="rId18"/>
                </p:custDataLst>
              </p:nvPr>
            </p:nvSpPr>
            <p:spPr>
              <a:xfrm>
                <a:off x="6417" y="4694"/>
                <a:ext cx="2193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rIns="0" numCol="1" spcCol="0" rtlCol="0" fromWordArt="0" anchor="ctr" anchorCtr="0" forceAA="0" compatLnSpc="1">
                <a:noAutofit/>
              </a:bodyPr>
              <a:lstStyle/>
              <a:p>
                <a:pPr lvl="0" algn="ctr" defTabSz="1219200" eaLnBrk="0" fontAlgn="base" hangingPunct="0">
                  <a:buClrTx/>
                  <a:buSzTx/>
                  <a:buFontTx/>
                  <a:defRPr/>
                </a:pPr>
                <a:r>
                  <a:rPr lang="zh-CN" altLang="en-US" sz="135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传承发扬企业文化</a:t>
                </a:r>
                <a:endParaRPr lang="zh-CN" altLang="en-US" sz="1350" b="1" kern="0" noProof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黑体" panose="02010609060101010101" pitchFamily="49" charset="-122"/>
                  <a:sym typeface="+mn-ea"/>
                </a:endParaRPr>
              </a:p>
            </p:txBody>
          </p:sp>
        </p:grpSp>
      </p:grpSp>
      <p:sp>
        <p:nvSpPr>
          <p:cNvPr id="49" name="矩形: 圆角 24"/>
          <p:cNvSpPr/>
          <p:nvPr>
            <p:custDataLst>
              <p:tags r:id="rId10"/>
            </p:custDataLst>
          </p:nvPr>
        </p:nvSpPr>
        <p:spPr>
          <a:xfrm>
            <a:off x="4785836" y="1799273"/>
            <a:ext cx="1609725" cy="510064"/>
          </a:xfrm>
          <a:prstGeom prst="roundRect">
            <a:avLst>
              <a:gd name="adj" fmla="val 13039"/>
            </a:avLst>
          </a:prstGeom>
          <a:noFill/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R="0" lvl="0" algn="ctr" defTabSz="12192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集团公司</a:t>
            </a:r>
          </a:p>
          <a:p>
            <a:pPr marR="0" lvl="0" algn="ctr" defTabSz="12192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新定位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660833" y="1804988"/>
            <a:ext cx="2217896" cy="50053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 defTabSz="12192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50" b="1" dirty="0">
                <a:solidFill>
                  <a:srgbClr val="0085CE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+mn-ea"/>
              </a:rPr>
              <a:t>世界一流信息服务科技创新公司</a:t>
            </a:r>
          </a:p>
        </p:txBody>
      </p:sp>
      <p:sp>
        <p:nvSpPr>
          <p:cNvPr id="51" name="矩形: 圆角 24"/>
          <p:cNvSpPr/>
          <p:nvPr>
            <p:custDataLst>
              <p:tags r:id="rId11"/>
            </p:custDataLst>
          </p:nvPr>
        </p:nvSpPr>
        <p:spPr>
          <a:xfrm>
            <a:off x="4778693" y="2385536"/>
            <a:ext cx="1623060" cy="510064"/>
          </a:xfrm>
          <a:prstGeom prst="roundRect">
            <a:avLst>
              <a:gd name="adj" fmla="val 13039"/>
            </a:avLst>
          </a:prstGeom>
          <a:noFill/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algn="ctr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浙江公司</a:t>
            </a:r>
          </a:p>
          <a:p>
            <a:pPr marL="0" marR="0" lvl="0" algn="ctr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新目标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6764417" y="2386489"/>
            <a:ext cx="2104549" cy="5124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 defTabSz="12192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50" b="1" dirty="0">
                <a:solidFill>
                  <a:srgbClr val="0085CE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创“一流企业”标杆 </a:t>
            </a:r>
          </a:p>
          <a:p>
            <a:pPr algn="ctr" defTabSz="121920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50" b="1" dirty="0">
                <a:solidFill>
                  <a:srgbClr val="0085CE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做“两个先行”表率</a:t>
            </a:r>
          </a:p>
        </p:txBody>
      </p:sp>
      <p:sp>
        <p:nvSpPr>
          <p:cNvPr id="55" name="矩形: 圆角 24"/>
          <p:cNvSpPr/>
          <p:nvPr>
            <p:custDataLst>
              <p:tags r:id="rId12"/>
            </p:custDataLst>
          </p:nvPr>
        </p:nvSpPr>
        <p:spPr>
          <a:xfrm>
            <a:off x="5291138" y="2934653"/>
            <a:ext cx="1110139" cy="510300"/>
          </a:xfrm>
          <a:prstGeom prst="roundRect">
            <a:avLst>
              <a:gd name="adj" fmla="val 13039"/>
            </a:avLst>
          </a:prstGeom>
          <a:solidFill>
            <a:schemeClr val="bg1"/>
          </a:solidFill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中国移动</a:t>
            </a: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核心价值观</a:t>
            </a:r>
          </a:p>
        </p:txBody>
      </p:sp>
      <p:sp>
        <p:nvSpPr>
          <p:cNvPr id="56" name="矩形: 圆角 24"/>
          <p:cNvSpPr/>
          <p:nvPr>
            <p:custDataLst>
              <p:tags r:id="rId13"/>
            </p:custDataLst>
          </p:nvPr>
        </p:nvSpPr>
        <p:spPr>
          <a:xfrm>
            <a:off x="5291138" y="3526868"/>
            <a:ext cx="1110139" cy="509111"/>
          </a:xfrm>
          <a:prstGeom prst="roundRect">
            <a:avLst>
              <a:gd name="adj" fmla="val 13039"/>
            </a:avLst>
          </a:prstGeom>
          <a:solidFill>
            <a:schemeClr val="bg1"/>
          </a:solidFill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浙江公司</a:t>
            </a: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工作文化</a:t>
            </a:r>
          </a:p>
        </p:txBody>
      </p:sp>
      <p:sp>
        <p:nvSpPr>
          <p:cNvPr id="57" name="Line 73"/>
          <p:cNvSpPr>
            <a:spLocks noChangeShapeType="1"/>
          </p:cNvSpPr>
          <p:nvPr/>
        </p:nvSpPr>
        <p:spPr bwMode="auto">
          <a:xfrm>
            <a:off x="6401276" y="3160395"/>
            <a:ext cx="270034" cy="476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32"/>
          <a:srcRect/>
          <a:stretch>
            <a:fillRect/>
          </a:stretch>
        </p:blipFill>
        <p:spPr>
          <a:xfrm>
            <a:off x="6770609" y="2998946"/>
            <a:ext cx="2092166" cy="314801"/>
          </a:xfrm>
          <a:prstGeom prst="rect">
            <a:avLst/>
          </a:prstGeom>
        </p:spPr>
      </p:pic>
      <p:sp>
        <p:nvSpPr>
          <p:cNvPr id="60" name="Line 73"/>
          <p:cNvSpPr>
            <a:spLocks noChangeShapeType="1"/>
          </p:cNvSpPr>
          <p:nvPr/>
        </p:nvSpPr>
        <p:spPr bwMode="auto">
          <a:xfrm>
            <a:off x="6413659" y="3789045"/>
            <a:ext cx="270034" cy="476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39176" y="3587115"/>
            <a:ext cx="2155031" cy="348615"/>
          </a:xfrm>
          <a:prstGeom prst="rect">
            <a:avLst/>
          </a:prstGeom>
        </p:spPr>
      </p:pic>
      <p:sp>
        <p:nvSpPr>
          <p:cNvPr id="63" name="矩形: 圆角 24"/>
          <p:cNvSpPr/>
          <p:nvPr>
            <p:custDataLst>
              <p:tags r:id="rId14"/>
            </p:custDataLst>
          </p:nvPr>
        </p:nvSpPr>
        <p:spPr>
          <a:xfrm>
            <a:off x="5291138" y="4268865"/>
            <a:ext cx="1110139" cy="509111"/>
          </a:xfrm>
          <a:prstGeom prst="roundRect">
            <a:avLst>
              <a:gd name="adj" fmla="val 13039"/>
            </a:avLst>
          </a:prstGeom>
          <a:solidFill>
            <a:schemeClr val="bg1"/>
          </a:solidFill>
          <a:ln w="6350" cap="flat">
            <a:solidFill>
              <a:schemeClr val="tx2">
                <a:lumMod val="20000"/>
                <a:lumOff val="80000"/>
              </a:schemeClr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normalizeH="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嘉兴公司</a:t>
            </a: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normalizeH="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执行文化</a:t>
            </a:r>
          </a:p>
        </p:txBody>
      </p:sp>
      <p:sp>
        <p:nvSpPr>
          <p:cNvPr id="65" name="Line 73"/>
          <p:cNvSpPr>
            <a:spLocks noChangeShapeType="1"/>
          </p:cNvSpPr>
          <p:nvPr/>
        </p:nvSpPr>
        <p:spPr bwMode="auto">
          <a:xfrm>
            <a:off x="6413659" y="4531043"/>
            <a:ext cx="270034" cy="476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8" name="矩形: 圆角 24"/>
          <p:cNvSpPr/>
          <p:nvPr>
            <p:custDataLst>
              <p:tags r:id="rId15"/>
            </p:custDataLst>
          </p:nvPr>
        </p:nvSpPr>
        <p:spPr>
          <a:xfrm>
            <a:off x="4791551" y="2935129"/>
            <a:ext cx="384810" cy="1899761"/>
          </a:xfrm>
          <a:prstGeom prst="roundRect">
            <a:avLst>
              <a:gd name="adj" fmla="val 13039"/>
            </a:avLst>
          </a:prstGeom>
          <a:solidFill>
            <a:srgbClr val="C00000"/>
          </a:solidFill>
          <a:ln w="6350" cap="flat">
            <a:noFill/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normalizeH="0" baseline="0" dirty="0">
                <a:solidFill>
                  <a:srgbClr val="FFFF00"/>
                </a:solidFill>
                <a:latin typeface="华康行楷体 W5" panose="03000509000000000000" charset="-122"/>
                <a:ea typeface="华康行楷体 W5" panose="03000509000000000000" charset="-122"/>
                <a:cs typeface="Arial" panose="020B0604020202020204" pitchFamily="34" charset="0"/>
              </a:rPr>
              <a:t>文化体系</a:t>
            </a:r>
          </a:p>
        </p:txBody>
      </p:sp>
      <p:sp>
        <p:nvSpPr>
          <p:cNvPr id="69" name="Line 73"/>
          <p:cNvSpPr>
            <a:spLocks noChangeShapeType="1"/>
          </p:cNvSpPr>
          <p:nvPr/>
        </p:nvSpPr>
        <p:spPr bwMode="auto">
          <a:xfrm>
            <a:off x="6418898" y="2052161"/>
            <a:ext cx="270034" cy="476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0" name="Line 73"/>
          <p:cNvSpPr>
            <a:spLocks noChangeShapeType="1"/>
          </p:cNvSpPr>
          <p:nvPr/>
        </p:nvSpPr>
        <p:spPr bwMode="auto">
          <a:xfrm>
            <a:off x="6419850" y="2643664"/>
            <a:ext cx="270034" cy="476"/>
          </a:xfrm>
          <a:prstGeom prst="line">
            <a:avLst/>
          </a:prstGeom>
          <a:noFill/>
          <a:ln w="6350">
            <a:solidFill>
              <a:schemeClr val="bg1">
                <a:lumMod val="75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088981" y="4007168"/>
            <a:ext cx="1455420" cy="868204"/>
          </a:xfrm>
          <a:prstGeom prst="rect">
            <a:avLst/>
          </a:prstGeom>
        </p:spPr>
      </p:pic>
      <p:sp>
        <p:nvSpPr>
          <p:cNvPr id="3" name="标题 1"/>
          <p:cNvSpPr txBox="1"/>
          <p:nvPr>
            <p:custDataLst>
              <p:tags r:id="rId16"/>
            </p:custDataLst>
          </p:nvPr>
        </p:nvSpPr>
        <p:spPr>
          <a:xfrm>
            <a:off x="305753" y="184309"/>
            <a:ext cx="7735253" cy="343853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嘉兴移动概况</a:t>
            </a:r>
            <a:r>
              <a:rPr lang="en-US" altLang="zh-CN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zh-CN" altLang="en-US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企业文化</a:t>
            </a:r>
            <a:r>
              <a:rPr lang="en-US" altLang="zh-CN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&amp;</a:t>
            </a:r>
            <a:r>
              <a:rPr lang="zh-CN" altLang="en-US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荣誉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51460" y="172403"/>
            <a:ext cx="2590165" cy="344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嘉兴</a:t>
            </a:r>
            <a:r>
              <a:rPr kumimoji="1" lang="zh-CN" altLang="en-US" sz="1650" b="1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移动</a:t>
            </a: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概况 | 基础能力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00355" y="2804795"/>
            <a:ext cx="8463280" cy="189484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6">
                <a:lumMod val="20000"/>
                <a:lumOff val="80000"/>
                <a:alpha val="51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20"/>
          <p:cNvSpPr txBox="1"/>
          <p:nvPr/>
        </p:nvSpPr>
        <p:spPr>
          <a:xfrm>
            <a:off x="1143953" y="2654618"/>
            <a:ext cx="6755606" cy="299084"/>
          </a:xfrm>
          <a:prstGeom prst="roundRect">
            <a:avLst>
              <a:gd name="adj" fmla="val 0"/>
            </a:avLst>
          </a:prstGeom>
          <a:solidFill>
            <a:srgbClr val="BCDAE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通道能力</a:t>
            </a:r>
          </a:p>
        </p:txBody>
      </p:sp>
      <p:sp>
        <p:nvSpPr>
          <p:cNvPr id="12" name="TextBox 1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448901" y="3668236"/>
            <a:ext cx="1618774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198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7156133" y="3672046"/>
            <a:ext cx="1203484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35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en-US" altLang="zh-CN" sz="985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86/88</a:t>
            </a:r>
            <a:r>
              <a:rPr lang="zh-CN" altLang="en-US" sz="985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团队</a:t>
            </a:r>
          </a:p>
        </p:txBody>
      </p:sp>
      <p:sp>
        <p:nvSpPr>
          <p:cNvPr id="14" name="TextBox 1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462395" y="3152140"/>
            <a:ext cx="195834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lang="zh-CN" altLang="en-US" sz="99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政企业务经理</a:t>
            </a:r>
            <a:endParaRPr kumimoji="0" lang="zh-CN" altLang="en-US" sz="990" b="0" i="0" u="non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TextBox 1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32610" y="3211036"/>
            <a:ext cx="1618774" cy="252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5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营业厅经理</a:t>
            </a:r>
            <a:r>
              <a:rPr lang="en-US" altLang="zh-CN" sz="675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105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102</a:t>
            </a:r>
            <a:r>
              <a:rPr lang="zh-CN" altLang="en-US" sz="67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TextBox 1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65125" y="3167380"/>
            <a:ext cx="146177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114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营业厅</a:t>
            </a:r>
          </a:p>
        </p:txBody>
      </p:sp>
      <p:sp>
        <p:nvSpPr>
          <p:cNvPr id="20" name="TextBox 16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59569" y="3674269"/>
            <a:ext cx="1618774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1021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社会渠道</a:t>
            </a:r>
          </a:p>
        </p:txBody>
      </p:sp>
      <p:sp>
        <p:nvSpPr>
          <p:cNvPr id="21" name="TextBox 16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0999" y="4170680"/>
            <a:ext cx="2579846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605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99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市场直销队伍（有销人力）</a:t>
            </a: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1821180" y="3708559"/>
            <a:ext cx="1005840" cy="2527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5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社会渠道经理</a:t>
            </a:r>
            <a:r>
              <a:rPr lang="en-US" altLang="zh-CN" sz="105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67</a:t>
            </a:r>
            <a:r>
              <a:rPr lang="zh-CN" altLang="en-US" sz="67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endParaRPr lang="zh-CN" altLang="en-US" sz="675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639503" y="4210209"/>
            <a:ext cx="2119313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117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lang="zh-CN" altLang="en-US" sz="99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政企直销队伍</a:t>
            </a:r>
            <a:endParaRPr kumimoji="0" lang="zh-CN" altLang="en-US" sz="990" b="0" i="0" u="none" strike="noStrike" kern="1200" cap="none" spc="0" normalizeH="0" baseline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TextBox 16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660458" y="3670935"/>
            <a:ext cx="181356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65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</a:t>
            </a: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解决方案经理</a:t>
            </a:r>
          </a:p>
        </p:txBody>
      </p:sp>
      <p:sp>
        <p:nvSpPr>
          <p:cNvPr id="25" name="TextBox 16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624739" y="3181509"/>
            <a:ext cx="2273618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172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99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集团</a:t>
            </a:r>
            <a:r>
              <a:rPr kumimoji="0" lang="zh-CN" altLang="en-US" sz="99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客户经理（自有）</a:t>
            </a:r>
          </a:p>
        </p:txBody>
      </p:sp>
      <p:sp>
        <p:nvSpPr>
          <p:cNvPr id="26" name="圆角矩形 25"/>
          <p:cNvSpPr/>
          <p:nvPr>
            <p:custDataLst>
              <p:tags r:id="rId14"/>
            </p:custDataLst>
          </p:nvPr>
        </p:nvSpPr>
        <p:spPr>
          <a:xfrm>
            <a:off x="296545" y="983615"/>
            <a:ext cx="8463280" cy="146685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1">
                <a:lumMod val="20000"/>
                <a:lumOff val="80000"/>
                <a:alpha val="51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0"/>
          <p:cNvSpPr txBox="1"/>
          <p:nvPr>
            <p:custDataLst>
              <p:tags r:id="rId15"/>
            </p:custDataLst>
          </p:nvPr>
        </p:nvSpPr>
        <p:spPr>
          <a:xfrm>
            <a:off x="1143953" y="812165"/>
            <a:ext cx="6755606" cy="299084"/>
          </a:xfrm>
          <a:prstGeom prst="roundRect">
            <a:avLst>
              <a:gd name="adj" fmla="val 0"/>
            </a:avLst>
          </a:prstGeom>
          <a:solidFill>
            <a:srgbClr val="BCDAE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网络能力</a:t>
            </a:r>
          </a:p>
        </p:txBody>
      </p:sp>
      <p:sp>
        <p:nvSpPr>
          <p:cNvPr id="28" name="TextBox 2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177598" y="1890078"/>
            <a:ext cx="2347436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6400</a:t>
            </a:r>
            <a:r>
              <a:rPr lang="en-US" altLang="zh-CN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       </a:t>
            </a:r>
            <a:r>
              <a:rPr lang="zh-CN" altLang="en-US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城域网出口</a:t>
            </a:r>
            <a:r>
              <a:rPr lang="zh-CN" altLang="en-US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带宽</a:t>
            </a:r>
          </a:p>
        </p:txBody>
      </p:sp>
      <p:sp>
        <p:nvSpPr>
          <p:cNvPr id="29" name="TextBox 34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132689" y="1315194"/>
            <a:ext cx="2218202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35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72.2</a:t>
            </a:r>
            <a:r>
              <a:rPr lang="en-US" altLang="zh-CN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10GPON</a:t>
            </a:r>
            <a:r>
              <a:rPr lang="zh-CN" altLang="en-US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口占比</a:t>
            </a:r>
          </a:p>
        </p:txBody>
      </p:sp>
      <p:sp>
        <p:nvSpPr>
          <p:cNvPr id="30" name="TextBox 27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276600" y="1876425"/>
            <a:ext cx="2586990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7.23</a:t>
            </a:r>
            <a:r>
              <a:rPr lang="en-US" altLang="zh-CN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户</a:t>
            </a:r>
            <a:r>
              <a:rPr lang="en-US" altLang="zh-CN" sz="13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千兆</a:t>
            </a:r>
            <a:r>
              <a:rPr lang="en-US" altLang="zh-CN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PON</a:t>
            </a:r>
            <a:r>
              <a:rPr lang="zh-CN" altLang="en-US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口下平均千兆用户数</a:t>
            </a:r>
          </a:p>
        </p:txBody>
      </p:sp>
      <p:sp>
        <p:nvSpPr>
          <p:cNvPr id="32" name="TextBox 3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77235" y="1327785"/>
            <a:ext cx="2114550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35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263.4万</a:t>
            </a:r>
            <a:r>
              <a:rPr lang="en-US" altLang="zh-CN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户</a:t>
            </a:r>
            <a:r>
              <a:rPr lang="en-US" altLang="zh-CN" sz="99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有线宽带覆盖数</a:t>
            </a:r>
          </a:p>
        </p:txBody>
      </p:sp>
      <p:sp>
        <p:nvSpPr>
          <p:cNvPr id="40" name="TextBox 23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76017" y="1872217"/>
            <a:ext cx="2134235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35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2.55万</a:t>
            </a:r>
            <a:r>
              <a:rPr lang="en-US" altLang="zh-CN" sz="9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99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99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4G基站</a:t>
            </a:r>
          </a:p>
        </p:txBody>
      </p:sp>
      <p:sp>
        <p:nvSpPr>
          <p:cNvPr id="42" name="TextBox 29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76017" y="1327128"/>
            <a:ext cx="2031207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35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1.39</a:t>
            </a:r>
            <a:r>
              <a:rPr lang="zh-CN" altLang="en-US" sz="135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en-US" altLang="zh-CN" sz="9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99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990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5G基站 </a:t>
            </a:r>
          </a:p>
        </p:txBody>
      </p:sp>
      <p:sp>
        <p:nvSpPr>
          <p:cNvPr id="43" name="TextBox 16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440964" y="4191635"/>
            <a:ext cx="2579846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10.8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zh-CN" altLang="en-US" sz="95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99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政企集团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>
            <p:custDataLst>
              <p:tags r:id="rId2"/>
            </p:custDataLst>
          </p:nvPr>
        </p:nvSpPr>
        <p:spPr>
          <a:xfrm>
            <a:off x="305753" y="184309"/>
            <a:ext cx="7735253" cy="343853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嘉兴移动概况</a:t>
            </a:r>
            <a:r>
              <a:rPr lang="en-US" altLang="zh-CN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| </a:t>
            </a:r>
            <a:r>
              <a:rPr lang="zh-CN" altLang="en-US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生产经营概况（</a:t>
            </a:r>
            <a:r>
              <a:rPr lang="en-US" altLang="zh-CN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1/3</a:t>
            </a:r>
            <a:r>
              <a:rPr lang="zh-CN" altLang="en-US" sz="165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281781" y="620713"/>
            <a:ext cx="8459153" cy="100107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26670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xmlns="" val="200" checksum="2103538627"/>
                </a:ext>
              </a:extLst>
            </a:pPr>
            <a:r>
              <a:rPr lang="en-US" altLang="zh-CN" sz="10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今年以来，面对复杂严峻的市场环境，</a:t>
            </a:r>
            <a:r>
              <a:rPr lang="zh-CN" sz="105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嘉兴移动深化落实省公司“一一六八”战略实施思路，围绕年初制定的“一一三六”年度行动计划，扎实推进年度各项重点工作，</a:t>
            </a:r>
            <a:r>
              <a:rPr lang="en-US" altLang="zh-CN" sz="105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2024</a:t>
            </a:r>
            <a:r>
              <a:rPr lang="zh-CN" altLang="en-US" sz="105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年全年收入</a:t>
            </a:r>
            <a:r>
              <a:rPr lang="en-US" altLang="zh-CN" sz="105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59</a:t>
            </a:r>
            <a:r>
              <a:rPr lang="zh-CN" altLang="en-US" sz="105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亿，利润</a:t>
            </a:r>
            <a:r>
              <a:rPr lang="en-US" altLang="zh-CN" sz="105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21</a:t>
            </a:r>
            <a:r>
              <a:rPr lang="zh-CN" altLang="en-US" sz="105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亿</a:t>
            </a:r>
            <a:r>
              <a:rPr lang="zh-CN" sz="105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。</a:t>
            </a:r>
            <a:r>
              <a:rPr lang="en-US" altLang="zh-CN" sz="105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我们以“业务前端满意、广大客户满意”为目标，勤练内功、加快转型，深入推进网络支撑前移</a:t>
            </a:r>
            <a:r>
              <a:rPr lang="zh-CN" altLang="en-US" sz="105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，做好客户服务工作</a:t>
            </a:r>
            <a:r>
              <a:rPr lang="en-US" altLang="zh-CN" sz="1050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。</a:t>
            </a:r>
          </a:p>
          <a:p>
            <a:pPr indent="26670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xmlns="" val="200" checksum="2103538627"/>
                </a:ext>
              </a:extLst>
            </a:pPr>
            <a:endParaRPr lang="zh-CN" sz="105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ea"/>
            </a:endParaRPr>
          </a:p>
          <a:p>
            <a:pPr indent="26670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xmlns="" val="200" checksum="2103538627"/>
                </a:ext>
              </a:extLst>
            </a:pPr>
            <a:endParaRPr lang="en-US" altLang="zh-CN" sz="1050" dirty="0">
              <a:latin typeface="Arial" panose="020B0604020202020204" pitchFamily="34" charset="0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3" name="矩形: 圆角 75"/>
          <p:cNvSpPr/>
          <p:nvPr>
            <p:custDataLst>
              <p:tags r:id="rId4"/>
            </p:custDataLst>
          </p:nvPr>
        </p:nvSpPr>
        <p:spPr>
          <a:xfrm>
            <a:off x="409575" y="1519555"/>
            <a:ext cx="8402955" cy="3237230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135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82130" y="3247390"/>
            <a:ext cx="12623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10GPON</a:t>
            </a:r>
            <a:r>
              <a:rPr lang="zh-CN" altLang="en-US" sz="9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端口占比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194334" y="3247073"/>
            <a:ext cx="1128713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千兆接入能力</a:t>
            </a:r>
          </a:p>
        </p:txBody>
      </p:sp>
      <p:graphicFrame>
        <p:nvGraphicFramePr>
          <p:cNvPr id="24" name="图表 23"/>
          <p:cNvGraphicFramePr/>
          <p:nvPr/>
        </p:nvGraphicFramePr>
        <p:xfrm>
          <a:off x="6471761" y="3525679"/>
          <a:ext cx="2091690" cy="97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6" name="图表 25"/>
          <p:cNvGraphicFramePr/>
          <p:nvPr/>
        </p:nvGraphicFramePr>
        <p:xfrm>
          <a:off x="4958715" y="3387725"/>
          <a:ext cx="1297940" cy="1088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27" name="任意多边形 63"/>
          <p:cNvSpPr/>
          <p:nvPr/>
        </p:nvSpPr>
        <p:spPr>
          <a:xfrm rot="1427568">
            <a:off x="7465695" y="3877151"/>
            <a:ext cx="226695" cy="209074"/>
          </a:xfrm>
          <a:custGeom>
            <a:avLst/>
            <a:gdLst>
              <a:gd name="T0" fmla="*/ 734 w 734"/>
              <a:gd name="T1" fmla="*/ 536 h 1176"/>
              <a:gd name="T2" fmla="*/ 710 w 734"/>
              <a:gd name="T3" fmla="*/ 520 h 1176"/>
              <a:gd name="T4" fmla="*/ 684 w 734"/>
              <a:gd name="T5" fmla="*/ 506 h 1176"/>
              <a:gd name="T6" fmla="*/ 660 w 734"/>
              <a:gd name="T7" fmla="*/ 494 h 1176"/>
              <a:gd name="T8" fmla="*/ 638 w 734"/>
              <a:gd name="T9" fmla="*/ 482 h 1176"/>
              <a:gd name="T10" fmla="*/ 608 w 734"/>
              <a:gd name="T11" fmla="*/ 470 h 1176"/>
              <a:gd name="T12" fmla="*/ 584 w 734"/>
              <a:gd name="T13" fmla="*/ 462 h 1176"/>
              <a:gd name="T14" fmla="*/ 570 w 734"/>
              <a:gd name="T15" fmla="*/ 456 h 1176"/>
              <a:gd name="T16" fmla="*/ 564 w 734"/>
              <a:gd name="T17" fmla="*/ 456 h 1176"/>
              <a:gd name="T18" fmla="*/ 534 w 734"/>
              <a:gd name="T19" fmla="*/ 552 h 1176"/>
              <a:gd name="T20" fmla="*/ 518 w 734"/>
              <a:gd name="T21" fmla="*/ 594 h 1176"/>
              <a:gd name="T22" fmla="*/ 474 w 734"/>
              <a:gd name="T23" fmla="*/ 696 h 1176"/>
              <a:gd name="T24" fmla="*/ 446 w 734"/>
              <a:gd name="T25" fmla="*/ 750 h 1176"/>
              <a:gd name="T26" fmla="*/ 374 w 734"/>
              <a:gd name="T27" fmla="*/ 868 h 1176"/>
              <a:gd name="T28" fmla="*/ 328 w 734"/>
              <a:gd name="T29" fmla="*/ 926 h 1176"/>
              <a:gd name="T30" fmla="*/ 278 w 734"/>
              <a:gd name="T31" fmla="*/ 982 h 1176"/>
              <a:gd name="T32" fmla="*/ 250 w 734"/>
              <a:gd name="T33" fmla="*/ 1012 h 1176"/>
              <a:gd name="T34" fmla="*/ 188 w 734"/>
              <a:gd name="T35" fmla="*/ 1064 h 1176"/>
              <a:gd name="T36" fmla="*/ 118 w 734"/>
              <a:gd name="T37" fmla="*/ 1114 h 1176"/>
              <a:gd name="T38" fmla="*/ 40 w 734"/>
              <a:gd name="T39" fmla="*/ 1158 h 1176"/>
              <a:gd name="T40" fmla="*/ 0 w 734"/>
              <a:gd name="T41" fmla="*/ 1176 h 1176"/>
              <a:gd name="T42" fmla="*/ 8 w 734"/>
              <a:gd name="T43" fmla="*/ 1172 h 1176"/>
              <a:gd name="T44" fmla="*/ 18 w 734"/>
              <a:gd name="T45" fmla="*/ 1168 h 1176"/>
              <a:gd name="T46" fmla="*/ 28 w 734"/>
              <a:gd name="T47" fmla="*/ 1164 h 1176"/>
              <a:gd name="T48" fmla="*/ 36 w 734"/>
              <a:gd name="T49" fmla="*/ 1160 h 1176"/>
              <a:gd name="T50" fmla="*/ 90 w 734"/>
              <a:gd name="T51" fmla="*/ 1102 h 1176"/>
              <a:gd name="T52" fmla="*/ 138 w 734"/>
              <a:gd name="T53" fmla="*/ 1042 h 1176"/>
              <a:gd name="T54" fmla="*/ 180 w 734"/>
              <a:gd name="T55" fmla="*/ 980 h 1176"/>
              <a:gd name="T56" fmla="*/ 218 w 734"/>
              <a:gd name="T57" fmla="*/ 918 h 1176"/>
              <a:gd name="T58" fmla="*/ 276 w 734"/>
              <a:gd name="T59" fmla="*/ 794 h 1176"/>
              <a:gd name="T60" fmla="*/ 320 w 734"/>
              <a:gd name="T61" fmla="*/ 678 h 1176"/>
              <a:gd name="T62" fmla="*/ 336 w 734"/>
              <a:gd name="T63" fmla="*/ 624 h 1176"/>
              <a:gd name="T64" fmla="*/ 360 w 734"/>
              <a:gd name="T65" fmla="*/ 528 h 1176"/>
              <a:gd name="T66" fmla="*/ 368 w 734"/>
              <a:gd name="T67" fmla="*/ 490 h 1176"/>
              <a:gd name="T68" fmla="*/ 382 w 734"/>
              <a:gd name="T69" fmla="*/ 402 h 1176"/>
              <a:gd name="T70" fmla="*/ 380 w 734"/>
              <a:gd name="T71" fmla="*/ 402 h 1176"/>
              <a:gd name="T72" fmla="*/ 374 w 734"/>
              <a:gd name="T73" fmla="*/ 402 h 1176"/>
              <a:gd name="T74" fmla="*/ 366 w 734"/>
              <a:gd name="T75" fmla="*/ 402 h 1176"/>
              <a:gd name="T76" fmla="*/ 354 w 734"/>
              <a:gd name="T77" fmla="*/ 400 h 1176"/>
              <a:gd name="T78" fmla="*/ 356 w 734"/>
              <a:gd name="T79" fmla="*/ 402 h 1176"/>
              <a:gd name="T80" fmla="*/ 358 w 734"/>
              <a:gd name="T81" fmla="*/ 402 h 1176"/>
              <a:gd name="T82" fmla="*/ 362 w 734"/>
              <a:gd name="T83" fmla="*/ 402 h 1176"/>
              <a:gd name="T84" fmla="*/ 344 w 734"/>
              <a:gd name="T85" fmla="*/ 400 h 1176"/>
              <a:gd name="T86" fmla="*/ 304 w 734"/>
              <a:gd name="T87" fmla="*/ 398 h 1176"/>
              <a:gd name="T88" fmla="*/ 246 w 734"/>
              <a:gd name="T89" fmla="*/ 398 h 1176"/>
              <a:gd name="T90" fmla="*/ 168 w 734"/>
              <a:gd name="T91" fmla="*/ 402 h 1176"/>
              <a:gd name="T92" fmla="*/ 258 w 734"/>
              <a:gd name="T93" fmla="*/ 296 h 1176"/>
              <a:gd name="T94" fmla="*/ 358 w 734"/>
              <a:gd name="T95" fmla="*/ 180 h 1176"/>
              <a:gd name="T96" fmla="*/ 448 w 734"/>
              <a:gd name="T97" fmla="*/ 78 h 1176"/>
              <a:gd name="T98" fmla="*/ 506 w 734"/>
              <a:gd name="T99" fmla="*/ 14 h 1176"/>
              <a:gd name="T100" fmla="*/ 502 w 734"/>
              <a:gd name="T101" fmla="*/ 8 h 1176"/>
              <a:gd name="T102" fmla="*/ 500 w 734"/>
              <a:gd name="T103" fmla="*/ 4 h 1176"/>
              <a:gd name="T104" fmla="*/ 500 w 734"/>
              <a:gd name="T105" fmla="*/ 0 h 1176"/>
              <a:gd name="T106" fmla="*/ 498 w 734"/>
              <a:gd name="T107" fmla="*/ 0 h 1176"/>
              <a:gd name="T108" fmla="*/ 536 w 734"/>
              <a:gd name="T109" fmla="*/ 78 h 1176"/>
              <a:gd name="T110" fmla="*/ 610 w 734"/>
              <a:gd name="T111" fmla="*/ 236 h 1176"/>
              <a:gd name="T112" fmla="*/ 686 w 734"/>
              <a:gd name="T113" fmla="*/ 408 h 1176"/>
              <a:gd name="T114" fmla="*/ 716 w 734"/>
              <a:gd name="T115" fmla="*/ 480 h 1176"/>
              <a:gd name="T116" fmla="*/ 734 w 734"/>
              <a:gd name="T117" fmla="*/ 536 h 117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734"/>
              <a:gd name="T178" fmla="*/ 0 h 1176"/>
              <a:gd name="T179" fmla="*/ 734 w 734"/>
              <a:gd name="T180" fmla="*/ 1176 h 117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734" h="1176">
                <a:moveTo>
                  <a:pt x="734" y="536"/>
                </a:moveTo>
                <a:lnTo>
                  <a:pt x="734" y="536"/>
                </a:lnTo>
                <a:lnTo>
                  <a:pt x="710" y="520"/>
                </a:lnTo>
                <a:lnTo>
                  <a:pt x="684" y="506"/>
                </a:lnTo>
                <a:lnTo>
                  <a:pt x="660" y="494"/>
                </a:lnTo>
                <a:lnTo>
                  <a:pt x="638" y="482"/>
                </a:lnTo>
                <a:lnTo>
                  <a:pt x="608" y="470"/>
                </a:lnTo>
                <a:lnTo>
                  <a:pt x="584" y="462"/>
                </a:lnTo>
                <a:lnTo>
                  <a:pt x="570" y="456"/>
                </a:lnTo>
                <a:lnTo>
                  <a:pt x="564" y="456"/>
                </a:lnTo>
                <a:lnTo>
                  <a:pt x="556" y="486"/>
                </a:lnTo>
                <a:lnTo>
                  <a:pt x="534" y="552"/>
                </a:lnTo>
                <a:lnTo>
                  <a:pt x="518" y="594"/>
                </a:lnTo>
                <a:lnTo>
                  <a:pt x="500" y="642"/>
                </a:lnTo>
                <a:lnTo>
                  <a:pt x="474" y="696"/>
                </a:lnTo>
                <a:lnTo>
                  <a:pt x="446" y="750"/>
                </a:lnTo>
                <a:lnTo>
                  <a:pt x="412" y="808"/>
                </a:lnTo>
                <a:lnTo>
                  <a:pt x="374" y="868"/>
                </a:lnTo>
                <a:lnTo>
                  <a:pt x="352" y="896"/>
                </a:lnTo>
                <a:lnTo>
                  <a:pt x="328" y="926"/>
                </a:lnTo>
                <a:lnTo>
                  <a:pt x="304" y="954"/>
                </a:lnTo>
                <a:lnTo>
                  <a:pt x="278" y="982"/>
                </a:lnTo>
                <a:lnTo>
                  <a:pt x="250" y="1012"/>
                </a:lnTo>
                <a:lnTo>
                  <a:pt x="220" y="1038"/>
                </a:lnTo>
                <a:lnTo>
                  <a:pt x="188" y="1064"/>
                </a:lnTo>
                <a:lnTo>
                  <a:pt x="154" y="1090"/>
                </a:lnTo>
                <a:lnTo>
                  <a:pt x="118" y="1114"/>
                </a:lnTo>
                <a:lnTo>
                  <a:pt x="80" y="1136"/>
                </a:lnTo>
                <a:lnTo>
                  <a:pt x="40" y="1158"/>
                </a:lnTo>
                <a:lnTo>
                  <a:pt x="0" y="1176"/>
                </a:lnTo>
                <a:lnTo>
                  <a:pt x="8" y="1172"/>
                </a:lnTo>
                <a:lnTo>
                  <a:pt x="18" y="1168"/>
                </a:lnTo>
                <a:lnTo>
                  <a:pt x="28" y="1164"/>
                </a:lnTo>
                <a:lnTo>
                  <a:pt x="36" y="1160"/>
                </a:lnTo>
                <a:lnTo>
                  <a:pt x="64" y="1130"/>
                </a:lnTo>
                <a:lnTo>
                  <a:pt x="90" y="1102"/>
                </a:lnTo>
                <a:lnTo>
                  <a:pt x="114" y="1072"/>
                </a:lnTo>
                <a:lnTo>
                  <a:pt x="138" y="1042"/>
                </a:lnTo>
                <a:lnTo>
                  <a:pt x="160" y="1010"/>
                </a:lnTo>
                <a:lnTo>
                  <a:pt x="180" y="980"/>
                </a:lnTo>
                <a:lnTo>
                  <a:pt x="218" y="918"/>
                </a:lnTo>
                <a:lnTo>
                  <a:pt x="250" y="856"/>
                </a:lnTo>
                <a:lnTo>
                  <a:pt x="276" y="794"/>
                </a:lnTo>
                <a:lnTo>
                  <a:pt x="300" y="736"/>
                </a:lnTo>
                <a:lnTo>
                  <a:pt x="320" y="678"/>
                </a:lnTo>
                <a:lnTo>
                  <a:pt x="336" y="624"/>
                </a:lnTo>
                <a:lnTo>
                  <a:pt x="350" y="574"/>
                </a:lnTo>
                <a:lnTo>
                  <a:pt x="360" y="528"/>
                </a:lnTo>
                <a:lnTo>
                  <a:pt x="368" y="490"/>
                </a:lnTo>
                <a:lnTo>
                  <a:pt x="378" y="430"/>
                </a:lnTo>
                <a:lnTo>
                  <a:pt x="382" y="402"/>
                </a:lnTo>
                <a:lnTo>
                  <a:pt x="380" y="402"/>
                </a:lnTo>
                <a:lnTo>
                  <a:pt x="374" y="402"/>
                </a:lnTo>
                <a:lnTo>
                  <a:pt x="366" y="402"/>
                </a:lnTo>
                <a:lnTo>
                  <a:pt x="354" y="400"/>
                </a:lnTo>
                <a:lnTo>
                  <a:pt x="356" y="402"/>
                </a:lnTo>
                <a:lnTo>
                  <a:pt x="358" y="402"/>
                </a:lnTo>
                <a:lnTo>
                  <a:pt x="360" y="402"/>
                </a:lnTo>
                <a:lnTo>
                  <a:pt x="362" y="402"/>
                </a:lnTo>
                <a:lnTo>
                  <a:pt x="344" y="400"/>
                </a:lnTo>
                <a:lnTo>
                  <a:pt x="304" y="398"/>
                </a:lnTo>
                <a:lnTo>
                  <a:pt x="246" y="398"/>
                </a:lnTo>
                <a:lnTo>
                  <a:pt x="168" y="402"/>
                </a:lnTo>
                <a:lnTo>
                  <a:pt x="258" y="296"/>
                </a:lnTo>
                <a:lnTo>
                  <a:pt x="358" y="180"/>
                </a:lnTo>
                <a:lnTo>
                  <a:pt x="448" y="78"/>
                </a:lnTo>
                <a:lnTo>
                  <a:pt x="506" y="14"/>
                </a:lnTo>
                <a:lnTo>
                  <a:pt x="502" y="8"/>
                </a:lnTo>
                <a:lnTo>
                  <a:pt x="500" y="4"/>
                </a:lnTo>
                <a:lnTo>
                  <a:pt x="500" y="0"/>
                </a:lnTo>
                <a:lnTo>
                  <a:pt x="498" y="0"/>
                </a:lnTo>
                <a:lnTo>
                  <a:pt x="536" y="78"/>
                </a:lnTo>
                <a:lnTo>
                  <a:pt x="610" y="236"/>
                </a:lnTo>
                <a:lnTo>
                  <a:pt x="650" y="324"/>
                </a:lnTo>
                <a:lnTo>
                  <a:pt x="686" y="408"/>
                </a:lnTo>
                <a:lnTo>
                  <a:pt x="716" y="480"/>
                </a:lnTo>
                <a:lnTo>
                  <a:pt x="726" y="512"/>
                </a:lnTo>
                <a:lnTo>
                  <a:pt x="734" y="536"/>
                </a:lnTo>
                <a:close/>
              </a:path>
            </a:pathLst>
          </a:custGeom>
          <a:solidFill>
            <a:srgbClr val="BCDAEF"/>
          </a:solidFill>
          <a:ln w="9525">
            <a:noFill/>
            <a:round/>
          </a:ln>
        </p:spPr>
        <p:txBody>
          <a:bodyPr vert="horz" wrap="none" lIns="45720" tIns="45720" rIns="45720" bIns="45720" anchor="t" anchorCtr="0">
            <a:normAutofit fontScale="87500" lnSpcReduction="10000"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8" name="图表 27"/>
          <p:cNvGraphicFramePr/>
          <p:nvPr/>
        </p:nvGraphicFramePr>
        <p:xfrm>
          <a:off x="3184525" y="3748405"/>
          <a:ext cx="1920875" cy="773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084100" y="1745456"/>
            <a:ext cx="1242138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家客支撑质量</a:t>
            </a:r>
          </a:p>
        </p:txBody>
      </p:sp>
      <p:graphicFrame>
        <p:nvGraphicFramePr>
          <p:cNvPr id="7" name="图表 6"/>
          <p:cNvGraphicFramePr/>
          <p:nvPr/>
        </p:nvGraphicFramePr>
        <p:xfrm>
          <a:off x="3428524" y="1989138"/>
          <a:ext cx="1323975" cy="1080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882545" y="1745456"/>
            <a:ext cx="1242138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政企支撑质量</a:t>
            </a:r>
          </a:p>
        </p:txBody>
      </p:sp>
      <p:graphicFrame>
        <p:nvGraphicFramePr>
          <p:cNvPr id="9" name="图表 8"/>
          <p:cNvGraphicFramePr/>
          <p:nvPr/>
        </p:nvGraphicFramePr>
        <p:xfrm>
          <a:off x="6182360" y="1974850"/>
          <a:ext cx="118554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55" name="矩形 54"/>
          <p:cNvSpPr/>
          <p:nvPr/>
        </p:nvSpPr>
        <p:spPr>
          <a:xfrm>
            <a:off x="7458075" y="1993900"/>
            <a:ext cx="1068705" cy="286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全省</a:t>
            </a:r>
            <a:r>
              <a:rPr lang="zh-CN" sz="1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第四</a:t>
            </a:r>
          </a:p>
        </p:txBody>
      </p:sp>
      <p:graphicFrame>
        <p:nvGraphicFramePr>
          <p:cNvPr id="10" name="图表 9"/>
          <p:cNvGraphicFramePr/>
          <p:nvPr/>
        </p:nvGraphicFramePr>
        <p:xfrm>
          <a:off x="7299325" y="2025650"/>
          <a:ext cx="1385570" cy="1081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4697730" y="2218690"/>
          <a:ext cx="1400810" cy="845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2" name="矩形 11"/>
          <p:cNvSpPr/>
          <p:nvPr/>
        </p:nvSpPr>
        <p:spPr>
          <a:xfrm>
            <a:off x="4745355" y="2026285"/>
            <a:ext cx="1308735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全省</a:t>
            </a:r>
            <a:r>
              <a:rPr lang="zh-CN" sz="1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第二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125863" y="1745456"/>
            <a:ext cx="1242138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无线网络质量</a:t>
            </a:r>
          </a:p>
        </p:txBody>
      </p:sp>
      <p:sp>
        <p:nvSpPr>
          <p:cNvPr id="14" name="任意多边形 63"/>
          <p:cNvSpPr/>
          <p:nvPr/>
        </p:nvSpPr>
        <p:spPr>
          <a:xfrm rot="1427568">
            <a:off x="1634014" y="3823335"/>
            <a:ext cx="226695" cy="209074"/>
          </a:xfrm>
          <a:custGeom>
            <a:avLst/>
            <a:gdLst>
              <a:gd name="T0" fmla="*/ 734 w 734"/>
              <a:gd name="T1" fmla="*/ 536 h 1176"/>
              <a:gd name="T2" fmla="*/ 710 w 734"/>
              <a:gd name="T3" fmla="*/ 520 h 1176"/>
              <a:gd name="T4" fmla="*/ 684 w 734"/>
              <a:gd name="T5" fmla="*/ 506 h 1176"/>
              <a:gd name="T6" fmla="*/ 660 w 734"/>
              <a:gd name="T7" fmla="*/ 494 h 1176"/>
              <a:gd name="T8" fmla="*/ 638 w 734"/>
              <a:gd name="T9" fmla="*/ 482 h 1176"/>
              <a:gd name="T10" fmla="*/ 608 w 734"/>
              <a:gd name="T11" fmla="*/ 470 h 1176"/>
              <a:gd name="T12" fmla="*/ 584 w 734"/>
              <a:gd name="T13" fmla="*/ 462 h 1176"/>
              <a:gd name="T14" fmla="*/ 570 w 734"/>
              <a:gd name="T15" fmla="*/ 456 h 1176"/>
              <a:gd name="T16" fmla="*/ 564 w 734"/>
              <a:gd name="T17" fmla="*/ 456 h 1176"/>
              <a:gd name="T18" fmla="*/ 534 w 734"/>
              <a:gd name="T19" fmla="*/ 552 h 1176"/>
              <a:gd name="T20" fmla="*/ 518 w 734"/>
              <a:gd name="T21" fmla="*/ 594 h 1176"/>
              <a:gd name="T22" fmla="*/ 474 w 734"/>
              <a:gd name="T23" fmla="*/ 696 h 1176"/>
              <a:gd name="T24" fmla="*/ 446 w 734"/>
              <a:gd name="T25" fmla="*/ 750 h 1176"/>
              <a:gd name="T26" fmla="*/ 374 w 734"/>
              <a:gd name="T27" fmla="*/ 868 h 1176"/>
              <a:gd name="T28" fmla="*/ 328 w 734"/>
              <a:gd name="T29" fmla="*/ 926 h 1176"/>
              <a:gd name="T30" fmla="*/ 278 w 734"/>
              <a:gd name="T31" fmla="*/ 982 h 1176"/>
              <a:gd name="T32" fmla="*/ 250 w 734"/>
              <a:gd name="T33" fmla="*/ 1012 h 1176"/>
              <a:gd name="T34" fmla="*/ 188 w 734"/>
              <a:gd name="T35" fmla="*/ 1064 h 1176"/>
              <a:gd name="T36" fmla="*/ 118 w 734"/>
              <a:gd name="T37" fmla="*/ 1114 h 1176"/>
              <a:gd name="T38" fmla="*/ 40 w 734"/>
              <a:gd name="T39" fmla="*/ 1158 h 1176"/>
              <a:gd name="T40" fmla="*/ 0 w 734"/>
              <a:gd name="T41" fmla="*/ 1176 h 1176"/>
              <a:gd name="T42" fmla="*/ 8 w 734"/>
              <a:gd name="T43" fmla="*/ 1172 h 1176"/>
              <a:gd name="T44" fmla="*/ 18 w 734"/>
              <a:gd name="T45" fmla="*/ 1168 h 1176"/>
              <a:gd name="T46" fmla="*/ 28 w 734"/>
              <a:gd name="T47" fmla="*/ 1164 h 1176"/>
              <a:gd name="T48" fmla="*/ 36 w 734"/>
              <a:gd name="T49" fmla="*/ 1160 h 1176"/>
              <a:gd name="T50" fmla="*/ 90 w 734"/>
              <a:gd name="T51" fmla="*/ 1102 h 1176"/>
              <a:gd name="T52" fmla="*/ 138 w 734"/>
              <a:gd name="T53" fmla="*/ 1042 h 1176"/>
              <a:gd name="T54" fmla="*/ 180 w 734"/>
              <a:gd name="T55" fmla="*/ 980 h 1176"/>
              <a:gd name="T56" fmla="*/ 218 w 734"/>
              <a:gd name="T57" fmla="*/ 918 h 1176"/>
              <a:gd name="T58" fmla="*/ 276 w 734"/>
              <a:gd name="T59" fmla="*/ 794 h 1176"/>
              <a:gd name="T60" fmla="*/ 320 w 734"/>
              <a:gd name="T61" fmla="*/ 678 h 1176"/>
              <a:gd name="T62" fmla="*/ 336 w 734"/>
              <a:gd name="T63" fmla="*/ 624 h 1176"/>
              <a:gd name="T64" fmla="*/ 360 w 734"/>
              <a:gd name="T65" fmla="*/ 528 h 1176"/>
              <a:gd name="T66" fmla="*/ 368 w 734"/>
              <a:gd name="T67" fmla="*/ 490 h 1176"/>
              <a:gd name="T68" fmla="*/ 382 w 734"/>
              <a:gd name="T69" fmla="*/ 402 h 1176"/>
              <a:gd name="T70" fmla="*/ 380 w 734"/>
              <a:gd name="T71" fmla="*/ 402 h 1176"/>
              <a:gd name="T72" fmla="*/ 374 w 734"/>
              <a:gd name="T73" fmla="*/ 402 h 1176"/>
              <a:gd name="T74" fmla="*/ 366 w 734"/>
              <a:gd name="T75" fmla="*/ 402 h 1176"/>
              <a:gd name="T76" fmla="*/ 354 w 734"/>
              <a:gd name="T77" fmla="*/ 400 h 1176"/>
              <a:gd name="T78" fmla="*/ 356 w 734"/>
              <a:gd name="T79" fmla="*/ 402 h 1176"/>
              <a:gd name="T80" fmla="*/ 358 w 734"/>
              <a:gd name="T81" fmla="*/ 402 h 1176"/>
              <a:gd name="T82" fmla="*/ 362 w 734"/>
              <a:gd name="T83" fmla="*/ 402 h 1176"/>
              <a:gd name="T84" fmla="*/ 344 w 734"/>
              <a:gd name="T85" fmla="*/ 400 h 1176"/>
              <a:gd name="T86" fmla="*/ 304 w 734"/>
              <a:gd name="T87" fmla="*/ 398 h 1176"/>
              <a:gd name="T88" fmla="*/ 246 w 734"/>
              <a:gd name="T89" fmla="*/ 398 h 1176"/>
              <a:gd name="T90" fmla="*/ 168 w 734"/>
              <a:gd name="T91" fmla="*/ 402 h 1176"/>
              <a:gd name="T92" fmla="*/ 258 w 734"/>
              <a:gd name="T93" fmla="*/ 296 h 1176"/>
              <a:gd name="T94" fmla="*/ 358 w 734"/>
              <a:gd name="T95" fmla="*/ 180 h 1176"/>
              <a:gd name="T96" fmla="*/ 448 w 734"/>
              <a:gd name="T97" fmla="*/ 78 h 1176"/>
              <a:gd name="T98" fmla="*/ 506 w 734"/>
              <a:gd name="T99" fmla="*/ 14 h 1176"/>
              <a:gd name="T100" fmla="*/ 502 w 734"/>
              <a:gd name="T101" fmla="*/ 8 h 1176"/>
              <a:gd name="T102" fmla="*/ 500 w 734"/>
              <a:gd name="T103" fmla="*/ 4 h 1176"/>
              <a:gd name="T104" fmla="*/ 500 w 734"/>
              <a:gd name="T105" fmla="*/ 0 h 1176"/>
              <a:gd name="T106" fmla="*/ 498 w 734"/>
              <a:gd name="T107" fmla="*/ 0 h 1176"/>
              <a:gd name="T108" fmla="*/ 536 w 734"/>
              <a:gd name="T109" fmla="*/ 78 h 1176"/>
              <a:gd name="T110" fmla="*/ 610 w 734"/>
              <a:gd name="T111" fmla="*/ 236 h 1176"/>
              <a:gd name="T112" fmla="*/ 686 w 734"/>
              <a:gd name="T113" fmla="*/ 408 h 1176"/>
              <a:gd name="T114" fmla="*/ 716 w 734"/>
              <a:gd name="T115" fmla="*/ 480 h 1176"/>
              <a:gd name="T116" fmla="*/ 734 w 734"/>
              <a:gd name="T117" fmla="*/ 536 h 117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734"/>
              <a:gd name="T178" fmla="*/ 0 h 1176"/>
              <a:gd name="T179" fmla="*/ 734 w 734"/>
              <a:gd name="T180" fmla="*/ 1176 h 117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734" h="1176">
                <a:moveTo>
                  <a:pt x="734" y="536"/>
                </a:moveTo>
                <a:lnTo>
                  <a:pt x="734" y="536"/>
                </a:lnTo>
                <a:lnTo>
                  <a:pt x="710" y="520"/>
                </a:lnTo>
                <a:lnTo>
                  <a:pt x="684" y="506"/>
                </a:lnTo>
                <a:lnTo>
                  <a:pt x="660" y="494"/>
                </a:lnTo>
                <a:lnTo>
                  <a:pt x="638" y="482"/>
                </a:lnTo>
                <a:lnTo>
                  <a:pt x="608" y="470"/>
                </a:lnTo>
                <a:lnTo>
                  <a:pt x="584" y="462"/>
                </a:lnTo>
                <a:lnTo>
                  <a:pt x="570" y="456"/>
                </a:lnTo>
                <a:lnTo>
                  <a:pt x="564" y="456"/>
                </a:lnTo>
                <a:lnTo>
                  <a:pt x="556" y="486"/>
                </a:lnTo>
                <a:lnTo>
                  <a:pt x="534" y="552"/>
                </a:lnTo>
                <a:lnTo>
                  <a:pt x="518" y="594"/>
                </a:lnTo>
                <a:lnTo>
                  <a:pt x="500" y="642"/>
                </a:lnTo>
                <a:lnTo>
                  <a:pt x="474" y="696"/>
                </a:lnTo>
                <a:lnTo>
                  <a:pt x="446" y="750"/>
                </a:lnTo>
                <a:lnTo>
                  <a:pt x="412" y="808"/>
                </a:lnTo>
                <a:lnTo>
                  <a:pt x="374" y="868"/>
                </a:lnTo>
                <a:lnTo>
                  <a:pt x="352" y="896"/>
                </a:lnTo>
                <a:lnTo>
                  <a:pt x="328" y="926"/>
                </a:lnTo>
                <a:lnTo>
                  <a:pt x="304" y="954"/>
                </a:lnTo>
                <a:lnTo>
                  <a:pt x="278" y="982"/>
                </a:lnTo>
                <a:lnTo>
                  <a:pt x="250" y="1012"/>
                </a:lnTo>
                <a:lnTo>
                  <a:pt x="220" y="1038"/>
                </a:lnTo>
                <a:lnTo>
                  <a:pt x="188" y="1064"/>
                </a:lnTo>
                <a:lnTo>
                  <a:pt x="154" y="1090"/>
                </a:lnTo>
                <a:lnTo>
                  <a:pt x="118" y="1114"/>
                </a:lnTo>
                <a:lnTo>
                  <a:pt x="80" y="1136"/>
                </a:lnTo>
                <a:lnTo>
                  <a:pt x="40" y="1158"/>
                </a:lnTo>
                <a:lnTo>
                  <a:pt x="0" y="1176"/>
                </a:lnTo>
                <a:lnTo>
                  <a:pt x="8" y="1172"/>
                </a:lnTo>
                <a:lnTo>
                  <a:pt x="18" y="1168"/>
                </a:lnTo>
                <a:lnTo>
                  <a:pt x="28" y="1164"/>
                </a:lnTo>
                <a:lnTo>
                  <a:pt x="36" y="1160"/>
                </a:lnTo>
                <a:lnTo>
                  <a:pt x="64" y="1130"/>
                </a:lnTo>
                <a:lnTo>
                  <a:pt x="90" y="1102"/>
                </a:lnTo>
                <a:lnTo>
                  <a:pt x="114" y="1072"/>
                </a:lnTo>
                <a:lnTo>
                  <a:pt x="138" y="1042"/>
                </a:lnTo>
                <a:lnTo>
                  <a:pt x="160" y="1010"/>
                </a:lnTo>
                <a:lnTo>
                  <a:pt x="180" y="980"/>
                </a:lnTo>
                <a:lnTo>
                  <a:pt x="218" y="918"/>
                </a:lnTo>
                <a:lnTo>
                  <a:pt x="250" y="856"/>
                </a:lnTo>
                <a:lnTo>
                  <a:pt x="276" y="794"/>
                </a:lnTo>
                <a:lnTo>
                  <a:pt x="300" y="736"/>
                </a:lnTo>
                <a:lnTo>
                  <a:pt x="320" y="678"/>
                </a:lnTo>
                <a:lnTo>
                  <a:pt x="336" y="624"/>
                </a:lnTo>
                <a:lnTo>
                  <a:pt x="350" y="574"/>
                </a:lnTo>
                <a:lnTo>
                  <a:pt x="360" y="528"/>
                </a:lnTo>
                <a:lnTo>
                  <a:pt x="368" y="490"/>
                </a:lnTo>
                <a:lnTo>
                  <a:pt x="378" y="430"/>
                </a:lnTo>
                <a:lnTo>
                  <a:pt x="382" y="402"/>
                </a:lnTo>
                <a:lnTo>
                  <a:pt x="380" y="402"/>
                </a:lnTo>
                <a:lnTo>
                  <a:pt x="374" y="402"/>
                </a:lnTo>
                <a:lnTo>
                  <a:pt x="366" y="402"/>
                </a:lnTo>
                <a:lnTo>
                  <a:pt x="354" y="400"/>
                </a:lnTo>
                <a:lnTo>
                  <a:pt x="356" y="402"/>
                </a:lnTo>
                <a:lnTo>
                  <a:pt x="358" y="402"/>
                </a:lnTo>
                <a:lnTo>
                  <a:pt x="360" y="402"/>
                </a:lnTo>
                <a:lnTo>
                  <a:pt x="362" y="402"/>
                </a:lnTo>
                <a:lnTo>
                  <a:pt x="344" y="400"/>
                </a:lnTo>
                <a:lnTo>
                  <a:pt x="304" y="398"/>
                </a:lnTo>
                <a:lnTo>
                  <a:pt x="246" y="398"/>
                </a:lnTo>
                <a:lnTo>
                  <a:pt x="168" y="402"/>
                </a:lnTo>
                <a:lnTo>
                  <a:pt x="258" y="296"/>
                </a:lnTo>
                <a:lnTo>
                  <a:pt x="358" y="180"/>
                </a:lnTo>
                <a:lnTo>
                  <a:pt x="448" y="78"/>
                </a:lnTo>
                <a:lnTo>
                  <a:pt x="506" y="14"/>
                </a:lnTo>
                <a:lnTo>
                  <a:pt x="502" y="8"/>
                </a:lnTo>
                <a:lnTo>
                  <a:pt x="500" y="4"/>
                </a:lnTo>
                <a:lnTo>
                  <a:pt x="500" y="0"/>
                </a:lnTo>
                <a:lnTo>
                  <a:pt x="498" y="0"/>
                </a:lnTo>
                <a:lnTo>
                  <a:pt x="536" y="78"/>
                </a:lnTo>
                <a:lnTo>
                  <a:pt x="610" y="236"/>
                </a:lnTo>
                <a:lnTo>
                  <a:pt x="650" y="324"/>
                </a:lnTo>
                <a:lnTo>
                  <a:pt x="686" y="408"/>
                </a:lnTo>
                <a:lnTo>
                  <a:pt x="716" y="480"/>
                </a:lnTo>
                <a:lnTo>
                  <a:pt x="726" y="512"/>
                </a:lnTo>
                <a:lnTo>
                  <a:pt x="734" y="536"/>
                </a:lnTo>
                <a:close/>
              </a:path>
            </a:pathLst>
          </a:custGeom>
          <a:solidFill>
            <a:srgbClr val="BCDAEF"/>
          </a:solidFill>
          <a:ln w="9525">
            <a:noFill/>
            <a:round/>
          </a:ln>
        </p:spPr>
        <p:txBody>
          <a:bodyPr vert="horz" wrap="none" lIns="45720" tIns="45720" rIns="45720" bIns="45720" anchor="t" anchorCtr="0">
            <a:normAutofit fontScale="87500" lnSpcReduction="10000"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1671320" y="1943735"/>
          <a:ext cx="1499870" cy="1242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40" name="图表 39"/>
          <p:cNvGraphicFramePr/>
          <p:nvPr/>
        </p:nvGraphicFramePr>
        <p:xfrm>
          <a:off x="546100" y="3217228"/>
          <a:ext cx="2484120" cy="130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41" name="图表 40"/>
          <p:cNvGraphicFramePr/>
          <p:nvPr/>
        </p:nvGraphicFramePr>
        <p:xfrm>
          <a:off x="439103" y="1943418"/>
          <a:ext cx="1414145" cy="1157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579721"/>
            <a:ext cx="9144000" cy="1904524"/>
          </a:xfrm>
          <a:prstGeom prst="rect">
            <a:avLst/>
          </a:prstGeom>
          <a:gradFill>
            <a:gsLst>
              <a:gs pos="0">
                <a:srgbClr val="88B92C"/>
              </a:gs>
              <a:gs pos="100000">
                <a:srgbClr val="1D7D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标题 1"/>
          <p:cNvSpPr/>
          <p:nvPr/>
        </p:nvSpPr>
        <p:spPr bwMode="auto">
          <a:xfrm>
            <a:off x="185739" y="34646"/>
            <a:ext cx="4538662" cy="414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8425" tIns="58650" rIns="92863" bIns="34285" anchor="ctr">
            <a:spAutoFit/>
          </a:bodyPr>
          <a:lstStyle/>
          <a:p>
            <a:pPr eaLnBrk="0" hangingPunct="0"/>
            <a:r>
              <a:rPr lang="zh-CN" altLang="en-US" sz="2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580198"/>
            <a:ext cx="2904649" cy="19030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37890" y="2220595"/>
            <a:ext cx="52177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业务合作专题交流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1460" y="172403"/>
            <a:ext cx="2484120" cy="344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业务合作方向 | </a:t>
            </a:r>
            <a:r>
              <a:rPr kumimoji="1" lang="en-US" altLang="zh-CN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</a:t>
            </a: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</a:t>
            </a:r>
          </a:p>
        </p:txBody>
      </p:sp>
      <p:sp>
        <p:nvSpPr>
          <p:cNvPr id="2" name="object 5"/>
          <p:cNvSpPr txBox="1"/>
          <p:nvPr/>
        </p:nvSpPr>
        <p:spPr>
          <a:xfrm>
            <a:off x="251460" y="688340"/>
            <a:ext cx="8571865" cy="5600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12700" rIns="0" bIns="0" rtlCol="0">
            <a:noAutofit/>
          </a:bodyPr>
          <a:lstStyle/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嘉兴移动在移动市场业务方面行业领先，可为企业成员提供高质量的移动手机通信业务、家庭产品类业务，满足集团成员在语音、流量、家宽、手机终端、居家产品等增值业务等方面的各类需求。</a:t>
            </a:r>
            <a:endParaRPr lang="zh-CN" sz="1200" b="1" kern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矩形: 圆角 75"/>
          <p:cNvSpPr/>
          <p:nvPr>
            <p:custDataLst>
              <p:tags r:id="rId3"/>
            </p:custDataLst>
          </p:nvPr>
        </p:nvSpPr>
        <p:spPr>
          <a:xfrm>
            <a:off x="251460" y="1508760"/>
            <a:ext cx="4064635" cy="1954530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47345" y="2235835"/>
            <a:ext cx="316484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合约购机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享购机优惠、套餐折扣等</a:t>
            </a:r>
          </a:p>
        </p:txBody>
      </p:sp>
      <p:sp>
        <p:nvSpPr>
          <p:cNvPr id="54" name="矩形 53"/>
          <p:cNvSpPr/>
          <p:nvPr/>
        </p:nvSpPr>
        <p:spPr>
          <a:xfrm>
            <a:off x="1502410" y="1302385"/>
            <a:ext cx="1539875" cy="323215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个人业务</a:t>
            </a:r>
          </a:p>
        </p:txBody>
      </p:sp>
      <p:sp>
        <p:nvSpPr>
          <p:cNvPr id="27" name="矩形: 圆角 75"/>
          <p:cNvSpPr/>
          <p:nvPr>
            <p:custDataLst>
              <p:tags r:id="rId4"/>
            </p:custDataLst>
          </p:nvPr>
        </p:nvSpPr>
        <p:spPr>
          <a:xfrm>
            <a:off x="4548505" y="1508760"/>
            <a:ext cx="4225925" cy="1953895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62320" y="1302385"/>
            <a:ext cx="1539875" cy="323215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家庭业务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7345" y="2649855"/>
            <a:ext cx="316484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套餐焕新 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享流量加赠、套餐权益等</a:t>
            </a:r>
            <a:endParaRPr lang="en-US" altLang="zh-CN" sz="1000" b="1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7345" y="3063875"/>
            <a:ext cx="316484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个人产品 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随心选年包、生活卡年卡等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……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638675" y="1751330"/>
            <a:ext cx="311721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新装宽带 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千兆高速宽带、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FTTR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、宽带电视等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38675" y="2222500"/>
            <a:ext cx="316484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云电脑 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一体机、云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PAD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、云笔电等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638675" y="3164840"/>
            <a:ext cx="351091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居家产品 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智能门锁、康养产品（血压仪等）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……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638675" y="2693670"/>
            <a:ext cx="316484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智能家庭服务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移动看家、家庭组网等</a:t>
            </a:r>
          </a:p>
        </p:txBody>
      </p:sp>
      <p:sp>
        <p:nvSpPr>
          <p:cNvPr id="41" name="矩形 40"/>
          <p:cNvSpPr/>
          <p:nvPr/>
        </p:nvSpPr>
        <p:spPr>
          <a:xfrm>
            <a:off x="1532890" y="3757295"/>
            <a:ext cx="7317740" cy="103060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251460" y="3757930"/>
            <a:ext cx="1162685" cy="1030605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合作方向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607820" y="3914140"/>
            <a:ext cx="716661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buClrTx/>
              <a:buSzTx/>
              <a:buFont typeface="Wingdings" panose="05000000000000000000" charset="0"/>
              <a:buChar char="ü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客户经理专人对接，根据企业需求进驻服务，为企业员工提供专属服务和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针对性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业务办理。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7345" y="1807845"/>
            <a:ext cx="378841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b="1" u="sng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新号卡</a:t>
            </a:r>
            <a:r>
              <a:rPr lang="en-US" altLang="zh-CN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0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丰富的套餐类型、优惠资费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607820" y="4309110"/>
            <a:ext cx="716661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buClrTx/>
              <a:buSzTx/>
              <a:buFont typeface="Wingdings" panose="05000000000000000000" charset="0"/>
              <a:buChar char="ü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可针对企业员工进行更优惠的业务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批量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统一办理和产品认购。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7660" y="2663825"/>
            <a:ext cx="712470" cy="756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8505" y="2692400"/>
            <a:ext cx="938530" cy="640715"/>
          </a:xfrm>
          <a:prstGeom prst="rect">
            <a:avLst/>
          </a:prstGeom>
          <a:effectLst/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2015" y="1639570"/>
            <a:ext cx="749935" cy="9010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8295" y="1560830"/>
            <a:ext cx="711835" cy="890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1460" y="172403"/>
            <a:ext cx="3463925" cy="344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业务合作方向 | 园区基础通信业务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82420" y="4193540"/>
            <a:ext cx="7153910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defTabSz="266700"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移动可提供润泽新园区项目中入驻企业的通信服务</a:t>
            </a:r>
          </a:p>
        </p:txBody>
      </p:sp>
      <p:sp>
        <p:nvSpPr>
          <p:cNvPr id="8" name="矩形 7"/>
          <p:cNvSpPr/>
          <p:nvPr/>
        </p:nvSpPr>
        <p:spPr>
          <a:xfrm>
            <a:off x="1582420" y="4185920"/>
            <a:ext cx="7317740" cy="803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96545" y="4185920"/>
            <a:ext cx="1162685" cy="80391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合作方向</a:t>
            </a:r>
          </a:p>
        </p:txBody>
      </p:sp>
      <p:sp>
        <p:nvSpPr>
          <p:cNvPr id="10" name="object 5"/>
          <p:cNvSpPr txBox="1"/>
          <p:nvPr/>
        </p:nvSpPr>
        <p:spPr>
          <a:xfrm>
            <a:off x="251460" y="632460"/>
            <a:ext cx="8571865" cy="5867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12700" rIns="0" bIns="0" rtlCol="0">
            <a:noAutofit/>
          </a:bodyPr>
          <a:lstStyle/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嘉兴移动基于自身通信能力打造集企业办公、无线覆盖、网络安全，企业宣传等全方位、一站式的基础服务，并配备专属客户经理，及时响应企业通信服务需求。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054860" y="4446270"/>
            <a:ext cx="652272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 defTabSz="266700"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移动可提供企业办公网络、宿舍宽带、固话，网络安全卫士、无线覆盖（FTTO），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企业宣传（5G消息、视频彩铃）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等全套服务。</a:t>
            </a:r>
          </a:p>
        </p:txBody>
      </p:sp>
      <p:sp>
        <p:nvSpPr>
          <p:cNvPr id="87" name="矩形: 圆角 75"/>
          <p:cNvSpPr/>
          <p:nvPr>
            <p:custDataLst>
              <p:tags r:id="rId3"/>
            </p:custDataLst>
          </p:nvPr>
        </p:nvSpPr>
        <p:spPr>
          <a:xfrm>
            <a:off x="307975" y="1466850"/>
            <a:ext cx="8592185" cy="2675255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415665" y="1252855"/>
            <a:ext cx="1906905" cy="327025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基础通信能力</a:t>
            </a:r>
          </a:p>
        </p:txBody>
      </p:sp>
      <p:grpSp>
        <p:nvGrpSpPr>
          <p:cNvPr id="89" name="组合 88"/>
          <p:cNvGrpSpPr/>
          <p:nvPr/>
        </p:nvGrpSpPr>
        <p:grpSpPr>
          <a:xfrm>
            <a:off x="3023232" y="1682750"/>
            <a:ext cx="2990853" cy="2315845"/>
            <a:chOff x="9126" y="2691"/>
            <a:chExt cx="4710" cy="3647"/>
          </a:xfrm>
        </p:grpSpPr>
        <p:grpSp>
          <p:nvGrpSpPr>
            <p:cNvPr id="90" name="组合 89"/>
            <p:cNvGrpSpPr/>
            <p:nvPr/>
          </p:nvGrpSpPr>
          <p:grpSpPr>
            <a:xfrm>
              <a:off x="9126" y="2691"/>
              <a:ext cx="4633" cy="1791"/>
              <a:chOff x="7490" y="3360"/>
              <a:chExt cx="5269" cy="2263"/>
            </a:xfrm>
          </p:grpSpPr>
          <p:pic>
            <p:nvPicPr>
              <p:cNvPr id="91" name="object 18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727" y="4003"/>
                <a:ext cx="1139" cy="1037"/>
              </a:xfrm>
              <a:prstGeom prst="rect">
                <a:avLst/>
              </a:prstGeom>
            </p:spPr>
          </p:pic>
          <p:pic>
            <p:nvPicPr>
              <p:cNvPr id="92" name="object 19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680" y="4056"/>
                <a:ext cx="1472" cy="917"/>
              </a:xfrm>
              <a:prstGeom prst="rect">
                <a:avLst/>
              </a:prstGeom>
            </p:spPr>
          </p:pic>
          <p:sp>
            <p:nvSpPr>
              <p:cNvPr id="93" name="object 38"/>
              <p:cNvSpPr txBox="1"/>
              <p:nvPr/>
            </p:nvSpPr>
            <p:spPr>
              <a:xfrm>
                <a:off x="11027" y="3705"/>
                <a:ext cx="1647" cy="1918"/>
              </a:xfrm>
              <a:prstGeom prst="rect">
                <a:avLst/>
              </a:prstGeom>
            </p:spPr>
            <p:txBody>
              <a:bodyPr vert="horz" wrap="square" lIns="0" tIns="48895" rIns="0" bIns="0" rtlCol="0">
                <a:spAutoFit/>
              </a:bodyPr>
              <a:lstStyle/>
              <a:p>
                <a:pPr marL="184150" indent="-171450">
                  <a:lnSpc>
                    <a:spcPct val="100000"/>
                  </a:lnSpc>
                  <a:spcBef>
                    <a:spcPts val="285"/>
                  </a:spcBef>
                  <a:buFont typeface="Arial" panose="020B0604020202020204"/>
                  <a:buChar char="•"/>
                  <a:tabLst>
                    <a:tab pos="184150" algn="l"/>
                  </a:tabLst>
                </a:pPr>
                <a:r>
                  <a:rPr lang="zh-CN" sz="1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无线覆盖</a:t>
                </a:r>
              </a:p>
              <a:p>
                <a:pPr marL="184150" indent="-171450">
                  <a:lnSpc>
                    <a:spcPct val="100000"/>
                  </a:lnSpc>
                  <a:spcBef>
                    <a:spcPts val="285"/>
                  </a:spcBef>
                  <a:buFont typeface="Arial" panose="020B0604020202020204"/>
                  <a:buChar char="•"/>
                  <a:tabLst>
                    <a:tab pos="184150" algn="l"/>
                  </a:tabLst>
                </a:pPr>
                <a:r>
                  <a:rPr lang="zh-CN" sz="1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无缝漫游</a:t>
                </a:r>
              </a:p>
              <a:p>
                <a:pPr marL="184150" indent="-171450">
                  <a:lnSpc>
                    <a:spcPct val="100000"/>
                  </a:lnSpc>
                  <a:spcBef>
                    <a:spcPts val="285"/>
                  </a:spcBef>
                  <a:buFont typeface="Arial" panose="020B0604020202020204"/>
                  <a:buChar char="•"/>
                  <a:tabLst>
                    <a:tab pos="184150" algn="l"/>
                  </a:tabLst>
                </a:pPr>
                <a:r>
                  <a:rPr lang="zh-CN" sz="1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安全审计</a:t>
                </a:r>
                <a:endParaRPr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184150" indent="-171450">
                  <a:lnSpc>
                    <a:spcPct val="100000"/>
                  </a:lnSpc>
                  <a:spcBef>
                    <a:spcPts val="285"/>
                  </a:spcBef>
                  <a:buFont typeface="Arial" panose="020B0604020202020204"/>
                  <a:buChar char="•"/>
                  <a:tabLst>
                    <a:tab pos="184150" algn="l"/>
                  </a:tabLst>
                </a:pPr>
                <a:r>
                  <a:rPr lang="zh-CN" sz="10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高密高稳定</a:t>
                </a:r>
                <a:endParaRPr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184150" indent="-171450">
                  <a:lnSpc>
                    <a:spcPct val="100000"/>
                  </a:lnSpc>
                  <a:spcBef>
                    <a:spcPts val="285"/>
                  </a:spcBef>
                  <a:buFont typeface="Arial" panose="020B0604020202020204"/>
                  <a:buChar char="•"/>
                  <a:tabLst>
                    <a:tab pos="184150" algn="l"/>
                  </a:tabLst>
                </a:pPr>
                <a:endParaRPr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490" y="3548"/>
                <a:ext cx="5269" cy="1803"/>
              </a:xfrm>
              <a:prstGeom prst="rect">
                <a:avLst/>
              </a:prstGeom>
              <a:noFill/>
              <a:ln w="12700">
                <a:gradFill flip="none" rotWithShape="1">
                  <a:gsLst>
                    <a:gs pos="0">
                      <a:srgbClr val="002060">
                        <a:alpha val="47000"/>
                      </a:srgbClr>
                    </a:gs>
                    <a:gs pos="50000">
                      <a:srgbClr val="4F81BD">
                        <a:tint val="44500"/>
                        <a:satMod val="160000"/>
                      </a:srgbClr>
                    </a:gs>
                    <a:gs pos="100000">
                      <a:srgbClr val="002060">
                        <a:alpha val="3700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</p:spPr>
            <p:txBody>
              <a:bodyPr/>
              <a:lstStyle/>
              <a:p>
                <a:pPr defTabSz="1219200"/>
                <a:endParaRPr lang="zh-CN" altLang="en-US" sz="2800" kern="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09" y="3360"/>
                <a:ext cx="2640" cy="48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无线覆盖</a:t>
                </a:r>
                <a:r>
                  <a:rPr lang="en-US" altLang="zh-CN" sz="11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(FTTO)</a:t>
                </a:r>
                <a:endParaRPr lang="zh-CN" altLang="en-US" sz="11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9128" y="4112"/>
                <a:ext cx="752" cy="73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dirty="0">
                    <a:solidFill>
                      <a:srgbClr val="25252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＋</a:t>
                </a:r>
                <a:endParaRPr lang="zh-CN" altLang="en-US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9334" y="5187"/>
              <a:ext cx="1161" cy="605"/>
              <a:chOff x="2330784" y="0"/>
              <a:chExt cx="8536403" cy="1490882"/>
            </a:xfrm>
          </p:grpSpPr>
          <p:pic>
            <p:nvPicPr>
              <p:cNvPr id="98" name="图片 97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30784" y="0"/>
                <a:ext cx="8536403" cy="1489580"/>
              </a:xfrm>
              <a:prstGeom prst="rect">
                <a:avLst/>
              </a:prstGeom>
            </p:spPr>
          </p:pic>
          <p:pic>
            <p:nvPicPr>
              <p:cNvPr id="99" name="图片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70720" y="780961"/>
                <a:ext cx="778921" cy="709921"/>
              </a:xfrm>
              <a:prstGeom prst="rect">
                <a:avLst/>
              </a:prstGeom>
            </p:spPr>
          </p:pic>
        </p:grpSp>
        <p:pic>
          <p:nvPicPr>
            <p:cNvPr id="100" name="图片 9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881" y="5008"/>
              <a:ext cx="1458" cy="839"/>
            </a:xfrm>
            <a:prstGeom prst="rect">
              <a:avLst/>
            </a:prstGeom>
          </p:spPr>
        </p:pic>
        <p:sp>
          <p:nvSpPr>
            <p:cNvPr id="101" name="矩形 100"/>
            <p:cNvSpPr/>
            <p:nvPr/>
          </p:nvSpPr>
          <p:spPr>
            <a:xfrm>
              <a:off x="9127" y="4683"/>
              <a:ext cx="4631" cy="1590"/>
            </a:xfrm>
            <a:prstGeom prst="rect">
              <a:avLst/>
            </a:prstGeom>
            <a:noFill/>
            <a:ln w="12700">
              <a:gradFill flip="none" rotWithShape="1">
                <a:gsLst>
                  <a:gs pos="0">
                    <a:srgbClr val="002060">
                      <a:alpha val="47000"/>
                    </a:srgbClr>
                  </a:gs>
                  <a:gs pos="50000">
                    <a:srgbClr val="4F81BD">
                      <a:tint val="44500"/>
                      <a:satMod val="160000"/>
                    </a:srgbClr>
                  </a:gs>
                  <a:gs pos="100000">
                    <a:srgbClr val="002060">
                      <a:alpha val="37000"/>
                    </a:srgbClr>
                  </a:gs>
                </a:gsLst>
                <a:lin ang="2700000" scaled="1"/>
                <a:tileRect/>
              </a:gradFill>
              <a:miter lim="800000"/>
            </a:ln>
          </p:spPr>
          <p:txBody>
            <a:bodyPr/>
            <a:lstStyle/>
            <a:p>
              <a:pPr defTabSz="1219200"/>
              <a:endParaRPr lang="zh-CN" altLang="en-US" sz="2800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10022" y="4479"/>
              <a:ext cx="2321" cy="3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/>
                <a:t>网络安全卫士</a:t>
              </a:r>
            </a:p>
          </p:txBody>
        </p:sp>
        <p:sp>
          <p:nvSpPr>
            <p:cNvPr id="103" name="object 38"/>
            <p:cNvSpPr txBox="1"/>
            <p:nvPr/>
          </p:nvSpPr>
          <p:spPr>
            <a:xfrm>
              <a:off x="12388" y="4820"/>
              <a:ext cx="1448" cy="1518"/>
            </a:xfrm>
            <a:prstGeom prst="rect">
              <a:avLst/>
            </a:prstGeom>
          </p:spPr>
          <p:txBody>
            <a:bodyPr vert="horz" wrap="square" lIns="0" tIns="48895" rIns="0" bIns="0" rtlCol="0">
              <a:spAutoFit/>
            </a:bodyPr>
            <a:lstStyle/>
            <a:p>
              <a:pPr marL="184150" indent="-171450">
                <a:lnSpc>
                  <a:spcPct val="100000"/>
                </a:lnSpc>
                <a:spcBef>
                  <a:spcPts val="285"/>
                </a:spcBef>
                <a:buFont typeface="Arial" panose="020B0604020202020204"/>
                <a:buChar char="•"/>
                <a:tabLst>
                  <a:tab pos="184150" algn="l"/>
                </a:tabLst>
              </a:pPr>
              <a:r>
                <a:rPr lang="zh-CN" sz="1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防护能力强</a:t>
              </a:r>
            </a:p>
            <a:p>
              <a:pPr marL="184150" indent="-171450">
                <a:lnSpc>
                  <a:spcPct val="100000"/>
                </a:lnSpc>
                <a:spcBef>
                  <a:spcPts val="285"/>
                </a:spcBef>
                <a:buFont typeface="Arial" panose="020B0604020202020204"/>
                <a:buChar char="•"/>
                <a:tabLst>
                  <a:tab pos="184150" algn="l"/>
                </a:tabLst>
              </a:pPr>
              <a:r>
                <a:rPr lang="zh-CN" sz="1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运维方便</a:t>
              </a:r>
            </a:p>
            <a:p>
              <a:pPr marL="184150" indent="-171450">
                <a:lnSpc>
                  <a:spcPct val="100000"/>
                </a:lnSpc>
                <a:spcBef>
                  <a:spcPts val="285"/>
                </a:spcBef>
                <a:buFont typeface="Arial" panose="020B0604020202020204"/>
                <a:buChar char="•"/>
                <a:tabLst>
                  <a:tab pos="184150" algn="l"/>
                </a:tabLst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成本较低</a:t>
              </a:r>
              <a:endParaRPr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84150" indent="-171450">
                <a:lnSpc>
                  <a:spcPct val="100000"/>
                </a:lnSpc>
                <a:spcBef>
                  <a:spcPts val="285"/>
                </a:spcBef>
                <a:buFont typeface="Arial" panose="020B0604020202020204"/>
                <a:buChar char="•"/>
                <a:tabLst>
                  <a:tab pos="184150" algn="l"/>
                </a:tabLst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售后保障</a:t>
              </a:r>
              <a:endParaRPr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84150" indent="-171450">
                <a:lnSpc>
                  <a:spcPct val="100000"/>
                </a:lnSpc>
                <a:spcBef>
                  <a:spcPts val="285"/>
                </a:spcBef>
                <a:buFont typeface="Arial" panose="020B0604020202020204"/>
                <a:buChar char="•"/>
                <a:tabLst>
                  <a:tab pos="184150" algn="l"/>
                </a:tabLst>
              </a:pPr>
              <a:endParaRPr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object 22"/>
            <p:cNvSpPr txBox="1"/>
            <p:nvPr/>
          </p:nvSpPr>
          <p:spPr>
            <a:xfrm>
              <a:off x="9386" y="3938"/>
              <a:ext cx="3217" cy="315"/>
            </a:xfrm>
            <a:prstGeom prst="rect">
              <a:avLst/>
            </a:prstGeom>
          </p:spPr>
          <p:txBody>
            <a:bodyPr vert="horz" wrap="square" lIns="0" tIns="12700" rIns="0" bIns="0" rtlCol="0">
              <a:noAutofit/>
            </a:bodyPr>
            <a:lstStyle/>
            <a:p>
              <a:pPr marL="571500">
                <a:lnSpc>
                  <a:spcPct val="100000"/>
                </a:lnSpc>
                <a:spcBef>
                  <a:spcPts val="100"/>
                </a:spcBef>
              </a:pPr>
              <a:r>
                <a:rPr sz="1000" spc="-35" dirty="0">
                  <a:latin typeface="微软雅黑" panose="020B0503020204020204" charset="-122"/>
                  <a:cs typeface="微软雅黑" panose="020B0503020204020204" charset="-122"/>
                </a:rPr>
                <a:t>A</a:t>
              </a:r>
              <a:r>
                <a:rPr sz="1000" dirty="0">
                  <a:latin typeface="微软雅黑" panose="020B0503020204020204" charset="-122"/>
                  <a:cs typeface="微软雅黑" panose="020B0503020204020204" charset="-122"/>
                </a:rPr>
                <a:t>C</a:t>
              </a:r>
              <a:r>
                <a:rPr sz="1000" spc="-5" dirty="0">
                  <a:latin typeface="微软雅黑" panose="020B0503020204020204" charset="-122"/>
                  <a:cs typeface="微软雅黑" panose="020B0503020204020204" charset="-122"/>
                </a:rPr>
                <a:t>+AP</a:t>
              </a:r>
              <a:r>
                <a:rPr sz="1000" dirty="0">
                  <a:latin typeface="微软雅黑" panose="020B0503020204020204" charset="-122"/>
                  <a:cs typeface="微软雅黑" panose="020B0503020204020204" charset="-122"/>
                </a:rPr>
                <a:t>设备</a:t>
              </a:r>
              <a:endParaRPr sz="1000"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5" name="object 22"/>
            <p:cNvSpPr txBox="1"/>
            <p:nvPr/>
          </p:nvSpPr>
          <p:spPr>
            <a:xfrm>
              <a:off x="9126" y="5930"/>
              <a:ext cx="3217" cy="315"/>
            </a:xfrm>
            <a:prstGeom prst="rect">
              <a:avLst/>
            </a:prstGeom>
          </p:spPr>
          <p:txBody>
            <a:bodyPr vert="horz" wrap="square" lIns="0" tIns="12700" rIns="0" bIns="0" rtlCol="0">
              <a:noAutofit/>
            </a:bodyPr>
            <a:lstStyle/>
            <a:p>
              <a:pPr marL="571500">
                <a:lnSpc>
                  <a:spcPct val="100000"/>
                </a:lnSpc>
                <a:spcBef>
                  <a:spcPts val="100"/>
                </a:spcBef>
              </a:pPr>
              <a:r>
                <a:rPr lang="zh-CN" sz="1000" spc="-35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设备</a:t>
              </a:r>
              <a:r>
                <a:rPr lang="en-US" altLang="zh-CN" sz="1000" spc="-35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lang="zh-CN" altLang="en-US" sz="1000" spc="-35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防护平台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6059533" y="1683385"/>
            <a:ext cx="2714886" cy="2274570"/>
            <a:chOff x="9471" y="2567"/>
            <a:chExt cx="4347" cy="3582"/>
          </a:xfrm>
        </p:grpSpPr>
        <p:sp>
          <p:nvSpPr>
            <p:cNvPr id="107" name="矩形 106"/>
            <p:cNvSpPr/>
            <p:nvPr/>
          </p:nvSpPr>
          <p:spPr>
            <a:xfrm>
              <a:off x="9471" y="2716"/>
              <a:ext cx="4347" cy="3433"/>
            </a:xfrm>
            <a:prstGeom prst="rect">
              <a:avLst/>
            </a:prstGeom>
            <a:noFill/>
            <a:ln w="12700">
              <a:gradFill flip="none" rotWithShape="1">
                <a:gsLst>
                  <a:gs pos="0">
                    <a:srgbClr val="002060">
                      <a:alpha val="47000"/>
                    </a:srgbClr>
                  </a:gs>
                  <a:gs pos="50000">
                    <a:srgbClr val="4F81BD">
                      <a:tint val="44500"/>
                      <a:satMod val="160000"/>
                    </a:srgbClr>
                  </a:gs>
                  <a:gs pos="100000">
                    <a:srgbClr val="002060">
                      <a:alpha val="37000"/>
                    </a:srgbClr>
                  </a:gs>
                </a:gsLst>
                <a:lin ang="2700000" scaled="1"/>
                <a:tileRect/>
              </a:gradFill>
              <a:miter lim="800000"/>
            </a:ln>
          </p:spPr>
          <p:txBody>
            <a:bodyPr/>
            <a:lstStyle/>
            <a:p>
              <a:pPr defTabSz="1219200"/>
              <a:endParaRPr lang="zh-CN" altLang="en-US" sz="2800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10453" y="2567"/>
              <a:ext cx="2321" cy="3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1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企业宣传</a:t>
              </a:r>
              <a:endParaRPr lang="zh-CN" sz="11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379730" y="1628775"/>
            <a:ext cx="2535555" cy="1054735"/>
            <a:chOff x="9471" y="2195"/>
            <a:chExt cx="4347" cy="3942"/>
          </a:xfrm>
        </p:grpSpPr>
        <p:sp>
          <p:nvSpPr>
            <p:cNvPr id="110" name="矩形 109"/>
            <p:cNvSpPr/>
            <p:nvPr/>
          </p:nvSpPr>
          <p:spPr>
            <a:xfrm>
              <a:off x="9471" y="2704"/>
              <a:ext cx="4347" cy="3433"/>
            </a:xfrm>
            <a:prstGeom prst="rect">
              <a:avLst/>
            </a:prstGeom>
            <a:noFill/>
            <a:ln w="12700">
              <a:gradFill flip="none" rotWithShape="1">
                <a:gsLst>
                  <a:gs pos="0">
                    <a:srgbClr val="002060">
                      <a:alpha val="47000"/>
                    </a:srgbClr>
                  </a:gs>
                  <a:gs pos="50000">
                    <a:srgbClr val="4F81BD">
                      <a:tint val="44500"/>
                      <a:satMod val="160000"/>
                    </a:srgbClr>
                  </a:gs>
                  <a:gs pos="100000">
                    <a:srgbClr val="002060">
                      <a:alpha val="37000"/>
                    </a:srgbClr>
                  </a:gs>
                </a:gsLst>
                <a:lin ang="2700000" scaled="1"/>
                <a:tileRect/>
              </a:gradFill>
              <a:miter lim="800000"/>
            </a:ln>
          </p:spPr>
          <p:txBody>
            <a:bodyPr/>
            <a:lstStyle/>
            <a:p>
              <a:pPr defTabSz="1219200"/>
              <a:endParaRPr lang="zh-CN" altLang="en-US" sz="2800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10453" y="2195"/>
              <a:ext cx="2321" cy="7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1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宽带固话</a:t>
              </a:r>
            </a:p>
          </p:txBody>
        </p:sp>
      </p:grpSp>
      <p:sp>
        <p:nvSpPr>
          <p:cNvPr id="112" name="文本框 111"/>
          <p:cNvSpPr txBox="1"/>
          <p:nvPr/>
        </p:nvSpPr>
        <p:spPr>
          <a:xfrm>
            <a:off x="7193280" y="1933575"/>
            <a:ext cx="151003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>
              <a:lnSpc>
                <a:spcPct val="130000"/>
              </a:lnSpc>
              <a:buClrTx/>
              <a:buSzTx/>
              <a:buFont typeface="Wingdings" panose="05000000000000000000" charset="0"/>
              <a:buNone/>
            </a:pPr>
            <a:r>
              <a:rPr 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传统短信升级至</a:t>
            </a:r>
            <a:r>
              <a:rPr lang="zh-CN" sz="1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5G消息</a:t>
            </a:r>
            <a:endParaRPr lang="zh-CN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lvl="0" indent="0" algn="l">
              <a:lnSpc>
                <a:spcPct val="130000"/>
              </a:lnSpc>
              <a:buClrTx/>
              <a:buSzTx/>
              <a:buFont typeface="Wingdings" panose="05000000000000000000" charset="0"/>
              <a:buNone/>
            </a:pPr>
            <a:r>
              <a:rPr 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提升企业宣传效果</a:t>
            </a:r>
            <a:r>
              <a:rPr lang="zh-CN"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pic>
        <p:nvPicPr>
          <p:cNvPr id="113" name="图片 11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075" y="1941830"/>
            <a:ext cx="1711325" cy="1178560"/>
          </a:xfrm>
          <a:prstGeom prst="rect">
            <a:avLst/>
          </a:prstGeom>
        </p:spPr>
      </p:pic>
      <p:sp>
        <p:nvSpPr>
          <p:cNvPr id="114" name="矩形 113"/>
          <p:cNvSpPr/>
          <p:nvPr/>
        </p:nvSpPr>
        <p:spPr>
          <a:xfrm>
            <a:off x="6329680" y="2185670"/>
            <a:ext cx="640080" cy="713740"/>
          </a:xfrm>
          <a:prstGeom prst="rect">
            <a:avLst/>
          </a:prstGeom>
          <a:noFill/>
          <a:ln w="15875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/>
          <p:cNvSpPr/>
          <p:nvPr/>
        </p:nvSpPr>
        <p:spPr>
          <a:xfrm>
            <a:off x="7308215" y="2395220"/>
            <a:ext cx="1269365" cy="6394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en-US" sz="800" b="1" dirty="0">
                <a:latin typeface="微软雅黑" panose="020B0503020204020204" charset="-122"/>
                <a:ea typeface="微软雅黑" panose="020B0503020204020204" charset="-122"/>
              </a:rPr>
              <a:t>富媒体内容</a:t>
            </a:r>
            <a:endParaRPr lang="en-US" altLang="zh-CN" sz="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</a:rPr>
              <a:t>内容丰富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</a:rPr>
              <a:t>图文、</a:t>
            </a:r>
            <a:r>
              <a:rPr lang="en-US" altLang="en-US" sz="800" dirty="0">
                <a:latin typeface="微软雅黑" panose="020B0503020204020204" charset="-122"/>
                <a:ea typeface="微软雅黑" panose="020B0503020204020204" charset="-122"/>
              </a:rPr>
              <a:t>视频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</a:rPr>
              <a:t>直观展示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</a:rPr>
              <a:t>提升客户阅读量</a:t>
            </a:r>
          </a:p>
        </p:txBody>
      </p:sp>
      <p:cxnSp>
        <p:nvCxnSpPr>
          <p:cNvPr id="116" name="直接连接符 54"/>
          <p:cNvCxnSpPr/>
          <p:nvPr/>
        </p:nvCxnSpPr>
        <p:spPr>
          <a:xfrm>
            <a:off x="6889750" y="2640330"/>
            <a:ext cx="363220" cy="0"/>
          </a:xfrm>
          <a:prstGeom prst="line">
            <a:avLst/>
          </a:prstGeom>
          <a:ln w="12700">
            <a:solidFill>
              <a:srgbClr val="5B9BD5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/>
        </p:nvSpPr>
        <p:spPr>
          <a:xfrm>
            <a:off x="7285990" y="3139440"/>
            <a:ext cx="1451610" cy="691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可定制兼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具音、视频播放功能的</a:t>
            </a:r>
            <a:r>
              <a:rPr lang="zh-CN" altLang="en-US" sz="1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企业彩铃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algn="just" defTabSz="2667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电话被拨打即可宣传</a:t>
            </a:r>
          </a:p>
        </p:txBody>
      </p:sp>
      <p:grpSp>
        <p:nvGrpSpPr>
          <p:cNvPr id="118" name="组合 117"/>
          <p:cNvGrpSpPr/>
          <p:nvPr/>
        </p:nvGrpSpPr>
        <p:grpSpPr>
          <a:xfrm>
            <a:off x="6216650" y="3058160"/>
            <a:ext cx="850265" cy="824230"/>
            <a:chOff x="28971" y="5926"/>
            <a:chExt cx="7536" cy="11546"/>
          </a:xfrm>
        </p:grpSpPr>
        <p:pic>
          <p:nvPicPr>
            <p:cNvPr id="119" name="图片 118" descr="t019dd72736bcb03bef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8971" y="5926"/>
              <a:ext cx="7537" cy="11546"/>
            </a:xfrm>
            <a:prstGeom prst="rect">
              <a:avLst/>
            </a:prstGeom>
          </p:spPr>
        </p:pic>
        <p:pic>
          <p:nvPicPr>
            <p:cNvPr id="120" name="图片 119" descr="图层 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2348" y="15784"/>
              <a:ext cx="1252" cy="1252"/>
            </a:xfrm>
            <a:prstGeom prst="rect">
              <a:avLst/>
            </a:prstGeom>
          </p:spPr>
        </p:pic>
      </p:grpSp>
      <p:cxnSp>
        <p:nvCxnSpPr>
          <p:cNvPr id="121" name="直接连接符 54"/>
          <p:cNvCxnSpPr/>
          <p:nvPr/>
        </p:nvCxnSpPr>
        <p:spPr>
          <a:xfrm>
            <a:off x="6922770" y="3505200"/>
            <a:ext cx="363220" cy="0"/>
          </a:xfrm>
          <a:prstGeom prst="line">
            <a:avLst/>
          </a:prstGeom>
          <a:ln w="12700">
            <a:solidFill>
              <a:srgbClr val="5B9BD5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图片 1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79600" y="1917065"/>
            <a:ext cx="951230" cy="700405"/>
          </a:xfrm>
          <a:prstGeom prst="rect">
            <a:avLst/>
          </a:prstGeom>
        </p:spPr>
      </p:pic>
      <p:sp>
        <p:nvSpPr>
          <p:cNvPr id="123" name="文本框 122"/>
          <p:cNvSpPr txBox="1"/>
          <p:nvPr/>
        </p:nvSpPr>
        <p:spPr>
          <a:xfrm>
            <a:off x="446405" y="1849120"/>
            <a:ext cx="13487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提供</a:t>
            </a:r>
            <a:r>
              <a:rPr lang="en-US" altLang="zh-CN" sz="1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100M</a:t>
            </a:r>
            <a:r>
              <a:rPr lang="zh-CN" altLang="en-US" sz="1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及以上互联网专线、宿舍宽带、公司固话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满足企业员工办公生活需求。</a:t>
            </a:r>
          </a:p>
        </p:txBody>
      </p:sp>
      <p:grpSp>
        <p:nvGrpSpPr>
          <p:cNvPr id="124" name="组合 123"/>
          <p:cNvGrpSpPr/>
          <p:nvPr/>
        </p:nvGrpSpPr>
        <p:grpSpPr>
          <a:xfrm>
            <a:off x="394970" y="2810510"/>
            <a:ext cx="2515235" cy="1129030"/>
            <a:chOff x="9471" y="2195"/>
            <a:chExt cx="4347" cy="3942"/>
          </a:xfrm>
        </p:grpSpPr>
        <p:sp>
          <p:nvSpPr>
            <p:cNvPr id="125" name="矩形 124"/>
            <p:cNvSpPr/>
            <p:nvPr/>
          </p:nvSpPr>
          <p:spPr>
            <a:xfrm>
              <a:off x="9471" y="2704"/>
              <a:ext cx="4347" cy="3433"/>
            </a:xfrm>
            <a:prstGeom prst="rect">
              <a:avLst/>
            </a:prstGeom>
            <a:noFill/>
            <a:ln w="12700">
              <a:gradFill flip="none" rotWithShape="1">
                <a:gsLst>
                  <a:gs pos="0">
                    <a:srgbClr val="002060">
                      <a:alpha val="47000"/>
                    </a:srgbClr>
                  </a:gs>
                  <a:gs pos="50000">
                    <a:srgbClr val="4F81BD">
                      <a:tint val="44500"/>
                      <a:satMod val="160000"/>
                    </a:srgbClr>
                  </a:gs>
                  <a:gs pos="100000">
                    <a:srgbClr val="002060">
                      <a:alpha val="37000"/>
                    </a:srgbClr>
                  </a:gs>
                </a:gsLst>
                <a:lin ang="2700000" scaled="1"/>
                <a:tileRect/>
              </a:gradFill>
              <a:miter lim="800000"/>
            </a:ln>
          </p:spPr>
          <p:txBody>
            <a:bodyPr/>
            <a:lstStyle/>
            <a:p>
              <a:pPr defTabSz="1219200"/>
              <a:endParaRPr lang="zh-CN" altLang="en-US" sz="2800" kern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10453" y="2195"/>
              <a:ext cx="2321" cy="7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sz="11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云电脑</a:t>
              </a:r>
              <a:endParaRPr lang="zh-CN" sz="11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461645" y="3009900"/>
            <a:ext cx="1417955" cy="937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提供依托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高品质网络与虚拟化技术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sz="1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云电脑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，将云端算力以桌面形态供给用户，助力企业高效办公。</a:t>
            </a:r>
          </a:p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0870" y="3059430"/>
            <a:ext cx="983615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595755" y="3868420"/>
            <a:ext cx="7317740" cy="120142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1460" y="172403"/>
            <a:ext cx="2590165" cy="344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业务合作方向 | 电路业务</a:t>
            </a:r>
          </a:p>
        </p:txBody>
      </p:sp>
      <p:sp>
        <p:nvSpPr>
          <p:cNvPr id="2" name="object 5"/>
          <p:cNvSpPr txBox="1"/>
          <p:nvPr/>
        </p:nvSpPr>
        <p:spPr>
          <a:xfrm>
            <a:off x="251460" y="611505"/>
            <a:ext cx="8571865" cy="5156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12700" rIns="0" bIns="0" rtlCol="0">
            <a:noAutofit/>
          </a:bodyPr>
          <a:lstStyle/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嘉兴移动为高价值集团客户打造精品</a:t>
            </a:r>
            <a:r>
              <a:rPr lang="en-US" altLang="zh-CN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OTN</a:t>
            </a: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网络，可提供高质量的跨境、跨省和省内专线，更好的满足客户对于低时延、高可靠、大带宽的要求。</a:t>
            </a:r>
          </a:p>
        </p:txBody>
      </p:sp>
      <p:sp>
        <p:nvSpPr>
          <p:cNvPr id="35" name="矩形: 圆角 75"/>
          <p:cNvSpPr/>
          <p:nvPr>
            <p:custDataLst>
              <p:tags r:id="rId3"/>
            </p:custDataLst>
          </p:nvPr>
        </p:nvSpPr>
        <p:spPr>
          <a:xfrm>
            <a:off x="307975" y="1378585"/>
            <a:ext cx="8515985" cy="2402840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4325" y="3869055"/>
            <a:ext cx="1162685" cy="1200785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合作方向</a:t>
            </a:r>
          </a:p>
        </p:txBody>
      </p:sp>
      <p:sp>
        <p:nvSpPr>
          <p:cNvPr id="16" name="矩形 15"/>
          <p:cNvSpPr/>
          <p:nvPr/>
        </p:nvSpPr>
        <p:spPr>
          <a:xfrm>
            <a:off x="458470" y="1548765"/>
            <a:ext cx="1137285" cy="26289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业务形态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9765" y="1548765"/>
            <a:ext cx="4003040" cy="7594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63320" y="2829243"/>
            <a:ext cx="119507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超强保障</a:t>
            </a:r>
            <a:endParaRPr lang="en-US" altLang="zh-CN" sz="1200" b="1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全程硬管道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560320" y="2829243"/>
            <a:ext cx="1120775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超大带宽</a:t>
            </a:r>
            <a:endParaRPr lang="en-US" altLang="zh-CN" sz="1200" b="1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96</a:t>
            </a:r>
            <a:r>
              <a:rPr lang="zh-CN" altLang="en-US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波*</a:t>
            </a:r>
            <a:r>
              <a:rPr lang="en-US" altLang="zh-CN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200G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501900" y="3266758"/>
            <a:ext cx="1257935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超低时延</a:t>
            </a:r>
            <a:endParaRPr lang="en-US" altLang="zh-CN" sz="1200" b="1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全光最短路径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058545" y="3266758"/>
            <a:ext cx="139192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超高可靠</a:t>
            </a:r>
            <a:endParaRPr lang="en-US" altLang="zh-CN" sz="1200" b="1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抗多次断纤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641090" y="2840673"/>
            <a:ext cx="131826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快捷接入</a:t>
            </a:r>
            <a:endParaRPr lang="en-US" altLang="zh-CN" sz="1200" b="1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海内外覆盖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171315" y="3259138"/>
            <a:ext cx="131826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便捷服务</a:t>
            </a:r>
            <a:endParaRPr lang="en-US" altLang="zh-CN" sz="1200" b="1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大客户网管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766945" y="2836863"/>
            <a:ext cx="1318260" cy="460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敏捷扩容</a:t>
            </a:r>
            <a:endParaRPr lang="en-US" altLang="zh-CN" sz="1200" b="1" u="sng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在线提速</a:t>
            </a: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122035" y="2674620"/>
          <a:ext cx="2443480" cy="1017270"/>
        </p:xfrm>
        <a:graphic>
          <a:graphicData uri="http://schemas.openxmlformats.org/drawingml/2006/table">
            <a:tbl>
              <a:tblPr/>
              <a:tblGrid>
                <a:gridCol w="610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59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业务高可用率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0D0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AAA级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AA级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A级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000" b="0" i="0" u="none" strike="noStrike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普通级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00" b="0" i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99.99%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00" b="0" i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99.96%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00" b="0" i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99.93%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99.72%</a:t>
                      </a:r>
                    </a:p>
                  </a:txBody>
                  <a:tcPr marL="6285" marR="6285" marT="6285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1835150" y="2565401"/>
            <a:ext cx="1195070" cy="275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r>
              <a:rPr lang="en-US" altLang="zh-CN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超</a:t>
            </a:r>
          </a:p>
        </p:txBody>
      </p:sp>
      <p:sp>
        <p:nvSpPr>
          <p:cNvPr id="36" name="矩形 35"/>
          <p:cNvSpPr/>
          <p:nvPr/>
        </p:nvSpPr>
        <p:spPr>
          <a:xfrm>
            <a:off x="458470" y="2460625"/>
            <a:ext cx="1137285" cy="26289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核心优势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232910" y="2588261"/>
            <a:ext cx="1195070" cy="275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r>
              <a:rPr lang="en-US" altLang="zh-CN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捷</a:t>
            </a:r>
          </a:p>
        </p:txBody>
      </p:sp>
      <p:sp>
        <p:nvSpPr>
          <p:cNvPr id="38" name="矩形 37"/>
          <p:cNvSpPr/>
          <p:nvPr/>
        </p:nvSpPr>
        <p:spPr>
          <a:xfrm>
            <a:off x="5991225" y="1548130"/>
            <a:ext cx="1137285" cy="26289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应用行业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080125" y="1884045"/>
            <a:ext cx="1019175" cy="275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互联网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016750" y="1884045"/>
            <a:ext cx="1019175" cy="275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党政军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900670" y="1884045"/>
            <a:ext cx="1019175" cy="275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金融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420485" y="2358390"/>
            <a:ext cx="1019175" cy="275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工业能源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7425690" y="2359660"/>
            <a:ext cx="1019175" cy="2755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大企业</a:t>
            </a:r>
          </a:p>
        </p:txBody>
      </p:sp>
      <p:cxnSp>
        <p:nvCxnSpPr>
          <p:cNvPr id="47" name="肘形连接符 46"/>
          <p:cNvCxnSpPr>
            <a:stCxn id="40" idx="2"/>
            <a:endCxn id="43" idx="2"/>
          </p:cNvCxnSpPr>
          <p:nvPr/>
        </p:nvCxnSpPr>
        <p:spPr>
          <a:xfrm rot="5400000" flipV="1">
            <a:off x="7499985" y="1249045"/>
            <a:ext cx="3175" cy="1820545"/>
          </a:xfrm>
          <a:prstGeom prst="bentConnector3">
            <a:avLst>
              <a:gd name="adj1" fmla="val 328000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42" idx="2"/>
            <a:endCxn id="44" idx="0"/>
          </p:cNvCxnSpPr>
          <p:nvPr/>
        </p:nvCxnSpPr>
        <p:spPr>
          <a:xfrm rot="5400000">
            <a:off x="7129145" y="1960880"/>
            <a:ext cx="198755" cy="596265"/>
          </a:xfrm>
          <a:prstGeom prst="bentConnector3">
            <a:avLst>
              <a:gd name="adj1" fmla="val 5016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42" idx="2"/>
            <a:endCxn id="45" idx="0"/>
          </p:cNvCxnSpPr>
          <p:nvPr/>
        </p:nvCxnSpPr>
        <p:spPr>
          <a:xfrm rot="5400000" flipV="1">
            <a:off x="7631113" y="2055178"/>
            <a:ext cx="200025" cy="40894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1595755" y="3989070"/>
            <a:ext cx="713422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润泽在获取到入驻客户电路需求时，可同步推荐移动电路业务：</a:t>
            </a:r>
            <a:endParaRPr lang="zh-CN" altLang="en-US" sz="1600">
              <a:latin typeface="仿宋_GB2312" panose="02010609030101010101" charset="-122"/>
              <a:ea typeface="仿宋_GB2312" panose="020106090301010101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995170" y="4326890"/>
            <a:ext cx="684149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可提供自有跨省、跨地市电路连接；</a:t>
            </a:r>
          </a:p>
          <a:p>
            <a:pPr marL="171450" indent="-17145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just" defTabSz="2667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通过项目方式委托第三方完成跨省、跨地市电路连接（腾讯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间链路需求，目前正在跟进中）</a:t>
            </a:r>
            <a:endParaRPr lang="zh-CN" altLang="en-US" sz="1600">
              <a:latin typeface="仿宋_GB2312" panose="02010609030101010101" charset="-122"/>
              <a:ea typeface="仿宋_GB2312" panose="02010609030101010101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479165" y="1159510"/>
            <a:ext cx="1949450" cy="401955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电路服务能力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035" y="2040890"/>
            <a:ext cx="1374140" cy="2376805"/>
          </a:xfrm>
          <a:prstGeom prst="rect">
            <a:avLst/>
          </a:prstGeom>
        </p:spPr>
      </p:pic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1460" y="172403"/>
            <a:ext cx="2723515" cy="344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业务合作方向 | </a:t>
            </a:r>
            <a:r>
              <a:rPr kumimoji="1" lang="en-US" altLang="zh-CN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AIDC</a:t>
            </a: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</a:t>
            </a:r>
          </a:p>
        </p:txBody>
      </p:sp>
      <p:sp>
        <p:nvSpPr>
          <p:cNvPr id="2" name="object 5"/>
          <p:cNvSpPr txBox="1"/>
          <p:nvPr/>
        </p:nvSpPr>
        <p:spPr>
          <a:xfrm>
            <a:off x="251460" y="688340"/>
            <a:ext cx="8571865" cy="4921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嘉兴移动与润泽在</a:t>
            </a:r>
            <a:r>
              <a:rPr lang="en-US" altLang="zh-CN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年达成</a:t>
            </a:r>
            <a:r>
              <a:rPr lang="en-US" altLang="zh-CN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IDC</a:t>
            </a: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机房合作，嘉兴移动可</a:t>
            </a: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整合自有及合作伙伴</a:t>
            </a:r>
            <a:r>
              <a:rPr lang="en-US" altLang="zh-CN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IDC</a:t>
            </a: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基础设施、智算服务器、智算平台、运营运维等能力，统一封装算力、存储、网络等资源，向客户提供一体化算力服务。</a:t>
            </a:r>
          </a:p>
        </p:txBody>
      </p:sp>
      <p:sp>
        <p:nvSpPr>
          <p:cNvPr id="37" name="矩形: 圆角 75"/>
          <p:cNvSpPr/>
          <p:nvPr>
            <p:custDataLst>
              <p:tags r:id="rId3"/>
            </p:custDataLst>
          </p:nvPr>
        </p:nvSpPr>
        <p:spPr>
          <a:xfrm>
            <a:off x="251460" y="1508760"/>
            <a:ext cx="3752850" cy="2618740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36090" y="1896110"/>
            <a:ext cx="235140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000" b="1" u="sng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A2数据中心</a:t>
            </a:r>
            <a:r>
              <a:rPr lang="zh-CN" altLang="en-US" sz="1000" b="1" u="sng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1000架</a:t>
            </a:r>
            <a:r>
              <a:rPr lang="zh-CN" altLang="en-US" sz="1000" b="1" u="sng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IDC标准机柜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1737360" y="2697480"/>
            <a:ext cx="220408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000" b="1" u="sng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单机柜20A以内</a:t>
            </a:r>
            <a:r>
              <a:rPr lang="zh-CN" altLang="en-US" sz="1000" b="1" u="sng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6000元/月/架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736725" y="2270125"/>
            <a:ext cx="220472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000" b="1" u="sng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单机柜功率密度</a:t>
            </a:r>
            <a:r>
              <a:rPr lang="zh-CN" altLang="en-US" sz="1000" b="1" u="sng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6.3KW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736090" y="3096895"/>
            <a:ext cx="226822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000" b="1" u="sng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20A以上部分</a:t>
            </a:r>
            <a:r>
              <a:rPr lang="zh-CN" altLang="en-US" sz="1000" b="1" u="sng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200元/月/A</a:t>
            </a:r>
            <a:endParaRPr lang="zh-CN" altLang="en-US" sz="1000" b="1" u="sng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368425" y="1300480"/>
            <a:ext cx="1539875" cy="323215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IDC</a:t>
            </a:r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合作机房内容</a:t>
            </a:r>
          </a:p>
        </p:txBody>
      </p:sp>
      <p:sp>
        <p:nvSpPr>
          <p:cNvPr id="4" name="矩形: 圆角 75"/>
          <p:cNvSpPr/>
          <p:nvPr>
            <p:custDataLst>
              <p:tags r:id="rId4"/>
            </p:custDataLst>
          </p:nvPr>
        </p:nvSpPr>
        <p:spPr>
          <a:xfrm>
            <a:off x="4168775" y="1508760"/>
            <a:ext cx="4873625" cy="2615565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65115" y="1294765"/>
            <a:ext cx="2266950" cy="33655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智算定制化服务能力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161790" y="3152140"/>
            <a:ext cx="218059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  <a:tabLst>
                <a:tab pos="457200" algn="l"/>
              </a:tabLst>
            </a:pPr>
            <a:r>
              <a:rPr lang="en-US" altLang="zh-CN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模式</a:t>
            </a:r>
            <a:r>
              <a:rPr lang="en-US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合作IDC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机房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采购软硬件、维保、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集成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、运营、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运维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96025" y="3164205"/>
            <a:ext cx="274701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  <a:tabLst>
                <a:tab pos="457200" algn="l"/>
              </a:tabLst>
            </a:pPr>
            <a:r>
              <a:rPr lang="en-US" altLang="zh-CN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模式</a:t>
            </a:r>
            <a:r>
              <a:rPr lang="en-US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合作IDC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机房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+采购/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租赁软硬件、维保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采购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部分集成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运营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运维+部分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自主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能力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68775" y="3716020"/>
            <a:ext cx="4872990" cy="299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  <a:tabLst>
                <a:tab pos="457200" algn="l"/>
              </a:tabLst>
            </a:pPr>
            <a:r>
              <a:rPr lang="en-US" altLang="zh-CN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模式</a:t>
            </a:r>
            <a:r>
              <a:rPr lang="en-US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9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合作IDC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机房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采购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租赁软硬件、维保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全部自有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集成</a:t>
            </a:r>
            <a:r>
              <a:rPr lang="zh-CN" altLang="en-US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900" b="1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运营运维能力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4700" y="1753235"/>
            <a:ext cx="4170045" cy="130302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595755" y="4228465"/>
            <a:ext cx="7317740" cy="82994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14325" y="4229100"/>
            <a:ext cx="1162685" cy="83185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合作方向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656715" y="4436745"/>
            <a:ext cx="71666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>
              <a:buClrTx/>
              <a:buSzTx/>
              <a:buFont typeface="Wingdings" panose="05000000000000000000" charset="0"/>
              <a:buChar char="ü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移动与润泽发挥各自优势，基于已有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IDC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合作，寻找阿里、腾讯等大厂相关算力项目需求，延申开展算力服务合作。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35455" y="3512820"/>
            <a:ext cx="226822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defTabSz="266700" fontAlgn="auto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000" b="1" u="sng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具体项目可根据实际情况一事一议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 txBox="1"/>
          <p:nvPr>
            <p:custDataLst>
              <p:tags r:id="rId2"/>
            </p:custDataLst>
          </p:nvPr>
        </p:nvSpPr>
        <p:spPr>
          <a:xfrm>
            <a:off x="251460" y="195303"/>
            <a:ext cx="6390309" cy="343853"/>
          </a:xfrm>
          <a:prstGeom prst="rect">
            <a:avLst/>
          </a:prstGeom>
        </p:spPr>
        <p:txBody>
          <a:bodyPr anchor="ctr"/>
          <a:lstStyle>
            <a:lvl1pPr defTabSz="607060">
              <a:spcBef>
                <a:spcPct val="0"/>
              </a:spcBef>
              <a:buNone/>
              <a:defRPr kumimoji="1" sz="2665" b="1" baseline="0">
                <a:solidFill>
                  <a:srgbClr val="1184CF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1800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业务合作方向 | 物联网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1459" y="627587"/>
            <a:ext cx="8292121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1200" b="1" i="0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1200" b="1" i="0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移动提供物联卡业务，物联卡具备网络通信、行业应用、平台管理及运营支撑3类核心功能。其中网络通信功能包含全网络制式通信服务、灵活的卡形态、丰富的基础能力；行业应用包含“卡+X”融合产品能力、灵活的资费方案、专属行业解决方案；平台管理及运营支撑面向政企客户提供连接管理服务。</a:t>
            </a:r>
            <a:endParaRPr lang="zh-CN" altLang="en-US" sz="1200" b="1" kern="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12" y="1578230"/>
            <a:ext cx="382366" cy="38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184" y="1578291"/>
            <a:ext cx="410430" cy="41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07" y="1523437"/>
            <a:ext cx="430539" cy="43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851922" y="1419766"/>
            <a:ext cx="195968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200" b="1" i="0" dirty="0">
                <a:effectLst/>
                <a:latin typeface="MiSans"/>
              </a:rPr>
              <a:t>网络通信</a:t>
            </a:r>
            <a:endParaRPr lang="en-US" altLang="zh-CN" sz="1200" b="1" i="0" dirty="0">
              <a:effectLst/>
              <a:latin typeface="MiSans"/>
            </a:endParaRPr>
          </a:p>
          <a:p>
            <a:pPr algn="ctr"/>
            <a:r>
              <a:rPr lang="zh-CN" altLang="en-US" sz="8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支撑NB、Cat.1、4G、5G等多种网络制式通信，满足语音、短信、数据等多种通信需求</a:t>
            </a:r>
          </a:p>
        </p:txBody>
      </p:sp>
      <p:sp>
        <p:nvSpPr>
          <p:cNvPr id="16" name="矩形: 圆角 75"/>
          <p:cNvSpPr/>
          <p:nvPr>
            <p:custDataLst>
              <p:tags r:id="rId3"/>
            </p:custDataLst>
          </p:nvPr>
        </p:nvSpPr>
        <p:spPr>
          <a:xfrm>
            <a:off x="3006142" y="1415411"/>
            <a:ext cx="2571943" cy="631223"/>
          </a:xfrm>
          <a:prstGeom prst="roundRect">
            <a:avLst>
              <a:gd name="adj" fmla="val 2517"/>
            </a:avLst>
          </a:prstGeom>
          <a:noFill/>
          <a:ln w="25400">
            <a:solidFill>
              <a:srgbClr val="1184C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455287" y="1399308"/>
            <a:ext cx="217041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200" b="1" dirty="0">
                <a:latin typeface="MiSans"/>
              </a:rPr>
              <a:t>行业应用</a:t>
            </a:r>
            <a:endParaRPr lang="en-US" altLang="zh-CN" sz="1200" b="1" dirty="0">
              <a:latin typeface="MiSans"/>
            </a:endParaRPr>
          </a:p>
          <a:p>
            <a:pPr algn="ctr">
              <a:buClrTx/>
              <a:buSzTx/>
              <a:buFontTx/>
            </a:pPr>
            <a:r>
              <a:rPr lang="zh-CN" altLang="en-US" sz="800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面向智能抄表、车联网、共享服务、移动办公等行业，为客户提供“卡+X”融合产品能力和专属行业解决方案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263146" y="1413069"/>
            <a:ext cx="215813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200" b="1" dirty="0">
                <a:latin typeface="MiSans"/>
              </a:rPr>
              <a:t>平台管理及运营支撑</a:t>
            </a:r>
          </a:p>
          <a:p>
            <a:pPr algn="l"/>
            <a:r>
              <a:rPr lang="zh-CN" altLang="en-US" sz="800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面向车联网、共享行业、智慧城市、低空智联、智能抄表等 </a:t>
            </a:r>
            <a:r>
              <a:rPr lang="en-US" altLang="zh-CN" sz="800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</a:t>
            </a:r>
            <a:r>
              <a:rPr lang="zh-CN" altLang="en-US" sz="800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多个行业提供全连接管理、</a:t>
            </a:r>
            <a:r>
              <a:rPr lang="en-US" altLang="zh-CN" sz="800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800" b="1" i="0" dirty="0">
                <a:solidFill>
                  <a:srgbClr val="404040"/>
                </a:solidFill>
                <a:effectLst/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服务、风险防控、数据运营等能力</a:t>
            </a:r>
            <a:endParaRPr lang="zh-CN" altLang="en-US" sz="800" b="1" i="0" dirty="0">
              <a:solidFill>
                <a:srgbClr val="40404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113" y="2494735"/>
            <a:ext cx="3951514" cy="1472829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4765733" y="3936960"/>
            <a:ext cx="3477894" cy="107103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为供水公司管理层提供决策支持依据。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p"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为管理部门提供商务智能分析、汇总报表。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p"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为业务部门提供业务指标分析、运行监控</a:t>
            </a:r>
            <a:r>
              <a:rPr lang="zh-CN" altLang="en-US" sz="135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7" name="矩形: 圆角 75"/>
          <p:cNvSpPr/>
          <p:nvPr>
            <p:custDataLst>
              <p:tags r:id="rId4"/>
            </p:custDataLst>
          </p:nvPr>
        </p:nvSpPr>
        <p:spPr>
          <a:xfrm>
            <a:off x="4101737" y="2293115"/>
            <a:ext cx="4526280" cy="2661922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930565" y="2161670"/>
            <a:ext cx="2868624" cy="327025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华文细黑" panose="02010600040101010101" pitchFamily="2" charset="-122"/>
              </a:rPr>
              <a:t>基于物联网的水务数据采集整体方案</a:t>
            </a:r>
            <a:endParaRPr lang="zh-CN" altLang="en-US" sz="12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: 圆角 75">
            <a:extLst>
              <a:ext uri="{FF2B5EF4-FFF2-40B4-BE49-F238E27FC236}">
                <a16:creationId xmlns:a16="http://schemas.microsoft.com/office/drawing/2014/main" id="{FD55CA3C-8E25-56B2-7092-88909FEF0BB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3435" y="1421807"/>
            <a:ext cx="2571943" cy="631223"/>
          </a:xfrm>
          <a:prstGeom prst="roundRect">
            <a:avLst>
              <a:gd name="adj" fmla="val 2517"/>
            </a:avLst>
          </a:prstGeom>
          <a:noFill/>
          <a:ln w="25400">
            <a:solidFill>
              <a:srgbClr val="1184C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: 圆角 75">
            <a:extLst>
              <a:ext uri="{FF2B5EF4-FFF2-40B4-BE49-F238E27FC236}">
                <a16:creationId xmlns:a16="http://schemas.microsoft.com/office/drawing/2014/main" id="{75A83027-837D-64E8-9ED1-3B943E43B50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784990" y="1421807"/>
            <a:ext cx="2571943" cy="623832"/>
          </a:xfrm>
          <a:prstGeom prst="roundRect">
            <a:avLst>
              <a:gd name="adj" fmla="val 2517"/>
            </a:avLst>
          </a:prstGeom>
          <a:noFill/>
          <a:ln w="25400">
            <a:solidFill>
              <a:srgbClr val="1184C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: 圆角 75">
            <a:extLst>
              <a:ext uri="{FF2B5EF4-FFF2-40B4-BE49-F238E27FC236}">
                <a16:creationId xmlns:a16="http://schemas.microsoft.com/office/drawing/2014/main" id="{27ACCE18-C6BE-6F67-565F-0C43539A9AC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51459" y="2293115"/>
            <a:ext cx="3701428" cy="2651755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B71E24-D1EE-E8BF-2D47-7ABFE71851D9}"/>
              </a:ext>
            </a:extLst>
          </p:cNvPr>
          <p:cNvSpPr/>
          <p:nvPr/>
        </p:nvSpPr>
        <p:spPr>
          <a:xfrm>
            <a:off x="1643626" y="2161670"/>
            <a:ext cx="884879" cy="26289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核心优势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3F87F3C-5631-33EB-9CA2-12E2F376F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42" y="2501014"/>
            <a:ext cx="493935" cy="49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7F3C7534-2AE6-661B-466E-E3FBC4E8D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90" y="3116567"/>
            <a:ext cx="512687" cy="51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9B2EEA1-DE7C-AB45-E3C2-2639CCFFEF98}"/>
              </a:ext>
            </a:extLst>
          </p:cNvPr>
          <p:cNvSpPr txBox="1"/>
          <p:nvPr/>
        </p:nvSpPr>
        <p:spPr>
          <a:xfrm>
            <a:off x="772277" y="2440206"/>
            <a:ext cx="3075397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400" b="1" dirty="0">
                <a:latin typeface="MiSans"/>
              </a:rPr>
              <a:t>强大的网络能力</a:t>
            </a:r>
            <a:endParaRPr lang="en-US" altLang="zh-CN" sz="1400" b="1" dirty="0">
              <a:latin typeface="MiSans"/>
            </a:endParaRPr>
          </a:p>
          <a:p>
            <a:r>
              <a:rPr lang="zh-CN" altLang="en-US" sz="9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中国移动</a:t>
            </a:r>
            <a:r>
              <a:rPr lang="en-US" altLang="zh-CN" sz="9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4G/5G</a:t>
            </a:r>
            <a:r>
              <a:rPr lang="zh-CN" altLang="en-US" sz="9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网络覆盖全球领先，行政村及以上覆盖率达</a:t>
            </a:r>
            <a:r>
              <a:rPr lang="en-US" altLang="zh-CN" sz="9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99.6%</a:t>
            </a:r>
            <a:endParaRPr lang="zh-CN" altLang="en-US" sz="900" b="1" dirty="0">
              <a:solidFill>
                <a:srgbClr val="404040"/>
              </a:solidFill>
              <a:highlight>
                <a:srgbClr val="FFFFFF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86AAD0-7372-853B-DE29-7AE2F5E24069}"/>
              </a:ext>
            </a:extLst>
          </p:cNvPr>
          <p:cNvSpPr txBox="1"/>
          <p:nvPr/>
        </p:nvSpPr>
        <p:spPr>
          <a:xfrm>
            <a:off x="772276" y="3071405"/>
            <a:ext cx="3075397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400" b="1" dirty="0">
                <a:latin typeface="MiSans"/>
              </a:rPr>
              <a:t>丰富的平台功能</a:t>
            </a:r>
            <a:endParaRPr lang="en-US" altLang="zh-CN" sz="1400" b="1" dirty="0">
              <a:latin typeface="MiSans"/>
            </a:endParaRPr>
          </a:p>
          <a:p>
            <a:r>
              <a:rPr lang="zh-CN" altLang="en-US" sz="9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可对外提供丰富的物联卡连接管理能力，深度契合行业生产流程，助力经营降本增效</a:t>
            </a:r>
          </a:p>
        </p:txBody>
      </p:sp>
      <p:pic>
        <p:nvPicPr>
          <p:cNvPr id="25" name="Picture 6">
            <a:extLst>
              <a:ext uri="{FF2B5EF4-FFF2-40B4-BE49-F238E27FC236}">
                <a16:creationId xmlns:a16="http://schemas.microsoft.com/office/drawing/2014/main" id="{F1AEEE56-ECD6-74C1-E73E-EF7742AB3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42" y="3731829"/>
            <a:ext cx="512687" cy="51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D3EC8EA-1D93-FCDD-B650-9FAB9D38207A}"/>
              </a:ext>
            </a:extLst>
          </p:cNvPr>
          <p:cNvSpPr txBox="1"/>
          <p:nvPr/>
        </p:nvSpPr>
        <p:spPr>
          <a:xfrm>
            <a:off x="772275" y="3738622"/>
            <a:ext cx="3075397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400" b="1" dirty="0">
                <a:latin typeface="MiSans"/>
              </a:rPr>
              <a:t>贴心的管家服务</a:t>
            </a:r>
            <a:endParaRPr lang="en-US" altLang="zh-CN" sz="1400" b="1" dirty="0">
              <a:latin typeface="MiSans"/>
            </a:endParaRPr>
          </a:p>
          <a:p>
            <a:r>
              <a:rPr lang="zh-CN" altLang="en-US" sz="9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分层分级服务保障上线，故障处理闭环周期低至</a:t>
            </a:r>
            <a:r>
              <a:rPr lang="en-US" altLang="zh-CN" sz="9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18</a:t>
            </a:r>
            <a:r>
              <a:rPr lang="zh-CN" altLang="en-US" sz="900" b="1" dirty="0">
                <a:solidFill>
                  <a:srgbClr val="404040"/>
                </a:solidFill>
                <a:highlight>
                  <a:srgbClr val="FFFFFF"/>
                </a:highlight>
                <a:latin typeface="微软雅黑" panose="020B0503020204020204" charset="-122"/>
                <a:ea typeface="微软雅黑" panose="020B0503020204020204" charset="-122"/>
              </a:rPr>
              <a:t>小时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06BE4EB-2C76-81B6-1183-4C65D53CD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41" y="4347091"/>
            <a:ext cx="512687" cy="51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3F8A97D-F8A6-2A63-8DE5-E902AF7DB410}"/>
              </a:ext>
            </a:extLst>
          </p:cNvPr>
          <p:cNvSpPr txBox="1"/>
          <p:nvPr/>
        </p:nvSpPr>
        <p:spPr>
          <a:xfrm>
            <a:off x="772275" y="4326958"/>
            <a:ext cx="3075397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400" b="1" dirty="0">
                <a:latin typeface="MiSans"/>
              </a:rPr>
              <a:t>全面的安全保障</a:t>
            </a:r>
            <a:endParaRPr lang="en-US" altLang="zh-CN" sz="1400" b="1" dirty="0">
              <a:latin typeface="MiSans"/>
            </a:endParaRPr>
          </a:p>
          <a:p>
            <a:r>
              <a:rPr lang="zh-CN" altLang="en-US" sz="9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构建多类反诈模型，实现实名管理及手机终端使用管控等安全防控能力，为客户提供风险预警，有效降低诈骗风险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1460" y="172403"/>
            <a:ext cx="3682365" cy="344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业务合作方向 | 园区信息化解决方案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251460" y="604520"/>
            <a:ext cx="8571865" cy="5867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12700" rIns="0" bIns="0" rtlCol="0">
            <a:noAutofit/>
          </a:bodyPr>
          <a:lstStyle/>
          <a:p>
            <a:pPr marL="285750" indent="-28575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嘉兴移动具备“园区大脑” 自研能力，依托 </a:t>
            </a:r>
            <a:r>
              <a:rPr lang="en-US" altLang="zh-CN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5G</a:t>
            </a:r>
            <a:r>
              <a:rPr lang="zh-CN" altLang="en-US" sz="12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、物联网、云计算、大数据等技术，为客户提供全栈式智慧园区解决方案，精准满足各类场景化、定制化需求。</a:t>
            </a:r>
          </a:p>
        </p:txBody>
      </p:sp>
      <p:sp>
        <p:nvSpPr>
          <p:cNvPr id="4" name="矩形: 圆角 75"/>
          <p:cNvSpPr/>
          <p:nvPr>
            <p:custDataLst>
              <p:tags r:id="rId3"/>
            </p:custDataLst>
          </p:nvPr>
        </p:nvSpPr>
        <p:spPr>
          <a:xfrm>
            <a:off x="307975" y="1357630"/>
            <a:ext cx="8515350" cy="2800350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23260" y="1227455"/>
            <a:ext cx="2383155" cy="34925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园区信息化能力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533525" y="4673600"/>
            <a:ext cx="7153910" cy="2171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l" defTabSz="266700"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移动可提供润泽新园区项目整体信息化建设服务。</a:t>
            </a:r>
          </a:p>
        </p:txBody>
      </p:sp>
      <p:sp>
        <p:nvSpPr>
          <p:cNvPr id="23" name="矩形 22"/>
          <p:cNvSpPr/>
          <p:nvPr/>
        </p:nvSpPr>
        <p:spPr>
          <a:xfrm>
            <a:off x="1533525" y="4672965"/>
            <a:ext cx="7317740" cy="35433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16230" y="4672965"/>
            <a:ext cx="1162685" cy="35433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合作方向</a:t>
            </a:r>
          </a:p>
        </p:txBody>
      </p:sp>
      <p:sp>
        <p:nvSpPr>
          <p:cNvPr id="25" name="矩形 24"/>
          <p:cNvSpPr/>
          <p:nvPr/>
        </p:nvSpPr>
        <p:spPr>
          <a:xfrm>
            <a:off x="6671926" y="1402080"/>
            <a:ext cx="965990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项目案例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635626" y="2640309"/>
            <a:ext cx="15720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b="1" kern="0" dirty="0">
                <a:latin typeface="微软雅黑" panose="020B0503020204020204" charset="-122"/>
                <a:ea typeface="微软雅黑" panose="020B0503020204020204" charset="-122"/>
              </a:rPr>
              <a:t>嘉兴未来科技广场智慧园区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926" y="1811799"/>
            <a:ext cx="1373533" cy="772612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360285" y="2636520"/>
            <a:ext cx="1202690" cy="22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8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亚特电器</a:t>
            </a:r>
            <a:r>
              <a:rPr lang="en-US" altLang="en-US" sz="8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Ⅱ</a:t>
            </a:r>
            <a:r>
              <a:rPr lang="zh-CN" altLang="en-US" sz="8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期智慧园区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163435" y="3815080"/>
            <a:ext cx="1659890" cy="22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800" b="1" dirty="0">
                <a:latin typeface="微软雅黑" panose="020B0503020204020204" charset="-122"/>
                <a:ea typeface="微软雅黑" panose="020B0503020204020204" charset="-122"/>
              </a:rPr>
              <a:t>萧山紫橙国际创新中心智慧园区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755188" y="3829135"/>
            <a:ext cx="13997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8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台州星星中小企业科创园</a:t>
            </a:r>
            <a:endParaRPr lang="zh-CN" altLang="en-US" sz="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2762" y="2979738"/>
            <a:ext cx="1372697" cy="777861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444" y="2984070"/>
            <a:ext cx="1472255" cy="765652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67464" y="1654754"/>
            <a:ext cx="4979347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charset="0"/>
              <a:buChar char="ü"/>
            </a:pPr>
            <a:r>
              <a:rPr lang="zh-CN" altLang="en-US" sz="9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扎实的</a:t>
            </a:r>
            <a:r>
              <a:rPr lang="zh-CN" altLang="en-US" sz="900" b="1" i="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技术底座</a:t>
            </a:r>
            <a:r>
              <a:rPr lang="zh-CN" altLang="en-US" sz="900" b="0" i="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900" b="0" i="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依托中国移动 </a:t>
            </a:r>
            <a:r>
              <a:rPr lang="en-US" altLang="zh-CN" sz="900" b="0" i="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5G </a:t>
            </a:r>
            <a:r>
              <a:rPr lang="zh-CN" altLang="en-US" sz="900" b="0" i="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专网、物联网 </a:t>
            </a:r>
            <a:r>
              <a:rPr lang="en-US" altLang="zh-CN" sz="900" b="0" i="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IOT </a:t>
            </a:r>
            <a:r>
              <a:rPr lang="zh-CN" altLang="en-US" sz="900" b="0" i="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平台，可实现打通数据与设备壁垒，支撑园区智能化运行。</a:t>
            </a:r>
          </a:p>
          <a:p>
            <a:pPr marL="171450" indent="-171450" algn="l">
              <a:buFont typeface="Wingdings" panose="05000000000000000000" charset="0"/>
              <a:buChar char="ü"/>
            </a:pPr>
            <a:r>
              <a:rPr lang="zh-CN" altLang="en-US" sz="9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全面的</a:t>
            </a:r>
            <a:r>
              <a:rPr lang="zh-CN" altLang="en-US" sz="900" b="1" i="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r>
              <a:rPr lang="zh-CN" altLang="en-US" sz="900" b="0" i="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900" b="0" i="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涵盖智能应用（安防、消防、通行管理等）、中枢管理（园区大脑、数据决策），满足多场景需求，可定制化开发适配。</a:t>
            </a:r>
          </a:p>
          <a:p>
            <a:pPr marL="171450" indent="-171450" algn="l">
              <a:buFont typeface="Wingdings" panose="05000000000000000000" charset="0"/>
              <a:buChar char="ü"/>
            </a:pPr>
            <a:r>
              <a:rPr lang="zh-CN" altLang="en-US" sz="9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高效的</a:t>
            </a:r>
            <a:r>
              <a:rPr lang="zh-CN" altLang="en-US" sz="900" b="1" i="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园区大脑</a:t>
            </a:r>
            <a:r>
              <a:rPr lang="zh-CN" altLang="en-US" sz="900" b="0" i="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900" b="0" i="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打造 “园区大脑”， 整合多维度数据，实现可视化决策、应急联动，助力精细化管理。</a:t>
            </a:r>
          </a:p>
        </p:txBody>
      </p:sp>
      <p:sp>
        <p:nvSpPr>
          <p:cNvPr id="38" name="文本占位符 2"/>
          <p:cNvSpPr txBox="1"/>
          <p:nvPr/>
        </p:nvSpPr>
        <p:spPr>
          <a:xfrm>
            <a:off x="1426129" y="3903014"/>
            <a:ext cx="3072679" cy="143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15633" y="2881989"/>
            <a:ext cx="810496" cy="73944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智慧园区系统架构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7524" y="2422971"/>
            <a:ext cx="3373486" cy="1678274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240444" y="1802997"/>
            <a:ext cx="1442808" cy="772612"/>
          </a:xfrm>
          <a:prstGeom prst="rect">
            <a:avLst/>
          </a:prstGeom>
          <a:ln w="38100" cap="sq">
            <a:noFill/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2" name="矩形 41"/>
          <p:cNvSpPr/>
          <p:nvPr/>
        </p:nvSpPr>
        <p:spPr>
          <a:xfrm>
            <a:off x="318770" y="4224655"/>
            <a:ext cx="1162685" cy="354330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自研优势</a:t>
            </a:r>
          </a:p>
        </p:txBody>
      </p:sp>
      <p:sp>
        <p:nvSpPr>
          <p:cNvPr id="43" name="矩形 42"/>
          <p:cNvSpPr/>
          <p:nvPr/>
        </p:nvSpPr>
        <p:spPr>
          <a:xfrm>
            <a:off x="1533525" y="4224020"/>
            <a:ext cx="2190115" cy="35433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6768465" y="4224020"/>
            <a:ext cx="2069465" cy="35433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533525" y="4225925"/>
            <a:ext cx="2191385" cy="356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l" defTabSz="266700" fontAlgn="base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自主研发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，深度匹配使用场景</a:t>
            </a:r>
          </a:p>
          <a:p>
            <a:pPr indent="0" algn="l" defTabSz="266700" fontAlgn="base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lang="en-US" altLang="zh-CN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100+</a:t>
            </a:r>
            <a:r>
              <a:rPr lang="zh-CN" altLang="en-US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6767830" y="4225925"/>
            <a:ext cx="2118360" cy="3479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l" defTabSz="266700" fontAlgn="base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高质交付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，国企背书品质保障</a:t>
            </a:r>
          </a:p>
          <a:p>
            <a:pPr indent="0" algn="l" defTabSz="266700" fontAlgn="base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100+</a:t>
            </a:r>
            <a:r>
              <a:rPr lang="zh-CN" altLang="en-US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本地项目交付经理</a:t>
            </a:r>
          </a:p>
        </p:txBody>
      </p:sp>
      <p:sp>
        <p:nvSpPr>
          <p:cNvPr id="47" name="矩形 46"/>
          <p:cNvSpPr/>
          <p:nvPr/>
        </p:nvSpPr>
        <p:spPr>
          <a:xfrm>
            <a:off x="4171950" y="4224020"/>
            <a:ext cx="2150745" cy="35433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231640" y="4225925"/>
            <a:ext cx="2016125" cy="3429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l" defTabSz="266700" fontAlgn="base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灵活迭代</a:t>
            </a:r>
            <a:r>
              <a: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，快速响应业务需求</a:t>
            </a:r>
          </a:p>
          <a:p>
            <a:pPr indent="0" algn="l" defTabSz="266700" fontAlgn="base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lang="en-US" altLang="zh-CN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500+</a:t>
            </a:r>
            <a:r>
              <a:rPr lang="zh-CN" altLang="en-US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研发工程师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1460" y="172403"/>
            <a:ext cx="4504055" cy="344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业务合作方向 | 信息化方案内容介绍（</a:t>
            </a:r>
            <a:r>
              <a:rPr kumimoji="1" lang="en-US" altLang="zh-CN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1/2</a:t>
            </a: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sp>
        <p:nvSpPr>
          <p:cNvPr id="3" name="矩形: 圆角 75"/>
          <p:cNvSpPr/>
          <p:nvPr>
            <p:custDataLst>
              <p:tags r:id="rId3"/>
            </p:custDataLst>
          </p:nvPr>
        </p:nvSpPr>
        <p:spPr>
          <a:xfrm>
            <a:off x="314325" y="694630"/>
            <a:ext cx="8515350" cy="4360786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4267" y="787952"/>
            <a:ext cx="1130680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门禁系统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97426" y="1122176"/>
            <a:ext cx="395483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方案通过独立的门禁访客管理模块实现社区内各类门禁及内、外部人员的集中在线管理。支持密码、手机nfc</a:t>
            </a:r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zh-CN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动态人脸识别</a:t>
            </a:r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、人证</a:t>
            </a:r>
            <a:r>
              <a:rPr lang="zh-CN" altLang="zh-CN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合一比对等模式</a:t>
            </a:r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050" dirty="0"/>
          </a:p>
        </p:txBody>
      </p:sp>
      <p:sp>
        <p:nvSpPr>
          <p:cNvPr id="25" name="文本框 24"/>
          <p:cNvSpPr txBox="1"/>
          <p:nvPr/>
        </p:nvSpPr>
        <p:spPr>
          <a:xfrm>
            <a:off x="4572000" y="1030375"/>
            <a:ext cx="395483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访客通过大门岗亭访客登记系统或者小程序，登记访客信息，照片自动传输到人行通道的人脸识别设备上，访客自行出入。</a:t>
            </a:r>
            <a:endParaRPr lang="zh-CN" altLang="en-US" sz="1050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49" y="1640935"/>
            <a:ext cx="3264979" cy="1015885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981904" y="2608317"/>
            <a:ext cx="1176906" cy="28192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手机</a:t>
            </a:r>
            <a:r>
              <a:rPr lang="en-US" altLang="zh-CN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NFC</a:t>
            </a:r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刷卡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678462" y="2635803"/>
            <a:ext cx="1176906" cy="290967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动态人脸识别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195" y="1430485"/>
            <a:ext cx="2171125" cy="1339401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2257" y="1448153"/>
            <a:ext cx="1750997" cy="1321733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1734266" y="2934635"/>
            <a:ext cx="1130681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智慧食堂系统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493849" y="3191228"/>
            <a:ext cx="39548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智能餐具内嵌</a:t>
            </a:r>
            <a:r>
              <a:rPr lang="en-US" altLang="zh-CN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RFID</a:t>
            </a:r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芯片，通过收银台感应收费，结合园区“一卡通”式权限设置，打造全新的高科技智慧食堂，并应用在预定、充值、结算、就餐等各环节，对餐厅实施智能化布控、实现自助充值、自动结算、人脸支付等功能。</a:t>
            </a:r>
            <a:endParaRPr lang="zh-CN" altLang="en-US" sz="1050" dirty="0"/>
          </a:p>
        </p:txBody>
      </p:sp>
      <p:sp>
        <p:nvSpPr>
          <p:cNvPr id="55" name="矩形 54"/>
          <p:cNvSpPr/>
          <p:nvPr/>
        </p:nvSpPr>
        <p:spPr>
          <a:xfrm>
            <a:off x="6156573" y="785985"/>
            <a:ext cx="1130680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访客系统</a:t>
            </a: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3" b="12615"/>
          <a:stretch>
            <a:fillRect/>
          </a:stretch>
        </p:blipFill>
        <p:spPr>
          <a:xfrm>
            <a:off x="449025" y="3924491"/>
            <a:ext cx="1982886" cy="1046606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314" y="3923927"/>
            <a:ext cx="1665806" cy="10471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91743" y="3191228"/>
            <a:ext cx="406037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en-US" altLang="zh-CN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5G</a:t>
            </a:r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、物联网、视频分析、云计算、大数据等技术，对场所部署的物联监测设备进行智能化感知，实现数据的实时连续监测，同时根据报警记录可快速分析火灾隐患并进行预警。</a:t>
            </a:r>
          </a:p>
        </p:txBody>
      </p:sp>
      <p:sp>
        <p:nvSpPr>
          <p:cNvPr id="16" name="矩形 15"/>
          <p:cNvSpPr/>
          <p:nvPr/>
        </p:nvSpPr>
        <p:spPr>
          <a:xfrm>
            <a:off x="6156068" y="2927015"/>
            <a:ext cx="1130680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消防系统</a:t>
            </a:r>
          </a:p>
        </p:txBody>
      </p:sp>
      <p:sp>
        <p:nvSpPr>
          <p:cNvPr id="24" name="clouds_168255"/>
          <p:cNvSpPr>
            <a:spLocks noChangeAspect="1"/>
          </p:cNvSpPr>
          <p:nvPr/>
        </p:nvSpPr>
        <p:spPr bwMode="auto">
          <a:xfrm>
            <a:off x="8010820" y="3747425"/>
            <a:ext cx="678135" cy="417586"/>
          </a:xfrm>
          <a:custGeom>
            <a:avLst/>
            <a:gdLst>
              <a:gd name="connsiteX0" fmla="*/ 273505 w 608415"/>
              <a:gd name="connsiteY0" fmla="*/ 120949 h 458746"/>
              <a:gd name="connsiteX1" fmla="*/ 395353 w 608415"/>
              <a:gd name="connsiteY1" fmla="*/ 222196 h 458746"/>
              <a:gd name="connsiteX2" fmla="*/ 401039 w 608415"/>
              <a:gd name="connsiteY2" fmla="*/ 230940 h 458746"/>
              <a:gd name="connsiteX3" fmla="*/ 411180 w 608415"/>
              <a:gd name="connsiteY3" fmla="*/ 233088 h 458746"/>
              <a:gd name="connsiteX4" fmla="*/ 432999 w 608415"/>
              <a:gd name="connsiteY4" fmla="*/ 230940 h 458746"/>
              <a:gd name="connsiteX5" fmla="*/ 547164 w 608415"/>
              <a:gd name="connsiteY5" fmla="*/ 344766 h 458746"/>
              <a:gd name="connsiteX6" fmla="*/ 432999 w 608415"/>
              <a:gd name="connsiteY6" fmla="*/ 458746 h 458746"/>
              <a:gd name="connsiteX7" fmla="*/ 114012 w 608415"/>
              <a:gd name="connsiteY7" fmla="*/ 458746 h 458746"/>
              <a:gd name="connsiteX8" fmla="*/ 0 w 608415"/>
              <a:gd name="connsiteY8" fmla="*/ 344766 h 458746"/>
              <a:gd name="connsiteX9" fmla="*/ 114012 w 608415"/>
              <a:gd name="connsiteY9" fmla="*/ 230940 h 458746"/>
              <a:gd name="connsiteX10" fmla="*/ 135984 w 608415"/>
              <a:gd name="connsiteY10" fmla="*/ 233088 h 458746"/>
              <a:gd name="connsiteX11" fmla="*/ 146126 w 608415"/>
              <a:gd name="connsiteY11" fmla="*/ 230940 h 458746"/>
              <a:gd name="connsiteX12" fmla="*/ 151811 w 608415"/>
              <a:gd name="connsiteY12" fmla="*/ 222196 h 458746"/>
              <a:gd name="connsiteX13" fmla="*/ 273505 w 608415"/>
              <a:gd name="connsiteY13" fmla="*/ 120949 h 458746"/>
              <a:gd name="connsiteX14" fmla="*/ 342300 w 608415"/>
              <a:gd name="connsiteY14" fmla="*/ 0 h 458746"/>
              <a:gd name="connsiteX15" fmla="*/ 471516 w 608415"/>
              <a:gd name="connsiteY15" fmla="*/ 97427 h 458746"/>
              <a:gd name="connsiteX16" fmla="*/ 482579 w 608415"/>
              <a:gd name="connsiteY16" fmla="*/ 96813 h 458746"/>
              <a:gd name="connsiteX17" fmla="*/ 608415 w 608415"/>
              <a:gd name="connsiteY17" fmla="*/ 222471 h 458746"/>
              <a:gd name="connsiteX18" fmla="*/ 570311 w 608415"/>
              <a:gd name="connsiteY18" fmla="*/ 312534 h 458746"/>
              <a:gd name="connsiteX19" fmla="*/ 432951 w 608415"/>
              <a:gd name="connsiteY19" fmla="*/ 203907 h 458746"/>
              <a:gd name="connsiteX20" fmla="*/ 418969 w 608415"/>
              <a:gd name="connsiteY20" fmla="*/ 204674 h 458746"/>
              <a:gd name="connsiteX21" fmla="*/ 273467 w 608415"/>
              <a:gd name="connsiteY21" fmla="*/ 93898 h 458746"/>
              <a:gd name="connsiteX22" fmla="*/ 210779 w 608415"/>
              <a:gd name="connsiteY22" fmla="*/ 107553 h 458746"/>
              <a:gd name="connsiteX23" fmla="*/ 342300 w 608415"/>
              <a:gd name="connsiteY23" fmla="*/ 0 h 458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08415" h="458746">
                <a:moveTo>
                  <a:pt x="273505" y="120949"/>
                </a:moveTo>
                <a:cubicBezTo>
                  <a:pt x="333431" y="120949"/>
                  <a:pt x="384598" y="163442"/>
                  <a:pt x="395353" y="222196"/>
                </a:cubicBezTo>
                <a:cubicBezTo>
                  <a:pt x="395968" y="225724"/>
                  <a:pt x="397965" y="228946"/>
                  <a:pt x="401039" y="230940"/>
                </a:cubicBezTo>
                <a:cubicBezTo>
                  <a:pt x="403958" y="233088"/>
                  <a:pt x="407646" y="233855"/>
                  <a:pt x="411180" y="233088"/>
                </a:cubicBezTo>
                <a:cubicBezTo>
                  <a:pt x="418402" y="231707"/>
                  <a:pt x="425777" y="230940"/>
                  <a:pt x="432999" y="230940"/>
                </a:cubicBezTo>
                <a:cubicBezTo>
                  <a:pt x="495997" y="230940"/>
                  <a:pt x="547164" y="282024"/>
                  <a:pt x="547164" y="344766"/>
                </a:cubicBezTo>
                <a:cubicBezTo>
                  <a:pt x="547164" y="407662"/>
                  <a:pt x="495997" y="458746"/>
                  <a:pt x="432999" y="458746"/>
                </a:cubicBezTo>
                <a:lnTo>
                  <a:pt x="114012" y="458746"/>
                </a:lnTo>
                <a:cubicBezTo>
                  <a:pt x="51167" y="458746"/>
                  <a:pt x="0" y="407662"/>
                  <a:pt x="0" y="344766"/>
                </a:cubicBezTo>
                <a:cubicBezTo>
                  <a:pt x="0" y="282024"/>
                  <a:pt x="51167" y="230940"/>
                  <a:pt x="114012" y="230940"/>
                </a:cubicBezTo>
                <a:cubicBezTo>
                  <a:pt x="121387" y="230940"/>
                  <a:pt x="128609" y="231707"/>
                  <a:pt x="135984" y="233088"/>
                </a:cubicBezTo>
                <a:cubicBezTo>
                  <a:pt x="139518" y="233855"/>
                  <a:pt x="143206" y="233088"/>
                  <a:pt x="146126" y="230940"/>
                </a:cubicBezTo>
                <a:cubicBezTo>
                  <a:pt x="149199" y="228946"/>
                  <a:pt x="151196" y="225724"/>
                  <a:pt x="151811" y="222196"/>
                </a:cubicBezTo>
                <a:cubicBezTo>
                  <a:pt x="162567" y="163442"/>
                  <a:pt x="213734" y="120949"/>
                  <a:pt x="273505" y="120949"/>
                </a:cubicBezTo>
                <a:close/>
                <a:moveTo>
                  <a:pt x="342300" y="0"/>
                </a:moveTo>
                <a:cubicBezTo>
                  <a:pt x="402837" y="0"/>
                  <a:pt x="455230" y="40198"/>
                  <a:pt x="471516" y="97427"/>
                </a:cubicBezTo>
                <a:cubicBezTo>
                  <a:pt x="475204" y="97120"/>
                  <a:pt x="478891" y="96813"/>
                  <a:pt x="482579" y="96813"/>
                </a:cubicBezTo>
                <a:cubicBezTo>
                  <a:pt x="552027" y="96813"/>
                  <a:pt x="608415" y="153275"/>
                  <a:pt x="608415" y="222471"/>
                </a:cubicBezTo>
                <a:cubicBezTo>
                  <a:pt x="608415" y="256686"/>
                  <a:pt x="594894" y="288599"/>
                  <a:pt x="570311" y="312534"/>
                </a:cubicBezTo>
                <a:cubicBezTo>
                  <a:pt x="555561" y="250395"/>
                  <a:pt x="499634" y="203907"/>
                  <a:pt x="432951" y="203907"/>
                </a:cubicBezTo>
                <a:cubicBezTo>
                  <a:pt x="428342" y="203907"/>
                  <a:pt x="423579" y="204213"/>
                  <a:pt x="418969" y="204674"/>
                </a:cubicBezTo>
                <a:cubicBezTo>
                  <a:pt x="401300" y="139773"/>
                  <a:pt x="341993" y="93898"/>
                  <a:pt x="273467" y="93898"/>
                </a:cubicBezTo>
                <a:cubicBezTo>
                  <a:pt x="251188" y="93898"/>
                  <a:pt x="229985" y="98655"/>
                  <a:pt x="210779" y="107553"/>
                </a:cubicBezTo>
                <a:cubicBezTo>
                  <a:pt x="223378" y="45108"/>
                  <a:pt x="278230" y="0"/>
                  <a:pt x="342300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/>
          <a:lstStyle/>
          <a:p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3747425"/>
            <a:ext cx="2799241" cy="1252559"/>
          </a:xfrm>
          <a:prstGeom prst="rect">
            <a:avLst/>
          </a:prstGeom>
        </p:spPr>
      </p:pic>
      <p:sp>
        <p:nvSpPr>
          <p:cNvPr id="30" name="black-left-arrows_45468"/>
          <p:cNvSpPr>
            <a:spLocks noChangeAspect="1"/>
          </p:cNvSpPr>
          <p:nvPr/>
        </p:nvSpPr>
        <p:spPr bwMode="auto">
          <a:xfrm rot="21285078" flipH="1">
            <a:off x="7038644" y="3906588"/>
            <a:ext cx="881985" cy="274875"/>
          </a:xfrm>
          <a:custGeom>
            <a:avLst/>
            <a:gdLst>
              <a:gd name="T0" fmla="*/ 2334 w 6926"/>
              <a:gd name="T1" fmla="*/ 2675 h 3810"/>
              <a:gd name="T2" fmla="*/ 2455 w 6926"/>
              <a:gd name="T3" fmla="*/ 2641 h 3810"/>
              <a:gd name="T4" fmla="*/ 2866 w 6926"/>
              <a:gd name="T5" fmla="*/ 2543 h 3810"/>
              <a:gd name="T6" fmla="*/ 3094 w 6926"/>
              <a:gd name="T7" fmla="*/ 2498 h 3810"/>
              <a:gd name="T8" fmla="*/ 3212 w 6926"/>
              <a:gd name="T9" fmla="*/ 2476 h 3810"/>
              <a:gd name="T10" fmla="*/ 3332 w 6926"/>
              <a:gd name="T11" fmla="*/ 2458 h 3810"/>
              <a:gd name="T12" fmla="*/ 3835 w 6926"/>
              <a:gd name="T13" fmla="*/ 2399 h 3810"/>
              <a:gd name="T14" fmla="*/ 4357 w 6926"/>
              <a:gd name="T15" fmla="*/ 2381 h 3810"/>
              <a:gd name="T16" fmla="*/ 4488 w 6926"/>
              <a:gd name="T17" fmla="*/ 2383 h 3810"/>
              <a:gd name="T18" fmla="*/ 4619 w 6926"/>
              <a:gd name="T19" fmla="*/ 2390 h 3810"/>
              <a:gd name="T20" fmla="*/ 4878 w 6926"/>
              <a:gd name="T21" fmla="*/ 2412 h 3810"/>
              <a:gd name="T22" fmla="*/ 5132 w 6926"/>
              <a:gd name="T23" fmla="*/ 2449 h 3810"/>
              <a:gd name="T24" fmla="*/ 5376 w 6926"/>
              <a:gd name="T25" fmla="*/ 2502 h 3810"/>
              <a:gd name="T26" fmla="*/ 5830 w 6926"/>
              <a:gd name="T27" fmla="*/ 2650 h 3810"/>
              <a:gd name="T28" fmla="*/ 6219 w 6926"/>
              <a:gd name="T29" fmla="*/ 2843 h 3810"/>
              <a:gd name="T30" fmla="*/ 6385 w 6926"/>
              <a:gd name="T31" fmla="*/ 2949 h 3810"/>
              <a:gd name="T32" fmla="*/ 6527 w 6926"/>
              <a:gd name="T33" fmla="*/ 3056 h 3810"/>
              <a:gd name="T34" fmla="*/ 6648 w 6926"/>
              <a:gd name="T35" fmla="*/ 3159 h 3810"/>
              <a:gd name="T36" fmla="*/ 6749 w 6926"/>
              <a:gd name="T37" fmla="*/ 3251 h 3810"/>
              <a:gd name="T38" fmla="*/ 6926 w 6926"/>
              <a:gd name="T39" fmla="*/ 3443 h 3810"/>
              <a:gd name="T40" fmla="*/ 6820 w 6926"/>
              <a:gd name="T41" fmla="*/ 3200 h 3810"/>
              <a:gd name="T42" fmla="*/ 6753 w 6926"/>
              <a:gd name="T43" fmla="*/ 3076 h 3810"/>
              <a:gd name="T44" fmla="*/ 6668 w 6926"/>
              <a:gd name="T45" fmla="*/ 2932 h 3810"/>
              <a:gd name="T46" fmla="*/ 6561 w 6926"/>
              <a:gd name="T47" fmla="*/ 2771 h 3810"/>
              <a:gd name="T48" fmla="*/ 6428 w 6926"/>
              <a:gd name="T49" fmla="*/ 2602 h 3810"/>
              <a:gd name="T50" fmla="*/ 6085 w 6926"/>
              <a:gd name="T51" fmla="*/ 2252 h 3810"/>
              <a:gd name="T52" fmla="*/ 5644 w 6926"/>
              <a:gd name="T53" fmla="*/ 1914 h 3810"/>
              <a:gd name="T54" fmla="*/ 5392 w 6926"/>
              <a:gd name="T55" fmla="*/ 1760 h 3810"/>
              <a:gd name="T56" fmla="*/ 5123 w 6926"/>
              <a:gd name="T57" fmla="*/ 1619 h 3810"/>
              <a:gd name="T58" fmla="*/ 4842 w 6926"/>
              <a:gd name="T59" fmla="*/ 1492 h 3810"/>
              <a:gd name="T60" fmla="*/ 4698 w 6926"/>
              <a:gd name="T61" fmla="*/ 1433 h 3810"/>
              <a:gd name="T62" fmla="*/ 4552 w 6926"/>
              <a:gd name="T63" fmla="*/ 1380 h 3810"/>
              <a:gd name="T64" fmla="*/ 3961 w 6926"/>
              <a:gd name="T65" fmla="*/ 1195 h 3810"/>
              <a:gd name="T66" fmla="*/ 3377 w 6926"/>
              <a:gd name="T67" fmla="*/ 1064 h 3810"/>
              <a:gd name="T68" fmla="*/ 3235 w 6926"/>
              <a:gd name="T69" fmla="*/ 1038 h 3810"/>
              <a:gd name="T70" fmla="*/ 3095 w 6926"/>
              <a:gd name="T71" fmla="*/ 1015 h 3810"/>
              <a:gd name="T72" fmla="*/ 2823 w 6926"/>
              <a:gd name="T73" fmla="*/ 976 h 3810"/>
              <a:gd name="T74" fmla="*/ 2328 w 6926"/>
              <a:gd name="T75" fmla="*/ 926 h 3810"/>
              <a:gd name="T76" fmla="*/ 2325 w 6926"/>
              <a:gd name="T77" fmla="*/ 0 h 3810"/>
              <a:gd name="T78" fmla="*/ 0 w 6926"/>
              <a:gd name="T79" fmla="*/ 1913 h 3810"/>
              <a:gd name="T80" fmla="*/ 2338 w 6926"/>
              <a:gd name="T81" fmla="*/ 3810 h 3810"/>
              <a:gd name="T82" fmla="*/ 2334 w 6926"/>
              <a:gd name="T83" fmla="*/ 2675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2334" y="2675"/>
                </a:moveTo>
                <a:cubicBezTo>
                  <a:pt x="2373" y="2664"/>
                  <a:pt x="2413" y="2653"/>
                  <a:pt x="2455" y="2641"/>
                </a:cubicBezTo>
                <a:cubicBezTo>
                  <a:pt x="2581" y="2608"/>
                  <a:pt x="2719" y="2574"/>
                  <a:pt x="2866" y="2543"/>
                </a:cubicBezTo>
                <a:cubicBezTo>
                  <a:pt x="2940" y="2528"/>
                  <a:pt x="3016" y="2511"/>
                  <a:pt x="3094" y="2498"/>
                </a:cubicBezTo>
                <a:cubicBezTo>
                  <a:pt x="3133" y="2491"/>
                  <a:pt x="3172" y="2484"/>
                  <a:pt x="3212" y="2476"/>
                </a:cubicBezTo>
                <a:cubicBezTo>
                  <a:pt x="3252" y="2470"/>
                  <a:pt x="3292" y="2464"/>
                  <a:pt x="3332" y="2458"/>
                </a:cubicBezTo>
                <a:cubicBezTo>
                  <a:pt x="3495" y="2432"/>
                  <a:pt x="3663" y="2414"/>
                  <a:pt x="3835" y="2399"/>
                </a:cubicBezTo>
                <a:cubicBezTo>
                  <a:pt x="4007" y="2387"/>
                  <a:pt x="4183" y="2377"/>
                  <a:pt x="4357" y="2381"/>
                </a:cubicBezTo>
                <a:cubicBezTo>
                  <a:pt x="4400" y="2381"/>
                  <a:pt x="4445" y="2381"/>
                  <a:pt x="4488" y="2383"/>
                </a:cubicBezTo>
                <a:cubicBezTo>
                  <a:pt x="4532" y="2385"/>
                  <a:pt x="4575" y="2387"/>
                  <a:pt x="4619" y="2390"/>
                </a:cubicBezTo>
                <a:cubicBezTo>
                  <a:pt x="4707" y="2392"/>
                  <a:pt x="4791" y="2405"/>
                  <a:pt x="4878" y="2412"/>
                </a:cubicBezTo>
                <a:cubicBezTo>
                  <a:pt x="4964" y="2422"/>
                  <a:pt x="5047" y="2436"/>
                  <a:pt x="5132" y="2449"/>
                </a:cubicBezTo>
                <a:cubicBezTo>
                  <a:pt x="5213" y="2467"/>
                  <a:pt x="5297" y="2481"/>
                  <a:pt x="5376" y="2502"/>
                </a:cubicBezTo>
                <a:cubicBezTo>
                  <a:pt x="5536" y="2543"/>
                  <a:pt x="5689" y="2591"/>
                  <a:pt x="5830" y="2650"/>
                </a:cubicBezTo>
                <a:cubicBezTo>
                  <a:pt x="5972" y="2707"/>
                  <a:pt x="6102" y="2775"/>
                  <a:pt x="6219" y="2843"/>
                </a:cubicBezTo>
                <a:cubicBezTo>
                  <a:pt x="6276" y="2880"/>
                  <a:pt x="6333" y="2914"/>
                  <a:pt x="6385" y="2949"/>
                </a:cubicBezTo>
                <a:cubicBezTo>
                  <a:pt x="6435" y="2987"/>
                  <a:pt x="6483" y="3023"/>
                  <a:pt x="6527" y="3056"/>
                </a:cubicBezTo>
                <a:cubicBezTo>
                  <a:pt x="6574" y="3089"/>
                  <a:pt x="6611" y="3127"/>
                  <a:pt x="6648" y="3159"/>
                </a:cubicBezTo>
                <a:cubicBezTo>
                  <a:pt x="6685" y="3193"/>
                  <a:pt x="6718" y="3223"/>
                  <a:pt x="6749" y="3251"/>
                </a:cubicBezTo>
                <a:cubicBezTo>
                  <a:pt x="6861" y="3373"/>
                  <a:pt x="6926" y="3443"/>
                  <a:pt x="6926" y="3443"/>
                </a:cubicBezTo>
                <a:cubicBezTo>
                  <a:pt x="6926" y="3443"/>
                  <a:pt x="6887" y="3355"/>
                  <a:pt x="6820" y="3200"/>
                </a:cubicBezTo>
                <a:cubicBezTo>
                  <a:pt x="6800" y="3163"/>
                  <a:pt x="6777" y="3121"/>
                  <a:pt x="6753" y="3076"/>
                </a:cubicBezTo>
                <a:cubicBezTo>
                  <a:pt x="6727" y="3032"/>
                  <a:pt x="6703" y="2980"/>
                  <a:pt x="6668" y="2932"/>
                </a:cubicBezTo>
                <a:cubicBezTo>
                  <a:pt x="6635" y="2881"/>
                  <a:pt x="6599" y="2828"/>
                  <a:pt x="6561" y="2771"/>
                </a:cubicBezTo>
                <a:cubicBezTo>
                  <a:pt x="6521" y="2717"/>
                  <a:pt x="6475" y="2662"/>
                  <a:pt x="6428" y="2602"/>
                </a:cubicBezTo>
                <a:cubicBezTo>
                  <a:pt x="6331" y="2488"/>
                  <a:pt x="6217" y="2367"/>
                  <a:pt x="6085" y="2252"/>
                </a:cubicBezTo>
                <a:cubicBezTo>
                  <a:pt x="5954" y="2134"/>
                  <a:pt x="5805" y="2022"/>
                  <a:pt x="5644" y="1914"/>
                </a:cubicBezTo>
                <a:cubicBezTo>
                  <a:pt x="5563" y="1860"/>
                  <a:pt x="5478" y="1812"/>
                  <a:pt x="5392" y="1760"/>
                </a:cubicBezTo>
                <a:cubicBezTo>
                  <a:pt x="5304" y="1713"/>
                  <a:pt x="5215" y="1664"/>
                  <a:pt x="5123" y="1619"/>
                </a:cubicBezTo>
                <a:cubicBezTo>
                  <a:pt x="5031" y="1577"/>
                  <a:pt x="4938" y="1530"/>
                  <a:pt x="4842" y="1492"/>
                </a:cubicBezTo>
                <a:cubicBezTo>
                  <a:pt x="4794" y="1473"/>
                  <a:pt x="4746" y="1453"/>
                  <a:pt x="4698" y="1433"/>
                </a:cubicBezTo>
                <a:cubicBezTo>
                  <a:pt x="4650" y="1414"/>
                  <a:pt x="4601" y="1398"/>
                  <a:pt x="4552" y="1380"/>
                </a:cubicBezTo>
                <a:cubicBezTo>
                  <a:pt x="4357" y="1307"/>
                  <a:pt x="4159" y="1249"/>
                  <a:pt x="3961" y="1195"/>
                </a:cubicBezTo>
                <a:cubicBezTo>
                  <a:pt x="3764" y="1144"/>
                  <a:pt x="3568" y="1099"/>
                  <a:pt x="3377" y="1064"/>
                </a:cubicBezTo>
                <a:cubicBezTo>
                  <a:pt x="3329" y="1055"/>
                  <a:pt x="3282" y="1046"/>
                  <a:pt x="3235" y="1038"/>
                </a:cubicBezTo>
                <a:cubicBezTo>
                  <a:pt x="3188" y="1030"/>
                  <a:pt x="3141" y="1023"/>
                  <a:pt x="3095" y="1015"/>
                </a:cubicBezTo>
                <a:cubicBezTo>
                  <a:pt x="3002" y="1000"/>
                  <a:pt x="2912" y="989"/>
                  <a:pt x="2823" y="976"/>
                </a:cubicBezTo>
                <a:cubicBezTo>
                  <a:pt x="2648" y="954"/>
                  <a:pt x="2482" y="937"/>
                  <a:pt x="2328" y="926"/>
                </a:cubicBezTo>
                <a:lnTo>
                  <a:pt x="2325" y="0"/>
                </a:lnTo>
                <a:lnTo>
                  <a:pt x="0" y="1913"/>
                </a:lnTo>
                <a:lnTo>
                  <a:pt x="2338" y="3810"/>
                </a:lnTo>
                <a:lnTo>
                  <a:pt x="2334" y="26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/>
          <a:lstStyle/>
          <a:p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251460" y="549752"/>
            <a:ext cx="7299960" cy="18415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1460" y="172403"/>
            <a:ext cx="4504055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50" b="1" i="0" u="none" strike="noStrike" kern="0" cap="none" spc="70" normalizeH="0" baseline="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业务合作方向 | 信息化</a:t>
            </a:r>
            <a:r>
              <a:rPr kumimoji="1" lang="zh-CN" altLang="en-US" sz="1650" b="1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方案内容介绍（</a:t>
            </a:r>
            <a:r>
              <a:rPr kumimoji="1" lang="en-US" altLang="zh-CN" sz="1650" b="1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2/2</a:t>
            </a:r>
            <a:r>
              <a:rPr kumimoji="1" lang="zh-CN" altLang="en-US" sz="1650" b="1" kern="0" spc="70" dirty="0">
                <a:solidFill>
                  <a:srgbClr val="1084C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kumimoji="1" lang="zh-CN" altLang="en-US" sz="1650" b="1" i="0" u="none" strike="noStrike" kern="0" cap="none" spc="70" normalizeH="0" baseline="0" dirty="0">
              <a:solidFill>
                <a:srgbClr val="1084C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50" b="1" i="0" u="none" strike="noStrike" kern="0" cap="none" spc="70" normalizeH="0" baseline="0" dirty="0">
              <a:solidFill>
                <a:srgbClr val="1084C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: 圆角 75"/>
          <p:cNvSpPr/>
          <p:nvPr>
            <p:custDataLst>
              <p:tags r:id="rId3"/>
            </p:custDataLst>
          </p:nvPr>
        </p:nvSpPr>
        <p:spPr>
          <a:xfrm>
            <a:off x="314325" y="694630"/>
            <a:ext cx="8515350" cy="4360786"/>
          </a:xfrm>
          <a:prstGeom prst="roundRect">
            <a:avLst>
              <a:gd name="adj" fmla="val 2517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34267" y="787952"/>
            <a:ext cx="1130680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安防系统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97426" y="1122176"/>
            <a:ext cx="3954831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l" defTabSz="457200" rtl="0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zh-CN" sz="1050" b="0" i="0" u="none" strike="noStrike" kern="1200" cap="none" spc="50" normalizeH="0" baseline="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高点统观全局，联动低点，形成高低交错，远近结合的全方位立体监控体系。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695320" y="1122176"/>
            <a:ext cx="3996923" cy="5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zh-CN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实现园区车辆、车位及新能源充电桩的集中在线管理，并通过牌照识别技术管理车辆进出权限，可通过小程序、app进行车辆信息查询与停车费缴纳。</a:t>
            </a:r>
          </a:p>
        </p:txBody>
      </p:sp>
      <p:sp>
        <p:nvSpPr>
          <p:cNvPr id="49" name="矩形 48"/>
          <p:cNvSpPr/>
          <p:nvPr/>
        </p:nvSpPr>
        <p:spPr>
          <a:xfrm>
            <a:off x="1734266" y="2934635"/>
            <a:ext cx="1130681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照明系统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314325" y="3191228"/>
            <a:ext cx="4134355" cy="5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kumimoji="0" lang="zh-CN" altLang="zh-CN" sz="1050" b="0" i="0" u="none" strike="noStrike" kern="1200" cap="none" spc="50" normalizeH="0" baseline="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按区域对公共灯光进行管控，按时段或按照需求进行调光与控制，</a:t>
            </a:r>
            <a:r>
              <a:rPr lang="zh-CN" altLang="zh-CN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减少电资源的浪费。</a:t>
            </a:r>
            <a:r>
              <a:rPr kumimoji="0" lang="zh-CN" altLang="zh-CN" sz="1050" b="0" i="0" u="none" strike="noStrike" kern="1200" cap="none" spc="50" normalizeH="0" baseline="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通过物联网技术，照明情况监控中心一目了然，并支持能耗统计。</a:t>
            </a:r>
            <a:endParaRPr lang="zh-CN" altLang="zh-CN" sz="1050" spc="50" dirty="0">
              <a:ln w="13500">
                <a:solidFill>
                  <a:srgbClr val="4F81BD">
                    <a:shade val="2500"/>
                    <a:alpha val="6500"/>
                  </a:srgbClr>
                </a:solidFill>
                <a:prstDash val="solid"/>
              </a:ln>
              <a:solidFill>
                <a:schemeClr val="bg2">
                  <a:lumMod val="25000"/>
                  <a:alpha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196708" y="793966"/>
            <a:ext cx="1130680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车辆管理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rcRect l="50294"/>
          <a:stretch>
            <a:fillRect/>
          </a:stretch>
        </p:blipFill>
        <p:spPr>
          <a:xfrm>
            <a:off x="723899" y="1636685"/>
            <a:ext cx="3336471" cy="10753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t="2983" b="2977"/>
          <a:stretch>
            <a:fillRect/>
          </a:stretch>
        </p:blipFill>
        <p:spPr>
          <a:xfrm>
            <a:off x="4635358" y="1656356"/>
            <a:ext cx="4152900" cy="1278279"/>
          </a:xfrm>
          <a:prstGeom prst="rect">
            <a:avLst/>
          </a:prstGeom>
        </p:spPr>
      </p:pic>
      <p:sp>
        <p:nvSpPr>
          <p:cNvPr id="29" name="object 6"/>
          <p:cNvSpPr/>
          <p:nvPr/>
        </p:nvSpPr>
        <p:spPr>
          <a:xfrm>
            <a:off x="646207" y="3831437"/>
            <a:ext cx="3414163" cy="970504"/>
          </a:xfrm>
          <a:prstGeom prst="rect">
            <a:avLst/>
          </a:prstGeom>
          <a:blipFill>
            <a:blip r:embed="rId8" cstate="email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文本框 30"/>
          <p:cNvSpPr txBox="1"/>
          <p:nvPr/>
        </p:nvSpPr>
        <p:spPr>
          <a:xfrm>
            <a:off x="1672824" y="4779203"/>
            <a:ext cx="9343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能耗统计</a:t>
            </a:r>
            <a:endParaRPr lang="zh-CN" altLang="en-US" sz="1200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4691743" y="3191228"/>
            <a:ext cx="4060371" cy="575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在园区入口、电梯出入口设置</a:t>
            </a:r>
            <a:r>
              <a:rPr lang="en-US" altLang="zh-CN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LED</a:t>
            </a:r>
            <a:r>
              <a:rPr lang="zh-CN" altLang="en-US" sz="1050" spc="50" dirty="0">
                <a:ln w="13500">
                  <a:solidFill>
                    <a:srgbClr val="4F81BD">
                      <a:shade val="2500"/>
                      <a:alpha val="6500"/>
                    </a:srgbClr>
                  </a:solidFill>
                  <a:prstDash val="solid"/>
                </a:ln>
                <a:solidFill>
                  <a:schemeClr val="bg2">
                    <a:lumMod val="25000"/>
                    <a:alpha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屏、道路边设置智能路灯杆、轿厢内设置广告电视机等。业主管理员登录管理平台，上传内容、编辑计划并下发至各信息发布终端，实现统一播放。</a:t>
            </a:r>
          </a:p>
        </p:txBody>
      </p:sp>
      <p:sp>
        <p:nvSpPr>
          <p:cNvPr id="41" name="矩形 40"/>
          <p:cNvSpPr/>
          <p:nvPr/>
        </p:nvSpPr>
        <p:spPr>
          <a:xfrm>
            <a:off x="6196708" y="2934635"/>
            <a:ext cx="1130680" cy="270537"/>
          </a:xfrm>
          <a:prstGeom prst="rect">
            <a:avLst/>
          </a:prstGeom>
          <a:solidFill>
            <a:srgbClr val="B0D0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信息发布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rcRect t="10813"/>
          <a:stretch>
            <a:fillRect/>
          </a:stretch>
        </p:blipFill>
        <p:spPr>
          <a:xfrm>
            <a:off x="4618066" y="3849487"/>
            <a:ext cx="2933354" cy="105622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7827152" y="3727957"/>
            <a:ext cx="321875" cy="97050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664255" y="4715699"/>
            <a:ext cx="11654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智能路灯杆广告机</a:t>
            </a:r>
            <a:endParaRPr lang="zh-CN" altLang="en-US" sz="9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ṣ1ïḍe"/>
          <p:cNvSpPr txBox="1"/>
          <p:nvPr/>
        </p:nvSpPr>
        <p:spPr>
          <a:xfrm>
            <a:off x="521550" y="1761839"/>
            <a:ext cx="8208912" cy="5976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感谢聆听！</a:t>
            </a:r>
            <a:endParaRPr lang="zh-CN" altLang="en-US" sz="36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1590686,3645255],&quot;29&quot;:[50000162],&quot;8&quot;:[462584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1088,&quot;width&quot;:1692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1088,&quot;width&quot;:16920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92*80"/>
  <p:tag name="TABLE_ENDDRAG_RECT" val="753*256*192*8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2441</Words>
  <Application>Microsoft Office PowerPoint</Application>
  <PresentationFormat>全屏显示(16:9)</PresentationFormat>
  <Paragraphs>296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HarmonyOS Sans SC</vt:lpstr>
      <vt:lpstr>MiSans</vt:lpstr>
      <vt:lpstr>方正黑体简体</vt:lpstr>
      <vt:lpstr>仿宋_GB2312</vt:lpstr>
      <vt:lpstr>黑体</vt:lpstr>
      <vt:lpstr>华康行楷体 W5</vt:lpstr>
      <vt:lpstr>华文楷体</vt:lpstr>
      <vt:lpstr>宋体</vt:lpstr>
      <vt:lpstr>微软雅黑</vt:lpstr>
      <vt:lpstr>字魂105号-简雅黑</vt:lpstr>
      <vt:lpstr>Arial</vt:lpstr>
      <vt:lpstr>Calibri</vt:lpstr>
      <vt:lpstr>Wingdings</vt:lpstr>
      <vt:lpstr>Office 主题​​</vt:lpstr>
      <vt:lpstr>嘉兴移动业务交流与合作展望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佩佩 林</dc:creator>
  <cp:lastModifiedBy>Administrator</cp:lastModifiedBy>
  <cp:revision>1276</cp:revision>
  <dcterms:created xsi:type="dcterms:W3CDTF">2025-06-23T14:03:00Z</dcterms:created>
  <dcterms:modified xsi:type="dcterms:W3CDTF">2025-09-25T02:54:32Z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2052-12.8.2.19315</vt:lpwstr>
  </property>
  <property fmtid="{D5CDD505-2E9C-101B-9397-08002B2CF9AE}" pid="3" name="ICV">
    <vt:lpwstr>B62E733F343F478BBC9614DEA05DF900_13</vt:lpwstr>
  </property>
</Properties>
</file>